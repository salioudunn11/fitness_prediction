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2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8"/>
      <p:italic r:id="rId19"/>
      <p:boldItalic r:id="rId20"/>
    </p:embeddedFont>
    <p:embeddedFont>
      <p:font typeface="JetBrains Mono" panose="02000009000000000000" pitchFamily="49" charset="0"/>
      <p:regular r:id="rId21"/>
      <p:bold r:id="rId22"/>
      <p:italic r:id="rId23"/>
      <p:boldItalic r:id="rId24"/>
    </p:embeddedFont>
    <p:embeddedFont>
      <p:font typeface="Plus Jakarta Sans" pitchFamily="2" charset="77"/>
      <p:regular r:id="rId25"/>
      <p:bold r:id="rId26"/>
      <p:italic r:id="rId27"/>
      <p:boldItalic r:id="rId28"/>
    </p:embeddedFont>
    <p:embeddedFont>
      <p:font typeface="Space Grotesk" pitchFamily="2" charset="77"/>
      <p:regular r:id="rId29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EC00773-0F09-4C36-A88E-9A5F6A04E5A2}">
  <a:tblStyle styleId="{CEC00773-0F09-4C36-A88E-9A5F6A04E5A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19"/>
  </p:normalViewPr>
  <p:slideViewPr>
    <p:cSldViewPr snapToGrid="0">
      <p:cViewPr varScale="1">
        <p:scale>
          <a:sx n="119" d="100"/>
          <a:sy n="119" d="100"/>
        </p:scale>
        <p:origin x="216" y="2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[As the heartbeat line draws across the screen]</a:t>
            </a:r>
          </a:p>
          <a:p>
            <a:r>
              <a:rPr dirty="0"/>
              <a:t>Hi everyone. This is Phase 2 of our project: Data Understanding and Exploratory Analysis.</a:t>
            </a:r>
          </a:p>
          <a:p>
            <a:r>
              <a:rPr dirty="0"/>
              <a:t>We're working with a gym exercise tracking dataset. Before building any models, we looked closely at the data to see what's in it, how clean it is, and which attributes matter.</a:t>
            </a:r>
          </a:p>
          <a:p>
            <a:r>
              <a:rPr dirty="0"/>
              <a:t>[As the five icons appear] These icons are the attributes you'll hear about most today: heart rate, calories burned, session duration, water intake, and workout frequency.</a:t>
            </a: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This slide shows where our data comes from.</a:t>
            </a:r>
          </a:p>
          <a:p>
            <a:r>
              <a:rPr dirty="0"/>
              <a:t>[Cards slide in] The dataset comes from Kaggle and GitHub. It was collected from fitness center members and combines biometric and workout measurements.</a:t>
            </a:r>
          </a:p>
          <a:p>
            <a:r>
              <a:rPr dirty="0"/>
              <a:t>Our main goal is to predict energy expenditure, meaning how many calories a member burns in a session, and to understand the training patterns behind it.</a:t>
            </a:r>
          </a:p>
          <a:p>
            <a:r>
              <a:rPr dirty="0"/>
              <a:t>The app screens on the right show the kind of tracking tool that produces data like this.</a:t>
            </a:r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Here's the shape of the dataset.</a:t>
            </a:r>
          </a:p>
          <a:p>
            <a:r>
              <a:rPr dirty="0"/>
              <a:t>[Numbers pop in] We have 973 member records and 15 features. 13 are numeric and 2 are categorical.</a:t>
            </a:r>
          </a:p>
          <a:p>
            <a:r>
              <a:rPr dirty="0"/>
              <a:t>Our target is </a:t>
            </a:r>
            <a:r>
              <a:rPr dirty="0" err="1"/>
              <a:t>Calories_Burned</a:t>
            </a:r>
            <a:r>
              <a:rPr dirty="0"/>
              <a:t>, a continuous number, which makes this a regression problem.</a:t>
            </a:r>
          </a:p>
          <a:p>
            <a:r>
              <a:rPr dirty="0"/>
              <a:t>The two categorical features, Gender and </a:t>
            </a:r>
            <a:r>
              <a:rPr dirty="0" err="1"/>
              <a:t>Workout_Type</a:t>
            </a:r>
            <a:r>
              <a:rPr dirty="0"/>
              <a:t>, let us compare groups. </a:t>
            </a:r>
            <a:r>
              <a:rPr dirty="0" err="1"/>
              <a:t>Workout_Type</a:t>
            </a:r>
            <a:r>
              <a:rPr dirty="0"/>
              <a:t> covers Cardio, HIIT, Strength, and Yoga.</a:t>
            </a:r>
          </a:p>
          <a:p>
            <a:r>
              <a:rPr dirty="0"/>
              <a:t>Everything else, like age, weight, heart rate, and session duration, is numeric.</a:t>
            </a:r>
          </a:p>
        </p:txBody>
      </p:sp>
      <p:sp>
        <p:nvSpPr>
          <p:cNvPr id="108" name="Google Shape;10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Before analysis, we checked data quality.</a:t>
            </a:r>
          </a:p>
          <a:p>
            <a:r>
              <a:rPr dirty="0"/>
              <a:t>[Cards appear one by one] There are zero missing values across all 15 columns, and zero duplicates, so all 973 records are unique.</a:t>
            </a:r>
          </a:p>
          <a:p>
            <a:r>
              <a:rPr dirty="0"/>
              <a:t>We converted pound and inch values for modeling, and we used Z-scores to flag extreme points beyond 3 standard deviations.</a:t>
            </a:r>
          </a:p>
          <a:p>
            <a:r>
              <a:rPr dirty="0"/>
              <a:t>[Result bar] The result: a clean dataset that's ready to work with.</a:t>
            </a:r>
          </a:p>
        </p:txBody>
      </p:sp>
      <p:sp>
        <p:nvSpPr>
          <p:cNvPr id="133" name="Google Shape;13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h20fcd7b782225f84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Next, we looked for outliers using the interquartile range.</a:t>
            </a:r>
          </a:p>
          <a:p>
            <a:r>
              <a:rPr dirty="0"/>
              <a:t>[Top row] Age, heart rates, and session duration have no outliers. They sit in natural, realistic ranges.</a:t>
            </a:r>
          </a:p>
          <a:p>
            <a:r>
              <a:rPr dirty="0"/>
              <a:t>[Bottom row] Weight, BMI, and calories burned do have some high values on the right tail.</a:t>
            </a:r>
          </a:p>
          <a:p>
            <a:r>
              <a:rPr dirty="0"/>
              <a:t>[Right side] The key point: these aren't errors. The highest calorie values come from heavier members doing the longest, two-hour sessions, so they're real and worth keeping.</a:t>
            </a:r>
          </a:p>
        </p:txBody>
      </p:sp>
      <p:sp>
        <p:nvSpPr>
          <p:cNvPr id="154" name="Google Shape;154;h20fcd7b782225f84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This table summarizes five key attributes.</a:t>
            </a:r>
          </a:p>
          <a:p>
            <a:r>
              <a:rPr dirty="0"/>
              <a:t>[Table wipes down] Calories burned, highlighted at the top, ranges from about 300 to 1,783, with an average of around 905.</a:t>
            </a:r>
          </a:p>
          <a:p>
            <a:r>
              <a:rPr dirty="0"/>
              <a:t>Sessions run from half an hour to two hours, averaging about 1.26 hours.</a:t>
            </a:r>
          </a:p>
          <a:p>
            <a:r>
              <a:rPr dirty="0"/>
              <a:t>Average heart rate is about 144 BPM, body fat averages about 25 percent, and members work out about 3 days a week.</a:t>
            </a:r>
          </a:p>
          <a:p>
            <a:r>
              <a:rPr dirty="0"/>
              <a:t>All of these values are realistic for gym members.</a:t>
            </a:r>
          </a:p>
        </p:txBody>
      </p:sp>
      <p:sp>
        <p:nvSpPr>
          <p:cNvPr id="185" name="Google Shape;18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Now let's look at our target, calories burned.</a:t>
            </a:r>
          </a:p>
          <a:p>
            <a:r>
              <a:rPr dirty="0"/>
              <a:t>[Bars rise] The histogram is roughly bell-shaped and centered near 900 calories, so most sessions land in the middle.</a:t>
            </a:r>
          </a:p>
          <a:p>
            <a:r>
              <a:rPr dirty="0"/>
              <a:t>There's a slight tail to the right: a smaller group of sessions burns a lot more, usually long endurance workouts.</a:t>
            </a:r>
          </a:p>
          <a:p>
            <a:r>
              <a:rPr dirty="0"/>
              <a:t>This shape matters later when we split calories into groups.</a:t>
            </a:r>
          </a:p>
        </p:txBody>
      </p:sp>
      <p:sp>
        <p:nvSpPr>
          <p:cNvPr id="191" name="Google Shape;19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121df8db74e1250f_1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This slide shows which attributes move with calories burned.</a:t>
            </a:r>
          </a:p>
          <a:p>
            <a:r>
              <a:rPr dirty="0"/>
              <a:t>[Heatmap appears] On the left is the full correlation matrix. Red means two features rise together, and blue means one rises while the other falls.</a:t>
            </a:r>
          </a:p>
          <a:p>
            <a:r>
              <a:rPr dirty="0"/>
              <a:t>[Bars fill one at a time] On the right are the strongest links to calories. Session duration is by far the strongest at plus 0.91: the longer you train, the more you burn. Experience level follows at 0.69, then workout frequency and average heart rate.</a:t>
            </a:r>
          </a:p>
          <a:p>
            <a:r>
              <a:rPr dirty="0"/>
              <a:t>Body fat percentage is negative at minus 0.60, so members with lower body fat tend to burn more.</a:t>
            </a:r>
          </a:p>
        </p:txBody>
      </p:sp>
      <p:sp>
        <p:nvSpPr>
          <p:cNvPr id="206" name="Google Shape;206;h121df8db74e1250f_1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Here we compare calories by workout type and gender.</a:t>
            </a:r>
          </a:p>
          <a:p>
            <a:r>
              <a:rPr dirty="0"/>
              <a:t>[Bars rise] HIIT and Strength burn the most, at around 980 and 970 calories, followed by Cardio and then Yoga.</a:t>
            </a:r>
          </a:p>
          <a:p>
            <a:r>
              <a:rPr dirty="0"/>
              <a:t>Across every workout type, male members burn about 100 to 120 more calories on average than female members.</a:t>
            </a:r>
          </a:p>
          <a:p>
            <a:r>
              <a:rPr dirty="0"/>
              <a:t>So both the type of workout and who is doing it make a difference.</a:t>
            </a:r>
          </a:p>
        </p:txBody>
      </p:sp>
      <p:sp>
        <p:nvSpPr>
          <p:cNvPr id="234" name="Google Shape;23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h121df8db74e1250f_1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This scatter matrix compares duration, calories, heart rate, and body fat, colored by workout type.</a:t>
            </a:r>
          </a:p>
          <a:p>
            <a:r>
              <a:rPr dirty="0"/>
              <a:t>[Insights slide in] First, duration and calories form an almost straight line, which confirms duration is our best predictor.</a:t>
            </a:r>
          </a:p>
          <a:p>
            <a:r>
              <a:rPr dirty="0"/>
              <a:t>Second, duration against body fat splits into two clear clusters: members who train longer than 1.5 hours all have body fat under 20 percent.</a:t>
            </a:r>
          </a:p>
          <a:p>
            <a:r>
              <a:rPr dirty="0"/>
              <a:t>Third, heart rate is spread evenly from 120 to 170 BPM, with no workout type standing out.</a:t>
            </a:r>
          </a:p>
        </p:txBody>
      </p:sp>
      <p:sp>
        <p:nvSpPr>
          <p:cNvPr id="243" name="Google Shape;243;h121df8db74e1250f_1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dirty="0"/>
              <a:t>To prepare for classification, we tried two ways of splitting calories into four groups.</a:t>
            </a:r>
          </a:p>
          <a:p>
            <a:r>
              <a:rPr dirty="0"/>
              <a:t>[Left column] Equal-width binning cuts the range into equal-sized intervals. Because most sessions sit in the middle, one bin gets 506 members and another gets only 39, which is badly unbalanced.</a:t>
            </a:r>
          </a:p>
          <a:p>
            <a:r>
              <a:rPr dirty="0"/>
              <a:t>[Right column] Equal-frequency binning uses quartiles, so each group has about 243 members.</a:t>
            </a:r>
          </a:p>
          <a:p>
            <a:r>
              <a:rPr dirty="0"/>
              <a:t>We'll use the equal-frequency version for our four intensity tiers: Low, Moderate, High, and Very High.</a:t>
            </a:r>
          </a:p>
        </p:txBody>
      </p:sp>
      <p:sp>
        <p:nvSpPr>
          <p:cNvPr id="251" name="Google Shape;25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h20fcd7b782225f8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Here's our plan for supervised learning, which has two tracks.</a:t>
            </a:r>
          </a:p>
          <a:p>
            <a:r>
              <a:t>First, regression, to predict the exact number of calories. We'll start with simple linear regression on duration, then try decision trees, k-nearest neighbors, and neural networks. We'll measure success by average prediction error.</a:t>
            </a:r>
          </a:p>
          <a:p>
            <a:r>
              <a:t>Second, classification, to sort each workout into the four intensity tiers. We'll test decision trees, Naive Bayes, and k-nearest neighbors, and check accuracy and a confusion matrix.</a:t>
            </a:r>
          </a:p>
        </p:txBody>
      </p:sp>
      <p:sp>
        <p:nvSpPr>
          <p:cNvPr id="293" name="Google Shape;293;h20fcd7b782225f8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h20fcd7b782225f84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Finally, unsupervised learning, which also has two parts.</a:t>
            </a:r>
          </a:p>
          <a:p>
            <a:r>
              <a:t>[Left card] With association analysis, we use the Apriori algorithm to find habits that occur together. For example: HIIT plus long duration leads to very high calorie burn. A rule counts only if it meets our thresholds: support at least 0.10, confidence at least 0.70, and lift above 1.</a:t>
            </a:r>
          </a:p>
          <a:p>
            <a:r>
              <a:t>[Right card] With clustering, we use k-Means and hierarchical clustering to group members into fitness profiles, like endurance athletes versus beginners. We'll also flag extreme sessions over 1,600 calories so they don't skew the results.</a:t>
            </a:r>
          </a:p>
        </p:txBody>
      </p:sp>
      <p:sp>
        <p:nvSpPr>
          <p:cNvPr id="299" name="Google Shape;299;h20fcd7b782225f84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[Heartbeat line draws in]</a:t>
            </a:r>
          </a:p>
          <a:p>
            <a:r>
              <a:t>To sum up: our data is clean, 973 records with 15 features, and session duration is the strongest driver of calories burned.</a:t>
            </a:r>
          </a:p>
          <a:p>
            <a:r>
              <a:t>Thank you. We're happy to take any questions.</a:t>
            </a:r>
          </a:p>
        </p:txBody>
      </p:sp>
      <p:sp>
        <p:nvSpPr>
          <p:cNvPr id="317" name="Google Shape;31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Relationship Id="rIdBg2" Type="http://schemas.openxmlformats.org/officeDocument/2006/relationships/image" Target="../media/bgphoto2.jp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Bg3" Type="http://schemas.openxmlformats.org/officeDocument/2006/relationships/image" Target="../media/bgphoto3.jpg"/></Relationships>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Bg4" Type="http://schemas.openxmlformats.org/officeDocument/2006/relationships/image" Target="../media/bgphoto4.jp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Bg5" Type="http://schemas.openxmlformats.org/officeDocument/2006/relationships/image" Target="../media/bgphoto5.jpg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Bg6" Type="http://schemas.openxmlformats.org/officeDocument/2006/relationships/image" Target="../media/bgphoto6.jpg"/></Relationships>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Bg7" Type="http://schemas.openxmlformats.org/officeDocument/2006/relationships/image" Target="../media/bgphoto7.jpg"/></Relationships>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Relationship Id="rIdBg8" Type="http://schemas.openxmlformats.org/officeDocument/2006/relationships/image" Target="../media/bgphoto8.jpg"/></Relationships>
</file>

<file path=ppt/slides/_rels/slide9.xml.rels><?xml version="1.0" encoding="UTF-8" standalone="yes"?>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Relationship Id="rIdBg9" Type="http://schemas.openxmlformats.org/officeDocument/2006/relationships/image" Target="../media/bgphoto9.jpg"/></Relationships>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Bg10" Type="http://schemas.openxmlformats.org/officeDocument/2006/relationships/image" Target="../media/bgphoto10.jpg"/></Relationships>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Bg11" Type="http://schemas.openxmlformats.org/officeDocument/2006/relationships/image" Target="../media/bgphoto11.jpg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Bg12" Type="http://schemas.openxmlformats.org/officeDocument/2006/relationships/image" Target="../media/bgphoto12.jpg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Bg13" Type="http://schemas.openxmlformats.org/officeDocument/2006/relationships/image" Target="../media/bgphoto13.jpg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Bg14" Type="http://schemas.openxmlformats.org/officeDocument/2006/relationships/image" Target="../media/bgphoto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40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87" descr="ec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74920"/>
            <a:ext cx="12191695" cy="1627632"/>
          </a:xfrm>
          <a:prstGeom prst="rect">
            <a:avLst/>
          </a:prstGeom>
        </p:spPr>
      </p:pic>
      <p:sp>
        <p:nvSpPr>
          <p:cNvPr id="84" name="Google Shape;84;p13"/>
          <p:cNvSpPr/>
          <p:nvPr/>
        </p:nvSpPr>
        <p:spPr>
          <a:xfrm>
            <a:off x="762000" y="4217325"/>
            <a:ext cx="457200" cy="48300"/>
          </a:xfrm>
          <a:prstGeom prst="roundRect">
            <a:avLst>
              <a:gd name="adj" fmla="val 50000"/>
            </a:avLst>
          </a:prstGeom>
          <a:solidFill>
            <a:srgbClr val="7E22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762000" y="1787797"/>
            <a:ext cx="8601000" cy="12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497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Phase 2: Data Understanding &amp; Exploratory Analysis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762000" y="3379499"/>
            <a:ext cx="6572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Empirical inspection, statistical distributions, correlation modeling, and preprocessing of gym workout records.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524000" y="4142300"/>
            <a:ext cx="2833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FC8D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Gym Exercise Tracking Dataset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89" name="Oval 88"/>
          <p:cNvSpPr/>
          <p:nvPr/>
        </p:nvSpPr>
        <p:spPr>
          <a:xfrm>
            <a:off x="8732520" y="1417320"/>
            <a:ext cx="2651760" cy="2651760"/>
          </a:xfrm>
          <a:prstGeom prst="ellipse">
            <a:avLst/>
          </a:prstGeom>
          <a:noFill/>
          <a:ln w="25400">
            <a:solidFill>
              <a:srgbClr val="4A43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grpSp>
        <p:nvGrpSpPr>
          <p:cNvPr id="7" name="Group 0"/>
          <p:cNvGrpSpPr/>
          <p:nvPr/>
        </p:nvGrpSpPr>
        <p:grpSpPr>
          <a:xfrm>
            <a:off x="9098280" y="1783080"/>
            <a:ext cx="1920240" cy="1920240"/>
            <a:chOff x="9098280" y="1783080"/>
            <a:chExt cx="1920240" cy="1920240"/>
          </a:xfrm>
        </p:grpSpPr>
        <p:sp>
          <p:nvSpPr>
            <p:cNvPr id="90" name="Oval 89"/>
            <p:cNvSpPr/>
            <p:nvPr/>
          </p:nvSpPr>
          <p:spPr>
            <a:xfrm>
              <a:off x="9098280" y="1783080"/>
              <a:ext cx="1920240" cy="1920240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91" name="Picture 90" descr="FaDumbbell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59137" y="2243937"/>
              <a:ext cx="998524" cy="998524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8065008" y="4297680"/>
            <a:ext cx="502920" cy="502920"/>
            <a:chOff x="8065008" y="4297680"/>
            <a:chExt cx="502920" cy="502920"/>
          </a:xfrm>
        </p:grpSpPr>
        <p:sp>
          <p:nvSpPr>
            <p:cNvPr id="92" name="Oval 91"/>
            <p:cNvSpPr/>
            <p:nvPr/>
          </p:nvSpPr>
          <p:spPr>
            <a:xfrm>
              <a:off x="8065008" y="4297680"/>
              <a:ext cx="502920" cy="50292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93" name="Picture 92" descr="FaHeart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5708" y="4418380"/>
              <a:ext cx="261518" cy="261518"/>
            </a:xfrm>
            <a:prstGeom prst="rect">
              <a:avLst/>
            </a:prstGeom>
          </p:spPr>
        </p:pic>
      </p:grpSp>
      <p:sp>
        <p:nvSpPr>
          <p:cNvPr id="94" name="TextBox 93"/>
          <p:cNvSpPr txBox="1"/>
          <p:nvPr/>
        </p:nvSpPr>
        <p:spPr>
          <a:xfrm>
            <a:off x="7882128" y="4846320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CFC8DC"/>
                </a:solidFill>
                <a:latin typeface="Plus Jakarta Sans"/>
              </a:rPr>
              <a:t>AVG BPM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842248" y="4297680"/>
            <a:ext cx="502920" cy="502920"/>
            <a:chOff x="8842248" y="4297680"/>
            <a:chExt cx="502920" cy="502920"/>
          </a:xfrm>
        </p:grpSpPr>
        <p:sp>
          <p:nvSpPr>
            <p:cNvPr id="95" name="Oval 94"/>
            <p:cNvSpPr/>
            <p:nvPr/>
          </p:nvSpPr>
          <p:spPr>
            <a:xfrm>
              <a:off x="8842248" y="4297680"/>
              <a:ext cx="502920" cy="502920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96" name="Picture 95" descr="FaFir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62948" y="4418380"/>
              <a:ext cx="261518" cy="261518"/>
            </a:xfrm>
            <a:prstGeom prst="rect">
              <a:avLst/>
            </a:prstGeom>
          </p:spPr>
        </p:pic>
      </p:grpSp>
      <p:sp>
        <p:nvSpPr>
          <p:cNvPr id="97" name="TextBox 96"/>
          <p:cNvSpPr txBox="1"/>
          <p:nvPr/>
        </p:nvSpPr>
        <p:spPr>
          <a:xfrm>
            <a:off x="8659368" y="4846320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CFC8DC"/>
                </a:solidFill>
                <a:latin typeface="Plus Jakarta Sans"/>
              </a:rPr>
              <a:t>CALORIES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9619488" y="4297680"/>
            <a:ext cx="502920" cy="502920"/>
            <a:chOff x="9619488" y="4297680"/>
            <a:chExt cx="502920" cy="502920"/>
          </a:xfrm>
        </p:grpSpPr>
        <p:sp>
          <p:nvSpPr>
            <p:cNvPr id="98" name="Oval 97"/>
            <p:cNvSpPr/>
            <p:nvPr/>
          </p:nvSpPr>
          <p:spPr>
            <a:xfrm>
              <a:off x="9619488" y="4297680"/>
              <a:ext cx="502920" cy="502920"/>
            </a:xfrm>
            <a:prstGeom prst="ellipse">
              <a:avLst/>
            </a:prstGeom>
            <a:solidFill>
              <a:srgbClr val="C084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99" name="Picture 98" descr="FaStopwatch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740188" y="4418380"/>
              <a:ext cx="261518" cy="261518"/>
            </a:xfrm>
            <a:prstGeom prst="rect">
              <a:avLst/>
            </a:prstGeom>
          </p:spPr>
        </p:pic>
      </p:grpSp>
      <p:sp>
        <p:nvSpPr>
          <p:cNvPr id="100" name="TextBox 99"/>
          <p:cNvSpPr txBox="1"/>
          <p:nvPr/>
        </p:nvSpPr>
        <p:spPr>
          <a:xfrm>
            <a:off x="9436608" y="4846320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CFC8DC"/>
                </a:solidFill>
                <a:latin typeface="Plus Jakarta Sans"/>
              </a:rPr>
              <a:t>DURATION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0396728" y="4297680"/>
            <a:ext cx="502920" cy="502920"/>
            <a:chOff x="10396728" y="4297680"/>
            <a:chExt cx="502920" cy="502920"/>
          </a:xfrm>
        </p:grpSpPr>
        <p:sp>
          <p:nvSpPr>
            <p:cNvPr id="101" name="Oval 100"/>
            <p:cNvSpPr/>
            <p:nvPr/>
          </p:nvSpPr>
          <p:spPr>
            <a:xfrm>
              <a:off x="10396728" y="4297680"/>
              <a:ext cx="502920" cy="50292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02" name="Picture 101" descr="FaTint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517428" y="4418380"/>
              <a:ext cx="261518" cy="261518"/>
            </a:xfrm>
            <a:prstGeom prst="rect">
              <a:avLst/>
            </a:prstGeom>
          </p:spPr>
        </p:pic>
      </p:grpSp>
      <p:sp>
        <p:nvSpPr>
          <p:cNvPr id="103" name="TextBox 102"/>
          <p:cNvSpPr txBox="1"/>
          <p:nvPr/>
        </p:nvSpPr>
        <p:spPr>
          <a:xfrm>
            <a:off x="10213848" y="4846320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CFC8DC"/>
                </a:solidFill>
                <a:latin typeface="Plus Jakarta Sans"/>
              </a:rPr>
              <a:t>WATER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173968" y="4297680"/>
            <a:ext cx="502920" cy="502920"/>
            <a:chOff x="11173968" y="4297680"/>
            <a:chExt cx="502920" cy="502920"/>
          </a:xfrm>
        </p:grpSpPr>
        <p:sp>
          <p:nvSpPr>
            <p:cNvPr id="104" name="Oval 103"/>
            <p:cNvSpPr/>
            <p:nvPr/>
          </p:nvSpPr>
          <p:spPr>
            <a:xfrm>
              <a:off x="11173968" y="4297680"/>
              <a:ext cx="502920" cy="50292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05" name="Picture 104" descr="FaCalendarCheck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294668" y="4418380"/>
              <a:ext cx="261518" cy="261518"/>
            </a:xfrm>
            <a:prstGeom prst="rect">
              <a:avLst/>
            </a:prstGeom>
          </p:spPr>
        </p:pic>
      </p:grpSp>
      <p:sp>
        <p:nvSpPr>
          <p:cNvPr id="106" name="TextBox 105"/>
          <p:cNvSpPr txBox="1"/>
          <p:nvPr/>
        </p:nvSpPr>
        <p:spPr>
          <a:xfrm>
            <a:off x="10991088" y="4846320"/>
            <a:ext cx="868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CFC8DC"/>
                </a:solidFill>
                <a:latin typeface="Plus Jakarta Sans"/>
              </a:rPr>
              <a:t>FREQUENCY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00" fill="hold"/>
                                        <p:tgtEl>
                                          <p:spTgt spid="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" presetClass="emph" presetSubtype="0" repeatCount="6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Scale>
                                      <p:cBhvr>
                                        <p:cTn id="34" dur="180" autoRev="1" fill="hold"/>
                                        <p:tgtEl>
                                          <p:spTgt spid="2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6" presetClass="emph" presetSubtype="0" repeatCount="600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animScale>
                                      <p:cBhvr>
                                        <p:cTn id="41" dur="26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1" presetClass="entr" presetSubtype="1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4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0" presetClass="path" presetSubtype="0" repeatCount="400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0 0 L 0 -0.03 E" pathEditMode="relative" ptsTypes="AA">
                                      <p:cBhvr>
                                        <p:cTn id="55" dur="450" autoRev="1" fill="hold"/>
                                        <p:tgtEl>
                                          <p:spTgt spid="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2"/>
          <a:srcRect/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/>
          <p:nvPr/>
        </p:nvSpPr>
        <p:spPr>
          <a:xfrm>
            <a:off x="609600" y="2123025"/>
            <a:ext cx="6277500" cy="1038300"/>
          </a:xfrm>
          <a:prstGeom prst="roundRect">
            <a:avLst>
              <a:gd name="adj" fmla="val 1100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4"/>
          <p:cNvSpPr/>
          <p:nvPr/>
        </p:nvSpPr>
        <p:spPr>
          <a:xfrm>
            <a:off x="609600" y="3313650"/>
            <a:ext cx="6277500" cy="104760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/>
          <p:nvPr/>
        </p:nvSpPr>
        <p:spPr>
          <a:xfrm>
            <a:off x="609600" y="4513800"/>
            <a:ext cx="6277500" cy="104760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Dataset Provenance &amp; Scope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809625" y="2323058"/>
            <a:ext cx="611944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DATA SOURCE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809625" y="2532608"/>
            <a:ext cx="611944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Kaggle / GitHub Repository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809625" y="2789783"/>
            <a:ext cx="6119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C084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https://www.kaggle.com/datasets/valakhorasani/gym-members-exercise-dataset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809625" y="3513683"/>
            <a:ext cx="611944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COLLECTION CONTEXT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809625" y="3723233"/>
            <a:ext cx="611944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Fitness Center Member Tracking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809625" y="3980408"/>
            <a:ext cx="61194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4BDD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Aggregated biometric and physiological workout metrics.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809625" y="4713833"/>
            <a:ext cx="611944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CORE OBJECTIVE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809625" y="4923383"/>
            <a:ext cx="611944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Energy Expenditure Prediction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809625" y="5180558"/>
            <a:ext cx="611944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>
                <a:solidFill>
                  <a:srgbClr val="C4BDD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Exploratory baselining for caloric burn modeling and training patterns.</a:t>
            </a:r>
            <a:endParaRPr>
              <a:solidFill>
                <a:srgbClr val="D9D4E3"/>
              </a:solidFill>
            </a:endParaRPr>
          </a:p>
        </p:txBody>
      </p:sp>
      <p:pic>
        <p:nvPicPr>
          <p:cNvPr id="105" name="Google Shape;105;p14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2775" y="1755875"/>
            <a:ext cx="4958124" cy="41537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106" name="Oval 105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07" name="Picture 106" descr="FaDatabas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7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7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6" presetClass="emph" presetSubtype="0" repeatCount="2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3"/>
          <a:srcRect/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/>
          <p:nvPr/>
        </p:nvSpPr>
        <p:spPr>
          <a:xfrm>
            <a:off x="609544" y="1740775"/>
            <a:ext cx="3505200" cy="1384500"/>
          </a:xfrm>
          <a:prstGeom prst="roundRect">
            <a:avLst>
              <a:gd name="adj" fmla="val 9600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4343344" y="1740775"/>
            <a:ext cx="3505200" cy="1384500"/>
          </a:xfrm>
          <a:prstGeom prst="roundRect">
            <a:avLst>
              <a:gd name="adj" fmla="val 9600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8077144" y="1740775"/>
            <a:ext cx="3505200" cy="1384500"/>
          </a:xfrm>
          <a:prstGeom prst="roundRect">
            <a:avLst>
              <a:gd name="adj" fmla="val 9600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609600" y="3429000"/>
            <a:ext cx="5372100" cy="1397100"/>
          </a:xfrm>
          <a:prstGeom prst="roundRect">
            <a:avLst>
              <a:gd name="adj" fmla="val 7407"/>
            </a:avLst>
          </a:prstGeom>
          <a:solidFill>
            <a:srgbClr val="2A1640"/>
          </a:solidFill>
          <a:ln w="9525" cap="flat" cmpd="sng">
            <a:solidFill>
              <a:srgbClr val="7E22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6210300" y="3429000"/>
            <a:ext cx="5372100" cy="1397100"/>
          </a:xfrm>
          <a:prstGeom prst="roundRect">
            <a:avLst>
              <a:gd name="adj" fmla="val 7407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Structural Profile &amp; Target Variable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469050" y="2017678"/>
            <a:ext cx="3786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973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469050" y="2637941"/>
            <a:ext cx="37863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Total Member Records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4202850" y="2017678"/>
            <a:ext cx="3786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15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4202850" y="2637941"/>
            <a:ext cx="37863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Observed Features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7936650" y="2017678"/>
            <a:ext cx="3786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13 / 2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7936650" y="2637941"/>
            <a:ext cx="37863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Numeric vs. Categorical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885825" y="3679087"/>
            <a:ext cx="60246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D8B4F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TARGET CLASS IDENTIFICATION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885825" y="3886056"/>
            <a:ext cx="6024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D8B4F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Calories_Burned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885825" y="4213756"/>
            <a:ext cx="491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Continuous numerical regression target indicating total energy output per exercise session.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6486525" y="3679087"/>
            <a:ext cx="5705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CATEGORICAL </a:t>
            </a:r>
            <a:r>
              <a:rPr lang="en-US" sz="1050" b="1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DATA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6486525" y="3886056"/>
            <a:ext cx="57054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Gender &amp; Workout_Type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6486525" y="4213756"/>
            <a:ext cx="4914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Gender (Male / Female) and Workout Type (Cardio, HIIT, Strength, Yoga) serve as key groupings.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28" name="Google Shape;128;p15"/>
          <p:cNvSpPr/>
          <p:nvPr/>
        </p:nvSpPr>
        <p:spPr>
          <a:xfrm>
            <a:off x="6210300" y="5075100"/>
            <a:ext cx="5524500" cy="1384500"/>
          </a:xfrm>
          <a:prstGeom prst="roundRect">
            <a:avLst>
              <a:gd name="adj" fmla="val 7407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6415725" y="5298975"/>
            <a:ext cx="59286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NUMERICAL </a:t>
            </a:r>
            <a:r>
              <a:rPr lang="en-US" sz="1050" b="1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050" b="1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DATA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6415700" y="5528025"/>
            <a:ext cx="53721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Age, Weight, Height, Max_BPM, Avg_BPM,Resting_BPM, Session_Duration, Fat_Percentage, Water_Intake, Workout_Frequency, Experience_Level, BMI</a:t>
            </a:r>
            <a:endParaRPr sz="1500" b="1">
              <a:solidFill>
                <a:srgbClr val="F5F3F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2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131" name="Oval 130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32" name="Picture 131" descr="FaClipboardList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6" presetClass="emph" presetSubtype="0" repeatCount="200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Scale>
                                      <p:cBhvr>
                                        <p:cTn id="84" dur="25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4"/>
          <a:srcRect/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/>
          <p:nvPr/>
        </p:nvSpPr>
        <p:spPr>
          <a:xfrm>
            <a:off x="609600" y="2568803"/>
            <a:ext cx="2571750" cy="1724025"/>
          </a:xfrm>
          <a:prstGeom prst="roundRect">
            <a:avLst>
              <a:gd name="adj" fmla="val 662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3409950" y="2568803"/>
            <a:ext cx="2571750" cy="1724025"/>
          </a:xfrm>
          <a:prstGeom prst="roundRect">
            <a:avLst>
              <a:gd name="adj" fmla="val 662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6210300" y="2568803"/>
            <a:ext cx="2571750" cy="1724025"/>
          </a:xfrm>
          <a:prstGeom prst="roundRect">
            <a:avLst>
              <a:gd name="adj" fmla="val 662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9010650" y="2568803"/>
            <a:ext cx="2571750" cy="1724025"/>
          </a:xfrm>
          <a:prstGeom prst="roundRect">
            <a:avLst>
              <a:gd name="adj" fmla="val 662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Detected Anomalies &amp; Cleansing Steps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44" name="Google Shape;144;p16"/>
          <p:cNvSpPr txBox="1"/>
          <p:nvPr/>
        </p:nvSpPr>
        <p:spPr>
          <a:xfrm>
            <a:off x="885825" y="3302228"/>
            <a:ext cx="265033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Zero Missing Values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885825" y="3616553"/>
            <a:ext cx="21145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4BDD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Zero null entries across all 15 columns.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46" name="Google Shape;146;p16"/>
          <p:cNvSpPr txBox="1"/>
          <p:nvPr/>
        </p:nvSpPr>
        <p:spPr>
          <a:xfrm>
            <a:off x="3686175" y="3302228"/>
            <a:ext cx="265033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Zero Duplicates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47" name="Google Shape;147;p16"/>
          <p:cNvSpPr txBox="1"/>
          <p:nvPr/>
        </p:nvSpPr>
        <p:spPr>
          <a:xfrm>
            <a:off x="3686175" y="3616553"/>
            <a:ext cx="21145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4BDD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973 unique tracking records confirmed.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48" name="Google Shape;148;p16"/>
          <p:cNvSpPr txBox="1"/>
          <p:nvPr/>
        </p:nvSpPr>
        <p:spPr>
          <a:xfrm>
            <a:off x="6486525" y="3302228"/>
            <a:ext cx="265033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Unit Transformation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49" name="Google Shape;149;p16"/>
          <p:cNvSpPr txBox="1"/>
          <p:nvPr/>
        </p:nvSpPr>
        <p:spPr>
          <a:xfrm>
            <a:off x="6486525" y="3616553"/>
            <a:ext cx="2114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4BDD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Converted </a:t>
            </a:r>
            <a:r>
              <a:rPr lang="en-US" sz="1200" b="0" i="0" u="none" strike="noStrike" cap="none">
                <a:solidFill>
                  <a:srgbClr val="C4BDD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pounds and inches for modeling.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50" name="Google Shape;150;p16"/>
          <p:cNvSpPr txBox="1"/>
          <p:nvPr/>
        </p:nvSpPr>
        <p:spPr>
          <a:xfrm>
            <a:off x="9286875" y="3302228"/>
            <a:ext cx="265033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Z-Score Outliers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286875" y="3616553"/>
            <a:ext cx="21145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4BDD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Identified extreme points exceeding |Z| &gt; 3.</a:t>
            </a:r>
            <a:endParaRPr>
              <a:solidFill>
                <a:srgbClr val="D9D4E3"/>
              </a:solidFill>
            </a:endParaRPr>
          </a:p>
        </p:txBody>
      </p:sp>
      <p:grpSp>
        <p:nvGrpSpPr>
          <p:cNvPr id="6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152" name="Oval 151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53" name="Picture 152" descr="FaBroom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  <p:grpSp>
        <p:nvGrpSpPr>
          <p:cNvPr id="2" name="Group 1"/>
          <p:cNvGrpSpPr/>
          <p:nvPr/>
        </p:nvGrpSpPr>
        <p:grpSpPr>
          <a:xfrm>
            <a:off x="867537" y="2734056"/>
            <a:ext cx="502920" cy="502920"/>
            <a:chOff x="867537" y="3145536"/>
            <a:chExt cx="502920" cy="502920"/>
          </a:xfrm>
        </p:grpSpPr>
        <p:sp>
          <p:nvSpPr>
            <p:cNvPr id="154" name="Oval 153"/>
            <p:cNvSpPr/>
            <p:nvPr/>
          </p:nvSpPr>
          <p:spPr>
            <a:xfrm>
              <a:off x="867537" y="3145536"/>
              <a:ext cx="502920" cy="50292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55" name="Picture 154" descr="FaCheckCircl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237" y="3266236"/>
              <a:ext cx="261518" cy="261518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>
            <a:off x="3667887" y="2734056"/>
            <a:ext cx="502920" cy="502920"/>
            <a:chOff x="3667887" y="3145536"/>
            <a:chExt cx="502920" cy="502920"/>
          </a:xfrm>
        </p:grpSpPr>
        <p:sp>
          <p:nvSpPr>
            <p:cNvPr id="156" name="Oval 155"/>
            <p:cNvSpPr/>
            <p:nvPr/>
          </p:nvSpPr>
          <p:spPr>
            <a:xfrm>
              <a:off x="3667887" y="3145536"/>
              <a:ext cx="502920" cy="50292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57" name="Picture 156" descr="FaClon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88587" y="3266236"/>
              <a:ext cx="261518" cy="261518"/>
            </a:xfrm>
            <a:prstGeom prst="rect">
              <a:avLst/>
            </a:prstGeom>
          </p:spPr>
        </p:pic>
      </p:grpSp>
      <p:grpSp>
        <p:nvGrpSpPr>
          <p:cNvPr id="4" name="Group 3"/>
          <p:cNvGrpSpPr/>
          <p:nvPr/>
        </p:nvGrpSpPr>
        <p:grpSpPr>
          <a:xfrm>
            <a:off x="6468237" y="2734056"/>
            <a:ext cx="502920" cy="502920"/>
            <a:chOff x="6468237" y="3145536"/>
            <a:chExt cx="502920" cy="502920"/>
          </a:xfrm>
        </p:grpSpPr>
        <p:sp>
          <p:nvSpPr>
            <p:cNvPr id="158" name="Oval 157"/>
            <p:cNvSpPr/>
            <p:nvPr/>
          </p:nvSpPr>
          <p:spPr>
            <a:xfrm>
              <a:off x="6468237" y="3145536"/>
              <a:ext cx="502920" cy="502920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59" name="Picture 158" descr="FaExchangeAlt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88937" y="3266236"/>
              <a:ext cx="261518" cy="261518"/>
            </a:xfrm>
            <a:prstGeom prst="rect">
              <a:avLst/>
            </a:prstGeom>
          </p:spPr>
        </p:pic>
      </p:grpSp>
      <p:grpSp>
        <p:nvGrpSpPr>
          <p:cNvPr id="5" name="Group 4"/>
          <p:cNvGrpSpPr/>
          <p:nvPr/>
        </p:nvGrpSpPr>
        <p:grpSpPr>
          <a:xfrm>
            <a:off x="9268587" y="2734056"/>
            <a:ext cx="502920" cy="502920"/>
            <a:chOff x="9268587" y="3145536"/>
            <a:chExt cx="502920" cy="502920"/>
          </a:xfrm>
        </p:grpSpPr>
        <p:sp>
          <p:nvSpPr>
            <p:cNvPr id="160" name="Oval 159"/>
            <p:cNvSpPr/>
            <p:nvPr/>
          </p:nvSpPr>
          <p:spPr>
            <a:xfrm>
              <a:off x="9268587" y="3145536"/>
              <a:ext cx="502920" cy="50292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61" name="Picture 160" descr="FaExclamationTriangl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389287" y="3266236"/>
              <a:ext cx="261518" cy="261518"/>
            </a:xfrm>
            <a:prstGeom prst="rect">
              <a:avLst/>
            </a:prstGeom>
          </p:spPr>
        </p:pic>
      </p:grpSp>
      <p:sp>
        <p:nvSpPr>
          <p:cNvPr id="162" name="Rounded Rectangle 161"/>
          <p:cNvSpPr/>
          <p:nvPr/>
        </p:nvSpPr>
        <p:spPr>
          <a:xfrm>
            <a:off x="612648" y="4800600"/>
            <a:ext cx="10963656" cy="685800"/>
          </a:xfrm>
          <a:prstGeom prst="roundRect">
            <a:avLst>
              <a:gd name="adj" fmla="val 6000"/>
            </a:avLst>
          </a:prstGeom>
          <a:solidFill>
            <a:srgbClr val="2E1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868680" y="480060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C084FC"/>
                </a:solidFill>
                <a:latin typeface="Plus Jakarta Sans"/>
              </a:rPr>
              <a:t>Result:  </a:t>
            </a:r>
            <a:r>
              <a:rPr sz="1500" b="0">
                <a:solidFill>
                  <a:srgbClr val="FFFFFF"/>
                </a:solidFill>
                <a:latin typeface="Plus Jakarta Sans"/>
              </a:rPr>
              <a:t>a clean, duplicate-free dataset of 973 records × 15 features — ready to train on.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8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8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6" presetClass="emph" presetSubtype="0" repeatCount="200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animScale>
                                      <p:cBhvr>
                                        <p:cTn id="92" dur="25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5"/>
          <a:srcRect/>
          <a:stretch>
            <a:fillRect/>
          </a:stretch>
        </a:blip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7"/>
          <p:cNvSpPr/>
          <p:nvPr/>
        </p:nvSpPr>
        <p:spPr>
          <a:xfrm>
            <a:off x="533400" y="2024501"/>
            <a:ext cx="6675000" cy="2881800"/>
          </a:xfrm>
          <a:prstGeom prst="roundRect">
            <a:avLst>
              <a:gd name="adj" fmla="val 4351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7475198" y="1828150"/>
            <a:ext cx="4183500" cy="1536900"/>
          </a:xfrm>
          <a:prstGeom prst="roundRect">
            <a:avLst>
              <a:gd name="adj" fmla="val 815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7475198" y="3565926"/>
            <a:ext cx="4183500" cy="1536900"/>
          </a:xfrm>
          <a:prstGeom prst="roundRect">
            <a:avLst>
              <a:gd name="adj" fmla="val 815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733425" y="2726824"/>
            <a:ext cx="2028000" cy="702300"/>
          </a:xfrm>
          <a:prstGeom prst="roundRect">
            <a:avLst>
              <a:gd name="adj" fmla="val 10714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2856758" y="2726824"/>
            <a:ext cx="2028300" cy="702300"/>
          </a:xfrm>
          <a:prstGeom prst="roundRect">
            <a:avLst>
              <a:gd name="adj" fmla="val 10714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4980240" y="2726824"/>
            <a:ext cx="2028300" cy="702300"/>
          </a:xfrm>
          <a:prstGeom prst="roundRect">
            <a:avLst>
              <a:gd name="adj" fmla="val 10714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733425" y="3554560"/>
            <a:ext cx="2028000" cy="702300"/>
          </a:xfrm>
          <a:prstGeom prst="roundRect">
            <a:avLst>
              <a:gd name="adj" fmla="val 10714"/>
            </a:avLst>
          </a:prstGeom>
          <a:solidFill>
            <a:srgbClr val="2A1640"/>
          </a:solidFill>
          <a:ln w="9525" cap="flat" cmpd="sng">
            <a:solidFill>
              <a:srgbClr val="7E22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2856758" y="3554560"/>
            <a:ext cx="2028300" cy="702300"/>
          </a:xfrm>
          <a:prstGeom prst="roundRect">
            <a:avLst>
              <a:gd name="adj" fmla="val 10714"/>
            </a:avLst>
          </a:prstGeom>
          <a:solidFill>
            <a:srgbClr val="2A1218"/>
          </a:solidFill>
          <a:ln w="9525" cap="flat" cmpd="sng">
            <a:solidFill>
              <a:srgbClr val="7F1D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4980240" y="3554560"/>
            <a:ext cx="2028300" cy="702300"/>
          </a:xfrm>
          <a:prstGeom prst="roundRect">
            <a:avLst>
              <a:gd name="adj" fmla="val 10714"/>
            </a:avLst>
          </a:prstGeom>
          <a:solidFill>
            <a:srgbClr val="2A1218"/>
          </a:solidFill>
          <a:ln w="9525" cap="flat" cmpd="sng">
            <a:solidFill>
              <a:srgbClr val="7F1D1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Space Grotesk"/>
                <a:cs typeface="Space Grotesk"/>
                <a:sym typeface="Space Grotesk"/>
              </a:rPr>
              <a:t>Numerical Attribute Outlier Distribution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733425" y="2287872"/>
            <a:ext cx="82359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5F3FA"/>
                </a:solidFill>
                <a:latin typeface="Space Grotesk"/>
                <a:ea typeface="Space Grotesk"/>
                <a:cs typeface="Space Grotesk"/>
                <a:sym typeface="Space Grotesk"/>
              </a:rPr>
              <a:t>IQR Dispersion across 13 Numerical Dimensions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67" name="Google Shape;167;p17"/>
          <p:cNvSpPr txBox="1"/>
          <p:nvPr/>
        </p:nvSpPr>
        <p:spPr>
          <a:xfrm>
            <a:off x="7675223" y="2091521"/>
            <a:ext cx="45168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5F3FA"/>
                </a:solidFill>
                <a:latin typeface="Inter"/>
                <a:ea typeface="Inter"/>
                <a:cs typeface="Inter"/>
                <a:sym typeface="Inter"/>
              </a:rPr>
              <a:t>Natural Physiological Spread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68" name="Google Shape;168;p17"/>
          <p:cNvSpPr txBox="1"/>
          <p:nvPr/>
        </p:nvSpPr>
        <p:spPr>
          <a:xfrm>
            <a:off x="7675223" y="2405058"/>
            <a:ext cx="38787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4BDD3"/>
                </a:solidFill>
                <a:latin typeface="Inter"/>
                <a:ea typeface="Inter"/>
                <a:cs typeface="Inter"/>
                <a:sym typeface="Inter"/>
              </a:rPr>
              <a:t>No negative, corrupt, or truncated values exist. Features like Water_Intake and Workout_Frequency sit entirely within plausible real-world ranges.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7675223" y="3829297"/>
            <a:ext cx="45168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5F3FA"/>
                </a:solidFill>
                <a:latin typeface="Inter"/>
                <a:ea typeface="Inter"/>
                <a:cs typeface="Inter"/>
                <a:sym typeface="Inter"/>
              </a:rPr>
              <a:t>Right-Tail Outlier Drivers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7675223" y="4142834"/>
            <a:ext cx="38787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4BDD3"/>
                </a:solidFill>
                <a:latin typeface="Inter"/>
                <a:ea typeface="Inter"/>
                <a:cs typeface="Inter"/>
                <a:sym typeface="Inter"/>
              </a:rPr>
              <a:t>Upper fliers in Calories_Burned correspond strictly to maximum 2.0-hour workout sessions by high-mass individuals rather than random measurement noise.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1" name="Google Shape;171;p17"/>
          <p:cNvSpPr txBox="1"/>
          <p:nvPr/>
        </p:nvSpPr>
        <p:spPr>
          <a:xfrm>
            <a:off x="838200" y="2864780"/>
            <a:ext cx="22731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5F3FA"/>
                </a:solidFill>
                <a:latin typeface="Inter"/>
                <a:ea typeface="Inter"/>
                <a:cs typeface="Inter"/>
                <a:sym typeface="Inter"/>
              </a:rPr>
              <a:t>Age (18–59)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838200" y="3090526"/>
            <a:ext cx="22731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F5F3FA"/>
                </a:solidFill>
                <a:latin typeface="Inter"/>
                <a:ea typeface="Inter"/>
                <a:cs typeface="Inter"/>
                <a:sym typeface="Inter"/>
              </a:rPr>
              <a:t>Zero fliers • Symmetric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2961533" y="2864780"/>
            <a:ext cx="22734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5F3FA"/>
                </a:solidFill>
                <a:latin typeface="Inter"/>
                <a:ea typeface="Inter"/>
                <a:cs typeface="Inter"/>
                <a:sym typeface="Inter"/>
              </a:rPr>
              <a:t>Heart Rates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4" name="Google Shape;174;p17"/>
          <p:cNvSpPr txBox="1"/>
          <p:nvPr/>
        </p:nvSpPr>
        <p:spPr>
          <a:xfrm>
            <a:off x="2961533" y="3090526"/>
            <a:ext cx="22734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F5F3FA"/>
                </a:solidFill>
                <a:latin typeface="Inter"/>
                <a:ea typeface="Inter"/>
                <a:cs typeface="Inter"/>
                <a:sym typeface="Inter"/>
              </a:rPr>
              <a:t>Zero fliers • Bounded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5" name="Google Shape;175;p17"/>
          <p:cNvSpPr txBox="1"/>
          <p:nvPr/>
        </p:nvSpPr>
        <p:spPr>
          <a:xfrm>
            <a:off x="5085015" y="2864780"/>
            <a:ext cx="22734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5F3FA"/>
                </a:solidFill>
                <a:latin typeface="Inter"/>
                <a:ea typeface="Inter"/>
                <a:cs typeface="Inter"/>
                <a:sym typeface="Inter"/>
              </a:rPr>
              <a:t>Duration (0.5–2h)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6" name="Google Shape;176;p17"/>
          <p:cNvSpPr txBox="1"/>
          <p:nvPr/>
        </p:nvSpPr>
        <p:spPr>
          <a:xfrm>
            <a:off x="5085015" y="3090526"/>
            <a:ext cx="22734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F5F3FA"/>
                </a:solidFill>
                <a:latin typeface="Inter"/>
                <a:ea typeface="Inter"/>
                <a:cs typeface="Inter"/>
                <a:sym typeface="Inter"/>
              </a:rPr>
              <a:t>Zero fliers • Uniform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838200" y="3692517"/>
            <a:ext cx="22731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D8B4FE"/>
                </a:solidFill>
                <a:latin typeface="Inter"/>
                <a:ea typeface="Inter"/>
                <a:cs typeface="Inter"/>
                <a:sym typeface="Inter"/>
              </a:rPr>
              <a:t>Weight (kg)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838200" y="3918263"/>
            <a:ext cx="22731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D8B4FE"/>
                </a:solidFill>
                <a:latin typeface="Inter"/>
                <a:ea typeface="Inter"/>
                <a:cs typeface="Inter"/>
                <a:sym typeface="Inter"/>
              </a:rPr>
              <a:t>1 flier at 130 kg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2961533" y="3692517"/>
            <a:ext cx="22734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CA5A5"/>
                </a:solidFill>
                <a:latin typeface="Inter"/>
                <a:ea typeface="Inter"/>
                <a:cs typeface="Inter"/>
                <a:sym typeface="Inter"/>
              </a:rPr>
              <a:t>BMI (12.3–49.9)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2961533" y="3918263"/>
            <a:ext cx="22734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Dense right fliers (&gt;41)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81" name="Google Shape;181;p17"/>
          <p:cNvSpPr txBox="1"/>
          <p:nvPr/>
        </p:nvSpPr>
        <p:spPr>
          <a:xfrm>
            <a:off x="5085015" y="3692517"/>
            <a:ext cx="22734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1" i="0" u="none" strike="noStrike" cap="none">
                <a:solidFill>
                  <a:srgbClr val="FCA5A5"/>
                </a:solidFill>
                <a:latin typeface="Inter"/>
                <a:ea typeface="Inter"/>
                <a:cs typeface="Inter"/>
                <a:sym typeface="Inter"/>
              </a:rPr>
              <a:t>Calories Burned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82" name="Google Shape;182;p17"/>
          <p:cNvSpPr txBox="1"/>
          <p:nvPr/>
        </p:nvSpPr>
        <p:spPr>
          <a:xfrm>
            <a:off x="5085015" y="3918263"/>
            <a:ext cx="22734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rPr>
              <a:t>Upper fliers (&gt;1600)</a:t>
            </a:r>
            <a:endParaRPr>
              <a:solidFill>
                <a:srgbClr val="D9D4E3"/>
              </a:solidFill>
            </a:endParaRPr>
          </a:p>
        </p:txBody>
      </p:sp>
      <p:grpSp>
        <p:nvGrpSpPr>
          <p:cNvPr id="2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183" name="Oval 182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84" name="Picture 183" descr="FaRulerVertical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6" presetClass="emph" presetSubtype="0" repeatCount="200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animScale>
                                      <p:cBhvr>
                                        <p:cTn id="108" dur="25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6"/>
          <a:srcRect/>
          <a:stretch>
            <a:fillRect/>
          </a:stretch>
        </a:blip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7" name="Google Shape;187;p18"/>
          <p:cNvGraphicFramePr/>
          <p:nvPr/>
        </p:nvGraphicFramePr>
        <p:xfrm>
          <a:off x="555225" y="1697733"/>
          <a:ext cx="10972775" cy="2676475"/>
        </p:xfrm>
        <a:graphic>
          <a:graphicData uri="http://schemas.openxmlformats.org/drawingml/2006/table">
            <a:tbl>
              <a:tblPr>
                <a:noFill/>
                <a:tableStyleId>{CEC00773-0F09-4C36-A88E-9A5F6A04E5A2}</a:tableStyleId>
              </a:tblPr>
              <a:tblGrid>
                <a:gridCol w="276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1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7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8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D9D4E3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Feature Attribute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B1E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D9D4E3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Data Type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B1E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D9D4E3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Min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B1E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D9D4E3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Max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B1E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D9D4E3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Mean ± Std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B1E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D9D4E3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Observed Spread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B1E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Calories_Burned (Target)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Float64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303.00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1783.00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C084F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90</a:t>
                      </a:r>
                      <a:r>
                        <a:rPr lang="en-US" sz="1200" b="1">
                          <a:solidFill>
                            <a:srgbClr val="C084F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5</a:t>
                      </a:r>
                      <a:r>
                        <a:rPr lang="en-US" sz="1200" b="1" i="0" u="none" strike="noStrike" cap="none">
                          <a:solidFill>
                            <a:srgbClr val="C084F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.42 ± 2</a:t>
                      </a:r>
                      <a:r>
                        <a:rPr lang="en-US" sz="1200" b="1">
                          <a:solidFill>
                            <a:srgbClr val="C084FC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72.64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Broad continuous range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Session_Duration (hours)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Float64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0.50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2.00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1.2</a:t>
                      </a:r>
                      <a:r>
                        <a:rPr lang="en-US" sz="1200" b="1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6</a:t>
                      </a: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± 0.3</a:t>
                      </a:r>
                      <a:r>
                        <a:rPr lang="en-US" sz="1200" b="1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4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Uniform exercise window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Avg_BPM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Int64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120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1</a:t>
                      </a:r>
                      <a:r>
                        <a:rPr lang="en-US" sz="1200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69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1</a:t>
                      </a:r>
                      <a:r>
                        <a:rPr lang="en-US" sz="1200" b="1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43.77</a:t>
                      </a: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± </a:t>
                      </a:r>
                      <a:r>
                        <a:rPr lang="en-US" sz="1200" b="1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14.35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Cardiovascular exertion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0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Fat_Percentage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Float64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10.0%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35.0%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24.98</a:t>
                      </a: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% ± 6.</a:t>
                      </a:r>
                      <a:r>
                        <a:rPr lang="en-US" sz="1200" b="1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26</a:t>
                      </a: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%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Realistic body composition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19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Workout_Frequency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Int64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2 days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5 days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3.</a:t>
                      </a:r>
                      <a:r>
                        <a:rPr lang="en-US" sz="1200" b="1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32</a:t>
                      </a:r>
                      <a:r>
                        <a:rPr lang="en-US" sz="1200" b="1" i="0" u="none" strike="noStrike" cap="none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 ± </a:t>
                      </a:r>
                      <a:r>
                        <a:rPr lang="en-US" sz="1200" b="1">
                          <a:solidFill>
                            <a:srgbClr val="F5F3F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0.91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A9A2B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Days logged per week</a:t>
                      </a:r>
                      <a:endParaRPr>
                        <a:solidFill>
                          <a:srgbClr val="D9D4E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714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8" name="Google Shape;188;p18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Parametric Summary of Key Attributes</a:t>
            </a:r>
            <a:endParaRPr>
              <a:solidFill>
                <a:srgbClr val="D9D4E3"/>
              </a:solidFill>
            </a:endParaRPr>
          </a:p>
        </p:txBody>
      </p:sp>
      <p:grpSp>
        <p:nvGrpSpPr>
          <p:cNvPr id="2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189" name="Oval 188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90" name="Picture 189" descr="FaTab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2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mph" presetSubtype="0" repeatCount="200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Scale>
                                      <p:cBhvr>
                                        <p:cTn id="9" dur="25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7"/>
          <a:srcRect/>
          <a:stretch>
            <a:fillRect/>
          </a:stretch>
        </a:blip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9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Target Distribution: Calories Burned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609600" y="1170402"/>
            <a:ext cx="11582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Binned histogram of Calories Burned across 10 intervals (2</a:t>
            </a:r>
            <a:r>
              <a:rPr lang="en-US" sz="1200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</a:t>
            </a:r>
            <a:r>
              <a:rPr lang="en-US" sz="1200" b="0" i="0" u="none" strike="noStrike" cap="none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 kcal to 1,800 kcal).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1247800" y="6006825"/>
            <a:ext cx="40335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4BDD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Normal distribution shape centered near 900 kcal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196" name="Google Shape;196;p19"/>
          <p:cNvSpPr txBox="1"/>
          <p:nvPr/>
        </p:nvSpPr>
        <p:spPr>
          <a:xfrm>
            <a:off x="7264250" y="6008075"/>
            <a:ext cx="37821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C4BDD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Slight positive right skew toward endurance workouts</a:t>
            </a:r>
            <a:endParaRPr>
              <a:solidFill>
                <a:srgbClr val="D9D4E3"/>
              </a:solidFill>
            </a:endParaRPr>
          </a:p>
        </p:txBody>
      </p:sp>
      <p:grpSp>
        <p:nvGrpSpPr>
          <p:cNvPr id="4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198" name="Oval 197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199" name="Picture 198" descr="FaFir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  <p:pic>
        <p:nvPicPr>
          <p:cNvPr id="200" name="Picture 199" descr="hist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9100" y="1506977"/>
            <a:ext cx="5513800" cy="4348073"/>
          </a:xfrm>
          <a:prstGeom prst="rect">
            <a:avLst/>
          </a:prstGeom>
        </p:spPr>
      </p:pic>
      <p:grpSp>
        <p:nvGrpSpPr>
          <p:cNvPr id="2" name="Group 1"/>
          <p:cNvGrpSpPr/>
          <p:nvPr/>
        </p:nvGrpSpPr>
        <p:grpSpPr>
          <a:xfrm>
            <a:off x="832104" y="5971032"/>
            <a:ext cx="292608" cy="292608"/>
            <a:chOff x="832104" y="5971032"/>
            <a:chExt cx="292608" cy="292608"/>
          </a:xfrm>
        </p:grpSpPr>
        <p:sp>
          <p:nvSpPr>
            <p:cNvPr id="201" name="Oval 200"/>
            <p:cNvSpPr/>
            <p:nvPr/>
          </p:nvSpPr>
          <p:spPr>
            <a:xfrm>
              <a:off x="832104" y="5971032"/>
              <a:ext cx="292608" cy="292608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202" name="Picture 201" descr="FaHeartbeat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2329" y="6041257"/>
              <a:ext cx="152156" cy="152156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>
            <a:off x="6848856" y="5971032"/>
            <a:ext cx="292608" cy="292608"/>
            <a:chOff x="6848856" y="5971032"/>
            <a:chExt cx="292608" cy="292608"/>
          </a:xfrm>
        </p:grpSpPr>
        <p:sp>
          <p:nvSpPr>
            <p:cNvPr id="203" name="Oval 202"/>
            <p:cNvSpPr/>
            <p:nvPr/>
          </p:nvSpPr>
          <p:spPr>
            <a:xfrm>
              <a:off x="6848856" y="5971032"/>
              <a:ext cx="292608" cy="292608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204" name="Picture 203" descr="FaFir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19081" y="6041257"/>
              <a:ext cx="152156" cy="152156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6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mph" presetSubtype="0" repeatCount="600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animScale>
                                      <p:cBhvr>
                                        <p:cTn id="21" dur="26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8"/>
          <a:srcRect/>
          <a:stretch>
            <a:fillRect/>
          </a:stretch>
        </a:blip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1"/>
          <p:cNvSpPr/>
          <p:nvPr/>
        </p:nvSpPr>
        <p:spPr>
          <a:xfrm>
            <a:off x="6492240" y="4539823"/>
            <a:ext cx="5120640" cy="777240"/>
          </a:xfrm>
          <a:prstGeom prst="roundRect">
            <a:avLst>
              <a:gd name="adj" fmla="val 18604"/>
            </a:avLst>
          </a:prstGeom>
          <a:solidFill>
            <a:srgbClr val="17141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8092440" y="1847500"/>
            <a:ext cx="2788920" cy="299100"/>
          </a:xfrm>
          <a:prstGeom prst="roundRect">
            <a:avLst>
              <a:gd name="adj" fmla="val 50000"/>
            </a:avLst>
          </a:prstGeom>
          <a:solidFill>
            <a:srgbClr val="211C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8092440" y="2346078"/>
            <a:ext cx="2788920" cy="299100"/>
          </a:xfrm>
          <a:prstGeom prst="roundRect">
            <a:avLst>
              <a:gd name="adj" fmla="val 50000"/>
            </a:avLst>
          </a:prstGeom>
          <a:solidFill>
            <a:srgbClr val="211C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8092440" y="2844656"/>
            <a:ext cx="2788920" cy="299100"/>
          </a:xfrm>
          <a:prstGeom prst="roundRect">
            <a:avLst>
              <a:gd name="adj" fmla="val 50000"/>
            </a:avLst>
          </a:prstGeom>
          <a:solidFill>
            <a:srgbClr val="211C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8092440" y="3343235"/>
            <a:ext cx="2788920" cy="299100"/>
          </a:xfrm>
          <a:prstGeom prst="roundRect">
            <a:avLst>
              <a:gd name="adj" fmla="val 50000"/>
            </a:avLst>
          </a:prstGeom>
          <a:solidFill>
            <a:srgbClr val="211C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8092440" y="3841813"/>
            <a:ext cx="2788920" cy="299100"/>
          </a:xfrm>
          <a:prstGeom prst="roundRect">
            <a:avLst>
              <a:gd name="adj" fmla="val 50000"/>
            </a:avLst>
          </a:prstGeom>
          <a:solidFill>
            <a:srgbClr val="211C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6492240" y="4539823"/>
            <a:ext cx="38100" cy="777240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8092440" y="1847500"/>
            <a:ext cx="2452880" cy="299100"/>
          </a:xfrm>
          <a:prstGeom prst="roundRect">
            <a:avLst>
              <a:gd name="adj" fmla="val 50000"/>
            </a:avLst>
          </a:prstGeom>
          <a:solidFill>
            <a:srgbClr val="7E22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8092440" y="2346068"/>
            <a:ext cx="1789608" cy="299100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8092440" y="2844646"/>
            <a:ext cx="1526442" cy="29910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8092440" y="3343235"/>
            <a:ext cx="863994" cy="299100"/>
          </a:xfrm>
          <a:prstGeom prst="roundRect">
            <a:avLst>
              <a:gd name="adj" fmla="val 50000"/>
            </a:avLst>
          </a:prstGeom>
          <a:solidFill>
            <a:srgbClr val="C084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8092440" y="3841813"/>
            <a:ext cx="668939" cy="2991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Pearson Correlation with Target (Calories Burned)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21" name="Google Shape;221;p21"/>
          <p:cNvSpPr txBox="1"/>
          <p:nvPr/>
        </p:nvSpPr>
        <p:spPr>
          <a:xfrm>
            <a:off x="6492240" y="1878660"/>
            <a:ext cx="155448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Session_Duration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22" name="Google Shape;222;p21"/>
          <p:cNvSpPr txBox="1"/>
          <p:nvPr/>
        </p:nvSpPr>
        <p:spPr>
          <a:xfrm>
            <a:off x="10945368" y="1847500"/>
            <a:ext cx="667512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084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+0.</a:t>
            </a:r>
            <a:r>
              <a:rPr lang="en-US" sz="1200" b="1">
                <a:solidFill>
                  <a:srgbClr val="C084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91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23" name="Google Shape;223;p21"/>
          <p:cNvSpPr txBox="1"/>
          <p:nvPr/>
        </p:nvSpPr>
        <p:spPr>
          <a:xfrm>
            <a:off x="6492240" y="2377239"/>
            <a:ext cx="155448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Experience_level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10945368" y="2376689"/>
            <a:ext cx="667512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084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+0.</a:t>
            </a:r>
            <a:r>
              <a:rPr lang="en-US" sz="1200" b="1">
                <a:solidFill>
                  <a:srgbClr val="C084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69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25" name="Google Shape;225;p21"/>
          <p:cNvSpPr txBox="1"/>
          <p:nvPr/>
        </p:nvSpPr>
        <p:spPr>
          <a:xfrm>
            <a:off x="6492240" y="2875817"/>
            <a:ext cx="155448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Workout_frequency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26" name="Google Shape;226;p21"/>
          <p:cNvSpPr txBox="1"/>
          <p:nvPr/>
        </p:nvSpPr>
        <p:spPr>
          <a:xfrm>
            <a:off x="10945368" y="2905877"/>
            <a:ext cx="667512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5F3F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+0.</a:t>
            </a:r>
            <a:r>
              <a:rPr lang="en-US" sz="1200" b="1">
                <a:solidFill>
                  <a:srgbClr val="F5F3F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58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27" name="Google Shape;227;p21"/>
          <p:cNvSpPr txBox="1"/>
          <p:nvPr/>
        </p:nvSpPr>
        <p:spPr>
          <a:xfrm>
            <a:off x="6492240" y="3374395"/>
            <a:ext cx="155448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Average_BPM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28" name="Google Shape;228;p21"/>
          <p:cNvSpPr txBox="1"/>
          <p:nvPr/>
        </p:nvSpPr>
        <p:spPr>
          <a:xfrm>
            <a:off x="10945368" y="3435066"/>
            <a:ext cx="667512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A9A2B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+0.</a:t>
            </a:r>
            <a:r>
              <a:rPr lang="en-US" sz="1200" b="1">
                <a:solidFill>
                  <a:srgbClr val="A9A2B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34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29" name="Google Shape;229;p21"/>
          <p:cNvSpPr txBox="1"/>
          <p:nvPr/>
        </p:nvSpPr>
        <p:spPr>
          <a:xfrm>
            <a:off x="6492240" y="3872974"/>
            <a:ext cx="155448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Fat_Percentage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10945368" y="3964255"/>
            <a:ext cx="667512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-0.</a:t>
            </a:r>
            <a:r>
              <a:rPr lang="en-US" sz="1200" b="1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60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31" name="Google Shape;231;p21"/>
          <p:cNvSpPr txBox="1"/>
          <p:nvPr/>
        </p:nvSpPr>
        <p:spPr>
          <a:xfrm>
            <a:off x="6675120" y="4645152"/>
            <a:ext cx="4800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Key Takeaway:</a:t>
            </a:r>
            <a:r>
              <a:rPr lang="en-US" sz="1125" b="0" i="0" u="none" strike="noStrike" cap="none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Workout duration is the primary linear predictor (r = 0.</a:t>
            </a:r>
            <a:r>
              <a:rPr lang="en-US" sz="1125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91</a:t>
            </a:r>
            <a:r>
              <a:rPr lang="en-US" sz="1125" b="0" i="0" u="none" strike="noStrike" cap="none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), followed by </a:t>
            </a:r>
            <a:r>
              <a:rPr lang="en-US" sz="1125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member experience level </a:t>
            </a:r>
            <a:r>
              <a:rPr lang="en-US" sz="1125" b="0" i="0" u="none" strike="noStrike" cap="none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</a:t>
            </a:r>
            <a:r>
              <a:rPr lang="en-US" sz="1125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Experience_level = 0.69</a:t>
            </a:r>
            <a:r>
              <a:rPr lang="en-US" sz="1125" b="0" i="0" u="none" strike="noStrike" cap="none">
                <a:solidFill>
                  <a:srgbClr val="D9D4E3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).</a:t>
            </a:r>
            <a:endParaRPr>
              <a:solidFill>
                <a:srgbClr val="D9D4E3"/>
              </a:solidFill>
            </a:endParaRPr>
          </a:p>
        </p:txBody>
      </p:sp>
      <p:grpSp>
        <p:nvGrpSpPr>
          <p:cNvPr id="2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232" name="Oval 231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233" name="Picture 232" descr="FaChartLin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  <p:pic>
        <p:nvPicPr>
          <p:cNvPr id="234" name="Picture 23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25880"/>
            <a:ext cx="5511901" cy="5120640"/>
          </a:xfrm>
          <a:prstGeom prst="rect">
            <a:avLst/>
          </a:prstGeom>
        </p:spPr>
      </p:pic>
      <p:sp>
        <p:nvSpPr>
          <p:cNvPr id="235" name="TextBox 234"/>
          <p:cNvSpPr txBox="1"/>
          <p:nvPr/>
        </p:nvSpPr>
        <p:spPr>
          <a:xfrm>
            <a:off x="6492240" y="141732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C084FC"/>
                </a:solidFill>
                <a:latin typeface="Plus Jakarta Sans"/>
              </a:rPr>
              <a:t>STRONGEST LINKS TO CALORIES BURNED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10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7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7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7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5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8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2" presetClass="entr" presetSubtype="8" fill="hold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8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nodeType="withEffect">
                                  <p:stCondLst>
                                    <p:cond delay="3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8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6" presetClass="emph" presetSubtype="0" repeatCount="2000" fill="hold" nodeType="withEffect">
                                  <p:stCondLst>
                                    <p:cond delay="3900"/>
                                  </p:stCondLst>
                                  <p:childTnLst>
                                    <p:animScale>
                                      <p:cBhvr>
                                        <p:cTn id="81" dur="25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9"/>
          <a:srcRect/>
          <a:stretch>
            <a:fillRect/>
          </a:stretch>
        </a:blip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"/>
          <p:cNvSpPr/>
          <p:nvPr/>
        </p:nvSpPr>
        <p:spPr>
          <a:xfrm>
            <a:off x="251800" y="1683075"/>
            <a:ext cx="4320300" cy="3124200"/>
          </a:xfrm>
          <a:prstGeom prst="roundRect">
            <a:avLst>
              <a:gd name="adj" fmla="val 547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2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Workout Type &amp; Gender Interactions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38" name="Google Shape;238;p22"/>
          <p:cNvSpPr txBox="1"/>
          <p:nvPr/>
        </p:nvSpPr>
        <p:spPr>
          <a:xfrm>
            <a:off x="152400" y="1524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D9D4E3"/>
              </a:solidFill>
            </a:endParaRPr>
          </a:p>
        </p:txBody>
      </p:sp>
      <p:pic>
        <p:nvPicPr>
          <p:cNvPr id="239" name="Google Shape;239;p22" title="Unknown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96049" y="1229651"/>
            <a:ext cx="7402801" cy="408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2"/>
          <p:cNvSpPr txBox="1"/>
          <p:nvPr/>
        </p:nvSpPr>
        <p:spPr>
          <a:xfrm>
            <a:off x="483650" y="1839209"/>
            <a:ext cx="4043100" cy="27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D9D4E3"/>
                </a:solidFill>
              </a:rPr>
              <a:t>KEY TAKEAWAYS:</a:t>
            </a:r>
            <a:r>
              <a:rPr lang="en-US" b="1">
                <a:solidFill>
                  <a:srgbClr val="D9D4E3"/>
                </a:solidFill>
              </a:rPr>
              <a:t> </a:t>
            </a:r>
            <a:endParaRPr b="1">
              <a:solidFill>
                <a:srgbClr val="D9D4E3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D9D4E3"/>
              </a:buClr>
              <a:buSzPts val="1400"/>
              <a:buChar char="❖"/>
            </a:pPr>
            <a:r>
              <a:rPr lang="en-US">
                <a:solidFill>
                  <a:srgbClr val="D9D4E3"/>
                </a:solidFill>
              </a:rPr>
              <a:t>Category Ranking: HIIT (~980 kcal) and Strength (~970 kcal) yield the highest average caloric expenditure, followed by Cardio (~960 kcal) and Yoga (~900 kcal)</a:t>
            </a:r>
            <a:endParaRPr>
              <a:solidFill>
                <a:srgbClr val="D9D4E3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4E3"/>
              </a:buClr>
              <a:buSzPts val="1400"/>
              <a:buChar char="❖"/>
            </a:pPr>
            <a:r>
              <a:rPr lang="en-US">
                <a:solidFill>
                  <a:srgbClr val="D9D4E3"/>
                </a:solidFill>
              </a:rPr>
              <a:t>Gender Expenditure Differential: </a:t>
            </a:r>
            <a:endParaRPr>
              <a:solidFill>
                <a:srgbClr val="D9D4E3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D4E3"/>
              </a:buClr>
              <a:buSzPts val="1400"/>
              <a:buChar char="➢"/>
            </a:pPr>
            <a:r>
              <a:rPr lang="en-US">
                <a:solidFill>
                  <a:srgbClr val="D9D4E3"/>
                </a:solidFill>
              </a:rPr>
              <a:t>Male records average higher caloric output across all categories (~100–120 kcal delta)</a:t>
            </a:r>
            <a:endParaRPr>
              <a:solidFill>
                <a:srgbClr val="D9D4E3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241" name="Oval 240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242" name="Picture 241" descr="FaRunning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3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0" presetClass="path" presetSubtype="0" repeatCount="800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 0 L 0 -0.012 E" pathEditMode="relative" ptsTypes="AA">
                                      <p:cBhvr>
                                        <p:cTn id="17" dur="220" autoRev="1" fill="hold"/>
                                        <p:tgtEl>
                                          <p:spTgt spid="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10"/>
          <a:srcRect/>
          <a:stretch>
            <a:fillRect/>
          </a:stretch>
        </a:blip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3"/>
          <p:cNvSpPr/>
          <p:nvPr/>
        </p:nvSpPr>
        <p:spPr>
          <a:xfrm>
            <a:off x="7127325" y="1942375"/>
            <a:ext cx="4882800" cy="4567500"/>
          </a:xfrm>
          <a:prstGeom prst="roundRect">
            <a:avLst>
              <a:gd name="adj" fmla="val 4597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Workout Type </a:t>
            </a:r>
            <a:r>
              <a:rPr lang="en-US" sz="2000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Vs (Session_Duration, Calories_Burned, Avg_BPM, Fat_Percentage)</a:t>
            </a:r>
            <a:endParaRPr sz="1000">
              <a:solidFill>
                <a:srgbClr val="D9D4E3"/>
              </a:solidFill>
            </a:endParaRPr>
          </a:p>
        </p:txBody>
      </p:sp>
      <p:sp>
        <p:nvSpPr>
          <p:cNvPr id="247" name="Google Shape;247;p23"/>
          <p:cNvSpPr txBox="1"/>
          <p:nvPr/>
        </p:nvSpPr>
        <p:spPr>
          <a:xfrm>
            <a:off x="7362700" y="2195725"/>
            <a:ext cx="4534800" cy="36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D9D4E3"/>
                </a:solidFill>
              </a:rPr>
              <a:t>Scatter Matrix: Duration, Calories, Heart Rate &amp; Fat Percentage </a:t>
            </a:r>
            <a:endParaRPr sz="1500" b="1">
              <a:solidFill>
                <a:srgbClr val="D9D4E3"/>
              </a:solidFill>
            </a:endParaRPr>
          </a:p>
          <a:p>
            <a:pPr marL="457200" marR="0" lvl="0" indent="-3175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D9D4E3"/>
              </a:buClr>
              <a:buSzPts val="1400"/>
              <a:buChar char="➢"/>
            </a:pPr>
            <a:r>
              <a:rPr lang="en-US" sz="1200">
                <a:solidFill>
                  <a:srgbClr val="D9D4E3"/>
                </a:solidFill>
              </a:rPr>
              <a:t>PRIMARY PREDICTOR ALIGNMENT: Session duration and calories burned form a direct, deterministic linear path across all four workout types</a:t>
            </a:r>
            <a:endParaRPr sz="1200">
              <a:solidFill>
                <a:srgbClr val="D9D4E3"/>
              </a:solidFill>
            </a:endParaRPr>
          </a:p>
          <a:p>
            <a:pPr marL="457200" marR="0" lvl="0" indent="-3175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D9D4E3"/>
              </a:buClr>
              <a:buSzPts val="1400"/>
              <a:buChar char="➢"/>
            </a:pPr>
            <a:r>
              <a:rPr lang="en-US" sz="1200">
                <a:solidFill>
                  <a:srgbClr val="D9D4E3"/>
                </a:solidFill>
              </a:rPr>
              <a:t>TWO DISTINCT TRAINING SUBGROUPS: Data separates cleanly into two discrete rectangular clusters when pairing session length against body fat percentage (sessions &gt; 1.5 hrs strictly map to body fat &lt; 20%)</a:t>
            </a:r>
            <a:endParaRPr sz="1200">
              <a:solidFill>
                <a:srgbClr val="D9D4E3"/>
              </a:solidFill>
            </a:endParaRPr>
          </a:p>
          <a:p>
            <a:pPr marL="457200" marR="0" lvl="0" indent="-3175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D9D4E3"/>
              </a:buClr>
              <a:buSzPts val="1400"/>
              <a:buChar char="➢"/>
            </a:pPr>
            <a:r>
              <a:rPr lang="en-US" sz="1200">
                <a:solidFill>
                  <a:srgbClr val="D9D4E3"/>
                </a:solidFill>
              </a:rPr>
              <a:t>EQUAL INTENSITY SPREAD: Average heart rate shows uniform distribution (120–170 BPM) without distinct separation between yoga, cardio, HIIT, or strength training</a:t>
            </a:r>
            <a:endParaRPr>
              <a:solidFill>
                <a:srgbClr val="D9D4E3"/>
              </a:solidFill>
            </a:endParaRPr>
          </a:p>
        </p:txBody>
      </p:sp>
      <p:pic>
        <p:nvPicPr>
          <p:cNvPr id="248" name="Google Shape;248;p23" title="newplo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800" y="1160100"/>
            <a:ext cx="6547950" cy="575824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249" name="Oval 248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250" name="Picture 249" descr="FaStopwatch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2" presetClass="emph" presetSubtype="0" repeatCount="800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Rot by="900000">
                                      <p:cBhvr>
                                        <p:cTn id="17" dur="150" autoRev="1" fill="hold"/>
                                        <p:tgtEl>
                                          <p:spTgt spid="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11"/>
          <a:srcRect/>
          <a:stretch>
            <a:fillRect/>
          </a:stretch>
        </a:blip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4"/>
          <p:cNvSpPr/>
          <p:nvPr/>
        </p:nvSpPr>
        <p:spPr>
          <a:xfrm>
            <a:off x="6185300" y="1412225"/>
            <a:ext cx="5079300" cy="4047000"/>
          </a:xfrm>
          <a:prstGeom prst="roundRect">
            <a:avLst>
              <a:gd name="adj" fmla="val 340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4"/>
          <p:cNvSpPr/>
          <p:nvPr/>
        </p:nvSpPr>
        <p:spPr>
          <a:xfrm>
            <a:off x="551350" y="1412225"/>
            <a:ext cx="5114700" cy="4047000"/>
          </a:xfrm>
          <a:prstGeom prst="roundRect">
            <a:avLst>
              <a:gd name="adj" fmla="val 3409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4"/>
          <p:cNvSpPr/>
          <p:nvPr/>
        </p:nvSpPr>
        <p:spPr>
          <a:xfrm>
            <a:off x="6448345" y="1820388"/>
            <a:ext cx="128400" cy="137700"/>
          </a:xfrm>
          <a:prstGeom prst="roundRect">
            <a:avLst>
              <a:gd name="adj" fmla="val 50000"/>
            </a:avLst>
          </a:prstGeom>
          <a:solidFill>
            <a:srgbClr val="7E22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4"/>
          <p:cNvSpPr/>
          <p:nvPr/>
        </p:nvSpPr>
        <p:spPr>
          <a:xfrm>
            <a:off x="6448337" y="2619489"/>
            <a:ext cx="4554000" cy="540300"/>
          </a:xfrm>
          <a:prstGeom prst="roundRect">
            <a:avLst>
              <a:gd name="adj" fmla="val 17021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4"/>
          <p:cNvSpPr/>
          <p:nvPr/>
        </p:nvSpPr>
        <p:spPr>
          <a:xfrm>
            <a:off x="6448337" y="3274861"/>
            <a:ext cx="4554000" cy="540300"/>
          </a:xfrm>
          <a:prstGeom prst="roundRect">
            <a:avLst>
              <a:gd name="adj" fmla="val 17021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4"/>
          <p:cNvSpPr/>
          <p:nvPr/>
        </p:nvSpPr>
        <p:spPr>
          <a:xfrm>
            <a:off x="6448337" y="3930233"/>
            <a:ext cx="4554000" cy="540300"/>
          </a:xfrm>
          <a:prstGeom prst="roundRect">
            <a:avLst>
              <a:gd name="adj" fmla="val 17021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4"/>
          <p:cNvSpPr/>
          <p:nvPr/>
        </p:nvSpPr>
        <p:spPr>
          <a:xfrm>
            <a:off x="6448337" y="4585604"/>
            <a:ext cx="4554000" cy="540300"/>
          </a:xfrm>
          <a:prstGeom prst="roundRect">
            <a:avLst>
              <a:gd name="adj" fmla="val 17021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4"/>
          <p:cNvSpPr/>
          <p:nvPr/>
        </p:nvSpPr>
        <p:spPr>
          <a:xfrm>
            <a:off x="825396" y="1820396"/>
            <a:ext cx="113400" cy="13770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4"/>
          <p:cNvSpPr/>
          <p:nvPr/>
        </p:nvSpPr>
        <p:spPr>
          <a:xfrm>
            <a:off x="825396" y="2619489"/>
            <a:ext cx="4744500" cy="540300"/>
          </a:xfrm>
          <a:prstGeom prst="roundRect">
            <a:avLst>
              <a:gd name="adj" fmla="val 17021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4"/>
          <p:cNvSpPr/>
          <p:nvPr/>
        </p:nvSpPr>
        <p:spPr>
          <a:xfrm>
            <a:off x="825396" y="3274861"/>
            <a:ext cx="4744500" cy="540300"/>
          </a:xfrm>
          <a:prstGeom prst="roundRect">
            <a:avLst>
              <a:gd name="adj" fmla="val 17021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4"/>
          <p:cNvSpPr/>
          <p:nvPr/>
        </p:nvSpPr>
        <p:spPr>
          <a:xfrm>
            <a:off x="825396" y="3930233"/>
            <a:ext cx="4744500" cy="540300"/>
          </a:xfrm>
          <a:prstGeom prst="roundRect">
            <a:avLst>
              <a:gd name="adj" fmla="val 17021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4"/>
          <p:cNvSpPr/>
          <p:nvPr/>
        </p:nvSpPr>
        <p:spPr>
          <a:xfrm>
            <a:off x="825396" y="4585604"/>
            <a:ext cx="4744500" cy="540300"/>
          </a:xfrm>
          <a:prstGeom prst="roundRect">
            <a:avLst>
              <a:gd name="adj" fmla="val 17021"/>
            </a:avLst>
          </a:prstGeom>
          <a:solidFill>
            <a:srgbClr val="17141F"/>
          </a:solidFill>
          <a:ln w="9525" cap="flat" cmpd="sng">
            <a:solidFill>
              <a:srgbClr val="332D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D9D4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4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Equal-</a:t>
            </a:r>
            <a:r>
              <a:rPr lang="en-US" sz="2400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Width and Frequency</a:t>
            </a:r>
            <a:r>
              <a:rPr lang="en-US" sz="24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Binning for Calories Burned 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66" name="Google Shape;266;p24"/>
          <p:cNvSpPr txBox="1"/>
          <p:nvPr/>
        </p:nvSpPr>
        <p:spPr>
          <a:xfrm>
            <a:off x="6448337" y="2217068"/>
            <a:ext cx="56910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D9D4E3"/>
              </a:buClr>
              <a:buFont typeface="Arial"/>
              <a:buNone/>
            </a:pPr>
            <a:r>
              <a:rPr lang="en-US" sz="1125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Divides into 4 quartiles with equal record counts.</a:t>
            </a:r>
            <a:endParaRPr>
              <a:solidFill>
                <a:srgbClr val="D9D4E3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25">
              <a:solidFill>
                <a:srgbClr val="A9A2B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67" name="Google Shape;267;p24"/>
          <p:cNvSpPr txBox="1"/>
          <p:nvPr/>
        </p:nvSpPr>
        <p:spPr>
          <a:xfrm>
            <a:off x="825396" y="2217068"/>
            <a:ext cx="56229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>
                <a:solidFill>
                  <a:srgbClr val="A9A2B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Divides in equal width.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68" name="Google Shape;268;p24"/>
          <p:cNvSpPr txBox="1"/>
          <p:nvPr/>
        </p:nvSpPr>
        <p:spPr>
          <a:xfrm>
            <a:off x="6666023" y="1745666"/>
            <a:ext cx="4183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D9D4E3"/>
              </a:buClr>
              <a:buFont typeface="Arial"/>
              <a:buNone/>
            </a:pPr>
            <a:r>
              <a:rPr lang="en-US" sz="1500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Equal-Frequency (pd.qcut) Calories Burned</a:t>
            </a:r>
            <a:endParaRPr>
              <a:solidFill>
                <a:srgbClr val="D9D4E3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>
              <a:solidFill>
                <a:srgbClr val="F5F3F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269" name="Google Shape;269;p24"/>
          <p:cNvSpPr txBox="1"/>
          <p:nvPr/>
        </p:nvSpPr>
        <p:spPr>
          <a:xfrm>
            <a:off x="1052201" y="1762605"/>
            <a:ext cx="47031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Equal-</a:t>
            </a:r>
            <a:r>
              <a:rPr lang="en-US" sz="1500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Width</a:t>
            </a:r>
            <a:r>
              <a:rPr lang="en-US" sz="15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(pd.cut) </a:t>
            </a:r>
            <a:r>
              <a:rPr lang="en-US" sz="1500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Calories</a:t>
            </a:r>
            <a:r>
              <a:rPr lang="en-US" sz="1500" b="1" i="0" u="none" strike="noStrike" cap="none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r>
              <a:rPr lang="en-US" sz="1500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Burned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70" name="Google Shape;270;p24"/>
          <p:cNvSpPr txBox="1"/>
          <p:nvPr/>
        </p:nvSpPr>
        <p:spPr>
          <a:xfrm>
            <a:off x="6566250" y="2768960"/>
            <a:ext cx="13971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D9D4E3"/>
              </a:buClr>
              <a:buFont typeface="Arial"/>
              <a:buNone/>
            </a:pP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Q1: 302 - 720</a:t>
            </a:r>
            <a:endParaRPr>
              <a:solidFill>
                <a:srgbClr val="D9D4E3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D9D4E3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71" name="Google Shape;271;p24"/>
          <p:cNvSpPr txBox="1"/>
          <p:nvPr/>
        </p:nvSpPr>
        <p:spPr>
          <a:xfrm>
            <a:off x="9069981" y="2768948"/>
            <a:ext cx="13659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245 </a:t>
            </a: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members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72" name="Google Shape;272;p24"/>
          <p:cNvSpPr txBox="1"/>
          <p:nvPr/>
        </p:nvSpPr>
        <p:spPr>
          <a:xfrm>
            <a:off x="6566250" y="3424332"/>
            <a:ext cx="1614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D9D4E3"/>
              </a:buClr>
              <a:buFont typeface="Arial"/>
              <a:buNone/>
            </a:pP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Q2: 720 - 893</a:t>
            </a:r>
            <a:endParaRPr>
              <a:solidFill>
                <a:srgbClr val="D9D4E3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D9D4E3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73" name="Google Shape;273;p24"/>
          <p:cNvSpPr txBox="1"/>
          <p:nvPr/>
        </p:nvSpPr>
        <p:spPr>
          <a:xfrm>
            <a:off x="9111350" y="3438316"/>
            <a:ext cx="132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242</a:t>
            </a: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members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74" name="Google Shape;274;p24"/>
          <p:cNvSpPr txBox="1"/>
          <p:nvPr/>
        </p:nvSpPr>
        <p:spPr>
          <a:xfrm>
            <a:off x="6566250" y="4079703"/>
            <a:ext cx="1687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D9D4E3"/>
              </a:buClr>
              <a:buFont typeface="Arial"/>
              <a:buNone/>
            </a:pP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Q3: 893 - 1076</a:t>
            </a:r>
            <a:endParaRPr>
              <a:solidFill>
                <a:srgbClr val="D9D4E3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D9D4E3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75" name="Google Shape;275;p24"/>
          <p:cNvSpPr txBox="1"/>
          <p:nvPr/>
        </p:nvSpPr>
        <p:spPr>
          <a:xfrm>
            <a:off x="9111350" y="4093679"/>
            <a:ext cx="132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r>
              <a:rPr lang="en-US" sz="1200" b="1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43 </a:t>
            </a: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members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76" name="Google Shape;276;p24"/>
          <p:cNvSpPr txBox="1"/>
          <p:nvPr/>
        </p:nvSpPr>
        <p:spPr>
          <a:xfrm>
            <a:off x="6566250" y="4735075"/>
            <a:ext cx="1687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D9D4E3"/>
              </a:buClr>
              <a:buFont typeface="Arial"/>
              <a:buNone/>
            </a:pP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Q4: 1076 - 1783</a:t>
            </a:r>
            <a:endParaRPr>
              <a:solidFill>
                <a:srgbClr val="D9D4E3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D9D4E3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</p:txBody>
      </p:sp>
      <p:sp>
        <p:nvSpPr>
          <p:cNvPr id="277" name="Google Shape;277;p24"/>
          <p:cNvSpPr txBox="1"/>
          <p:nvPr/>
        </p:nvSpPr>
        <p:spPr>
          <a:xfrm>
            <a:off x="9111054" y="4735085"/>
            <a:ext cx="132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243</a:t>
            </a: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members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78" name="Google Shape;278;p24"/>
          <p:cNvSpPr txBox="1"/>
          <p:nvPr/>
        </p:nvSpPr>
        <p:spPr>
          <a:xfrm>
            <a:off x="948244" y="2768960"/>
            <a:ext cx="11529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</a:t>
            </a:r>
            <a:r>
              <a:rPr lang="en-US" sz="1050" b="0" i="0" u="none" strike="noStrike" cap="none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1: </a:t>
            </a: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301 - 673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79" name="Google Shape;279;p24"/>
          <p:cNvSpPr txBox="1"/>
          <p:nvPr/>
        </p:nvSpPr>
        <p:spPr>
          <a:xfrm>
            <a:off x="9111050" y="2736274"/>
            <a:ext cx="2153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D9D4E3"/>
              </a:solidFill>
            </a:endParaRPr>
          </a:p>
        </p:txBody>
      </p:sp>
      <p:sp>
        <p:nvSpPr>
          <p:cNvPr id="280" name="Google Shape;280;p24"/>
          <p:cNvSpPr txBox="1"/>
          <p:nvPr/>
        </p:nvSpPr>
        <p:spPr>
          <a:xfrm>
            <a:off x="948244" y="3424332"/>
            <a:ext cx="12288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</a:t>
            </a:r>
            <a:r>
              <a:rPr lang="en-US" sz="1050" b="0" i="0" u="none" strike="noStrike" cap="none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2: </a:t>
            </a: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673 - 1043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81" name="Google Shape;281;p24"/>
          <p:cNvSpPr txBox="1"/>
          <p:nvPr/>
        </p:nvSpPr>
        <p:spPr>
          <a:xfrm>
            <a:off x="948244" y="4079703"/>
            <a:ext cx="1304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</a:t>
            </a:r>
            <a:r>
              <a:rPr lang="en-US" sz="1050" b="0" i="0" u="none" strike="noStrike" cap="none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3: </a:t>
            </a: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1043 - 1413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82" name="Google Shape;282;p24"/>
          <p:cNvSpPr txBox="1"/>
          <p:nvPr/>
        </p:nvSpPr>
        <p:spPr>
          <a:xfrm>
            <a:off x="9035638" y="4079707"/>
            <a:ext cx="2229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D9D4E3"/>
              </a:solidFill>
            </a:endParaRPr>
          </a:p>
        </p:txBody>
      </p:sp>
      <p:sp>
        <p:nvSpPr>
          <p:cNvPr id="283" name="Google Shape;283;p24"/>
          <p:cNvSpPr txBox="1"/>
          <p:nvPr/>
        </p:nvSpPr>
        <p:spPr>
          <a:xfrm>
            <a:off x="948244" y="4735081"/>
            <a:ext cx="15183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</a:t>
            </a:r>
            <a:r>
              <a:rPr lang="en-US" sz="1050" b="0" i="0" u="none" strike="noStrike" cap="none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4: </a:t>
            </a:r>
            <a:r>
              <a:rPr lang="en-US" sz="1050">
                <a:solidFill>
                  <a:srgbClr val="D9D4E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1413 - 1783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84" name="Google Shape;284;p24"/>
          <p:cNvSpPr txBox="1"/>
          <p:nvPr/>
        </p:nvSpPr>
        <p:spPr>
          <a:xfrm>
            <a:off x="9035638" y="4735086"/>
            <a:ext cx="2229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D9D4E3"/>
              </a:solidFill>
            </a:endParaRPr>
          </a:p>
        </p:txBody>
      </p:sp>
      <p:sp>
        <p:nvSpPr>
          <p:cNvPr id="285" name="Google Shape;285;p24"/>
          <p:cNvSpPr txBox="1"/>
          <p:nvPr/>
        </p:nvSpPr>
        <p:spPr>
          <a:xfrm>
            <a:off x="3359380" y="2781201"/>
            <a:ext cx="1775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188 </a:t>
            </a: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members</a:t>
            </a:r>
            <a:endParaRPr>
              <a:solidFill>
                <a:srgbClr val="C084FC"/>
              </a:solidFill>
            </a:endParaRPr>
          </a:p>
        </p:txBody>
      </p:sp>
      <p:sp>
        <p:nvSpPr>
          <p:cNvPr id="286" name="Google Shape;286;p24"/>
          <p:cNvSpPr txBox="1"/>
          <p:nvPr/>
        </p:nvSpPr>
        <p:spPr>
          <a:xfrm>
            <a:off x="3353652" y="3472247"/>
            <a:ext cx="1304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506</a:t>
            </a: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members</a:t>
            </a:r>
            <a:endParaRPr>
              <a:solidFill>
                <a:srgbClr val="C084FC"/>
              </a:solidFill>
            </a:endParaRPr>
          </a:p>
        </p:txBody>
      </p:sp>
      <p:sp>
        <p:nvSpPr>
          <p:cNvPr id="287" name="Google Shape;287;p24"/>
          <p:cNvSpPr txBox="1"/>
          <p:nvPr/>
        </p:nvSpPr>
        <p:spPr>
          <a:xfrm>
            <a:off x="3353652" y="4175546"/>
            <a:ext cx="1304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2</a:t>
            </a:r>
            <a:r>
              <a:rPr lang="en-US" sz="1200" b="1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40 </a:t>
            </a: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members</a:t>
            </a:r>
            <a:endParaRPr>
              <a:solidFill>
                <a:srgbClr val="C084FC"/>
              </a:solidFill>
            </a:endParaRPr>
          </a:p>
        </p:txBody>
      </p:sp>
      <p:sp>
        <p:nvSpPr>
          <p:cNvPr id="288" name="Google Shape;288;p24"/>
          <p:cNvSpPr txBox="1"/>
          <p:nvPr/>
        </p:nvSpPr>
        <p:spPr>
          <a:xfrm>
            <a:off x="3353004" y="4759590"/>
            <a:ext cx="13044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39</a:t>
            </a:r>
            <a:r>
              <a:rPr lang="en-US" sz="1200" b="1" i="0" u="none" strike="noStrike" cap="none">
                <a:solidFill>
                  <a:srgbClr val="C084FC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members</a:t>
            </a:r>
            <a:endParaRPr>
              <a:solidFill>
                <a:srgbClr val="C084FC"/>
              </a:solidFill>
            </a:endParaRPr>
          </a:p>
        </p:txBody>
      </p:sp>
      <p:sp>
        <p:nvSpPr>
          <p:cNvPr id="289" name="Google Shape;289;p24"/>
          <p:cNvSpPr txBox="1"/>
          <p:nvPr/>
        </p:nvSpPr>
        <p:spPr>
          <a:xfrm>
            <a:off x="601900" y="5584735"/>
            <a:ext cx="5079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D9D4E3"/>
                </a:solidFill>
              </a:rPr>
              <a:t>Right-skewed (positively skewed) Severe class size imbalance</a:t>
            </a:r>
            <a:endParaRPr b="1">
              <a:solidFill>
                <a:srgbClr val="D9D4E3"/>
              </a:solidFill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6296975" y="5583275"/>
            <a:ext cx="5876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D9D4E3"/>
                </a:solidFill>
              </a:rPr>
              <a:t>Equal class size (Low, Moderate, High, Very High)</a:t>
            </a:r>
            <a:endParaRPr b="1">
              <a:solidFill>
                <a:srgbClr val="D9D4E3"/>
              </a:solidFill>
            </a:endParaRPr>
          </a:p>
        </p:txBody>
      </p:sp>
      <p:grpSp>
        <p:nvGrpSpPr>
          <p:cNvPr id="2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291" name="Oval 290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292" name="Picture 291" descr="FaLayerGroup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6" presetClass="emph" presetSubtype="0" repeatCount="2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Scale>
                                      <p:cBhvr>
                                        <p:cTn id="119" dur="25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12"/>
          <a:srcRect/>
          <a:stretch>
            <a:fillRect/>
          </a:stretch>
        </a:blip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5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Supervised Learning Roadmap</a:t>
            </a:r>
            <a:endParaRPr>
              <a:solidFill>
                <a:srgbClr val="D9D4E3"/>
              </a:solidFill>
            </a:endParaRPr>
          </a:p>
        </p:txBody>
      </p:sp>
      <p:sp>
        <p:nvSpPr>
          <p:cNvPr id="296" name="Google Shape;296;p25"/>
          <p:cNvSpPr txBox="1"/>
          <p:nvPr/>
        </p:nvSpPr>
        <p:spPr>
          <a:xfrm>
            <a:off x="612648" y="1508950"/>
            <a:ext cx="8001000" cy="451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D9D4E3"/>
              </a:buClr>
              <a:buSzPts val="1300"/>
              <a:buAutoNum type="arabicPeriod"/>
            </a:pPr>
            <a:r>
              <a:rPr lang="en-US" sz="1300" b="1">
                <a:solidFill>
                  <a:srgbClr val="D9D4E3"/>
                </a:solidFill>
              </a:rPr>
              <a:t>REGRESSION MODELING (Predicting Exact Calories)</a:t>
            </a:r>
            <a:endParaRPr sz="1300" b="1">
              <a:solidFill>
                <a:srgbClr val="D9D4E3"/>
              </a:solidFill>
            </a:endParaRPr>
          </a:p>
          <a:p>
            <a:pPr marL="914400" lvl="0" indent="-31115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D9D4E3"/>
              </a:buClr>
              <a:buSzPts val="1300"/>
              <a:buChar char="❏"/>
            </a:pPr>
            <a:r>
              <a:rPr lang="en-US" sz="1300">
                <a:solidFill>
                  <a:srgbClr val="D9D4E3"/>
                </a:solidFill>
              </a:rPr>
              <a:t>Goal: Predict the exact number of calories a member burns during their workout session.</a:t>
            </a:r>
            <a:endParaRPr sz="1300">
              <a:solidFill>
                <a:srgbClr val="D9D4E3"/>
              </a:solidFill>
            </a:endParaRPr>
          </a:p>
          <a:p>
            <a:pPr marL="914400" lvl="0" indent="-31115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D9D4E3"/>
              </a:buClr>
              <a:buSzPts val="1300"/>
              <a:buChar char="❏"/>
            </a:pPr>
            <a:r>
              <a:rPr lang="en-US" sz="1300">
                <a:solidFill>
                  <a:srgbClr val="D9D4E3"/>
                </a:solidFill>
              </a:rPr>
              <a:t>Simple Baseline: Linear Regression (tests how much calorie burn increases simply as workout duration gets longer).</a:t>
            </a:r>
            <a:endParaRPr sz="1300">
              <a:solidFill>
                <a:srgbClr val="D9D4E3"/>
              </a:solidFill>
            </a:endParaRPr>
          </a:p>
          <a:p>
            <a:pPr marL="914400" lvl="0" indent="-31115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D9D4E3"/>
              </a:buClr>
              <a:buSzPts val="1300"/>
              <a:buChar char="❏"/>
            </a:pPr>
            <a:r>
              <a:rPr lang="en-US" sz="1300">
                <a:solidFill>
                  <a:srgbClr val="D9D4E3"/>
                </a:solidFill>
              </a:rPr>
              <a:t>Advanced Models: Decision Trees, k-NN, and Neural Networks (capture complex patterns when duration, heart rate, and body fat work together).</a:t>
            </a:r>
            <a:endParaRPr sz="1300">
              <a:solidFill>
                <a:srgbClr val="D9D4E3"/>
              </a:solidFill>
            </a:endParaRPr>
          </a:p>
          <a:p>
            <a:pPr marL="914400" lvl="0" indent="-31115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D9D4E3"/>
              </a:buClr>
              <a:buSzPts val="1300"/>
              <a:buChar char="❏"/>
            </a:pPr>
            <a:r>
              <a:rPr lang="en-US" sz="1300">
                <a:solidFill>
                  <a:srgbClr val="D9D4E3"/>
                </a:solidFill>
              </a:rPr>
              <a:t>How We Measure Success: Look at the average prediction error (how many calories off our model is on average).</a:t>
            </a:r>
            <a:endParaRPr sz="1300">
              <a:solidFill>
                <a:srgbClr val="D9D4E3"/>
              </a:solidFill>
            </a:endParaRPr>
          </a:p>
          <a:p>
            <a:pPr marL="457200" lvl="0" indent="-311150" algn="l" rtl="0">
              <a:lnSpc>
                <a:spcPct val="110000"/>
              </a:lnSpc>
              <a:spcBef>
                <a:spcPts val="1000"/>
              </a:spcBef>
              <a:spcAft>
                <a:spcPts val="500"/>
              </a:spcAft>
              <a:buClr>
                <a:srgbClr val="D9D4E3"/>
              </a:buClr>
              <a:buSzPts val="1300"/>
              <a:buAutoNum type="arabicPeriod"/>
            </a:pPr>
            <a:r>
              <a:rPr lang="en-US" sz="1300" b="1">
                <a:solidFill>
                  <a:srgbClr val="D9D4E3"/>
                </a:solidFill>
              </a:rPr>
              <a:t>CLASSIFICATION MODELING (Predicting Workout Intensity Tier)</a:t>
            </a:r>
            <a:endParaRPr sz="1300" b="1">
              <a:solidFill>
                <a:srgbClr val="D9D4E3"/>
              </a:solidFill>
            </a:endParaRPr>
          </a:p>
          <a:p>
            <a:pPr marL="914400" lvl="0" indent="-31115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D9D4E3"/>
              </a:buClr>
              <a:buSzPts val="1300"/>
              <a:buChar char="❏"/>
            </a:pPr>
            <a:r>
              <a:rPr lang="en-US" sz="1300">
                <a:solidFill>
                  <a:srgbClr val="D9D4E3"/>
                </a:solidFill>
              </a:rPr>
              <a:t>Goal: Sort each workout into 4 clear levels: Low, Moderate, High, or Very High calorie burn.</a:t>
            </a:r>
            <a:endParaRPr sz="1300">
              <a:solidFill>
                <a:srgbClr val="D9D4E3"/>
              </a:solidFill>
            </a:endParaRPr>
          </a:p>
          <a:p>
            <a:pPr marL="914400" lvl="0" indent="-31115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D9D4E3"/>
              </a:buClr>
              <a:buSzPts val="1300"/>
              <a:buChar char="❏"/>
            </a:pPr>
            <a:r>
              <a:rPr lang="en-US" sz="1300">
                <a:solidFill>
                  <a:srgbClr val="D9D4E3"/>
                </a:solidFill>
              </a:rPr>
              <a:t>Models to Test: Decision Trees (if/then rules), Naïve Bayes (probability), and k-Nearest Neighbors (grouping similar workouts).</a:t>
            </a:r>
            <a:endParaRPr sz="1300">
              <a:solidFill>
                <a:srgbClr val="D9D4E3"/>
              </a:solidFill>
            </a:endParaRPr>
          </a:p>
          <a:p>
            <a:pPr marL="914400" lvl="0" indent="-311150" algn="l" rtl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D9D4E3"/>
              </a:buClr>
              <a:buSzPts val="1300"/>
              <a:buChar char="❏"/>
            </a:pPr>
            <a:r>
              <a:rPr lang="en-US" sz="1300">
                <a:solidFill>
                  <a:srgbClr val="D9D4E3"/>
                </a:solidFill>
              </a:rPr>
              <a:t>How We Measure Success: Accuracy score and a confusion matrix (checking how often the model confuses adjacent tiers, like "Moderate" vs. "High").</a:t>
            </a:r>
            <a:endParaRPr sz="1200">
              <a:solidFill>
                <a:srgbClr val="D9D4E3"/>
              </a:solidFill>
            </a:endParaRPr>
          </a:p>
        </p:txBody>
      </p:sp>
      <p:grpSp>
        <p:nvGrpSpPr>
          <p:cNvPr id="3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297" name="Oval 296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298" name="Picture 297" descr="FaDumbbell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  <p:sp>
        <p:nvSpPr>
          <p:cNvPr id="299" name="Rounded Rectangle 298"/>
          <p:cNvSpPr/>
          <p:nvPr/>
        </p:nvSpPr>
        <p:spPr>
          <a:xfrm>
            <a:off x="8915400" y="1508760"/>
            <a:ext cx="2697480" cy="4526280"/>
          </a:xfrm>
          <a:prstGeom prst="roundRect">
            <a:avLst>
              <a:gd name="adj" fmla="val 5000"/>
            </a:avLst>
          </a:prstGeom>
          <a:solidFill>
            <a:srgbClr val="2E1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grpSp>
        <p:nvGrpSpPr>
          <p:cNvPr id="2" name="Group 1"/>
          <p:cNvGrpSpPr/>
          <p:nvPr/>
        </p:nvGrpSpPr>
        <p:grpSpPr>
          <a:xfrm>
            <a:off x="9189720" y="1783080"/>
            <a:ext cx="685800" cy="685800"/>
            <a:chOff x="9189720" y="1783080"/>
            <a:chExt cx="685800" cy="685800"/>
          </a:xfrm>
        </p:grpSpPr>
        <p:sp>
          <p:nvSpPr>
            <p:cNvPr id="300" name="Oval 299"/>
            <p:cNvSpPr/>
            <p:nvPr/>
          </p:nvSpPr>
          <p:spPr>
            <a:xfrm>
              <a:off x="9189720" y="1783080"/>
              <a:ext cx="685800" cy="685800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301" name="Picture 300" descr="FaDumbbell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54312" y="1947672"/>
              <a:ext cx="356616" cy="356616"/>
            </a:xfrm>
            <a:prstGeom prst="rect">
              <a:avLst/>
            </a:prstGeom>
          </p:spPr>
        </p:pic>
      </p:grpSp>
      <p:sp>
        <p:nvSpPr>
          <p:cNvPr id="302" name="TextBox 301"/>
          <p:cNvSpPr txBox="1"/>
          <p:nvPr/>
        </p:nvSpPr>
        <p:spPr>
          <a:xfrm>
            <a:off x="9189720" y="26517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84FC"/>
                </a:solidFill>
                <a:latin typeface="Plus Jakarta Sans"/>
              </a:rPr>
              <a:t>TWO TRAINING TRACKS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9189720" y="306324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Plus Jakarta Sans"/>
              </a:rPr>
              <a:t>Regression</a:t>
            </a:r>
          </a:p>
          <a:p>
            <a:pPr algn="l"/>
            <a:r>
              <a:rPr sz="1200" b="0">
                <a:solidFill>
                  <a:srgbClr val="CFC8DC"/>
                </a:solidFill>
                <a:latin typeface="Plus Jakarta Sans"/>
              </a:rPr>
              <a:t>→ exact kcal per session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9189720" y="402336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Plus Jakarta Sans"/>
              </a:rPr>
              <a:t>Classification</a:t>
            </a:r>
          </a:p>
          <a:p>
            <a:pPr algn="l"/>
            <a:r>
              <a:rPr sz="1200" b="0">
                <a:solidFill>
                  <a:srgbClr val="CFC8DC"/>
                </a:solidFill>
                <a:latin typeface="Plus Jakarta Sans"/>
              </a:rPr>
              <a:t>→ Low · Moderate · High · Very High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9189720" y="498348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Plus Jakarta Sans"/>
              </a:rPr>
              <a:t>Key signal</a:t>
            </a:r>
          </a:p>
          <a:p>
            <a:pPr algn="l"/>
            <a:r>
              <a:rPr sz="1200" b="0">
                <a:solidFill>
                  <a:srgbClr val="CFC8DC"/>
                </a:solidFill>
                <a:latin typeface="Plus Jakarta Sans"/>
              </a:rPr>
              <a:t>Session_Duration (r = 0.91)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6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0" presetClass="path" presetSubtype="0" repeatCount="400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animMotion origin="layout" path="M 0 0 L 0 -0.03 E" pathEditMode="relative" ptsTypes="AA">
                                      <p:cBhvr>
                                        <p:cTn id="33" dur="450" autoRev="1" fill="hold"/>
                                        <p:tgtEl>
                                          <p:spTgt spid="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13"/>
          <a:srcRect/>
          <a:stretch>
            <a:fillRect/>
          </a:stretch>
        </a:blip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26"/>
          <p:cNvSpPr txBox="1"/>
          <p:nvPr/>
        </p:nvSpPr>
        <p:spPr>
          <a:xfrm>
            <a:off x="1234440" y="704088"/>
            <a:ext cx="10515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F5F3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Unsupervised Learning Roadmap</a:t>
            </a:r>
            <a:endParaRPr>
              <a:solidFill>
                <a:srgbClr val="D9D4E3"/>
              </a:solidFill>
            </a:endParaRPr>
          </a:p>
        </p:txBody>
      </p:sp>
      <p:grpSp>
        <p:nvGrpSpPr>
          <p:cNvPr id="6" name="Group 0"/>
          <p:cNvGrpSpPr/>
          <p:nvPr/>
        </p:nvGrpSpPr>
        <p:grpSpPr>
          <a:xfrm>
            <a:off x="612648" y="644652"/>
            <a:ext cx="512064" cy="512064"/>
            <a:chOff x="612648" y="644652"/>
            <a:chExt cx="512064" cy="512064"/>
          </a:xfrm>
        </p:grpSpPr>
        <p:sp>
          <p:nvSpPr>
            <p:cNvPr id="303" name="Oval 302"/>
            <p:cNvSpPr/>
            <p:nvPr/>
          </p:nvSpPr>
          <p:spPr>
            <a:xfrm>
              <a:off x="612648" y="644652"/>
              <a:ext cx="512064" cy="51206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304" name="Picture 303" descr="FaProjectDiagram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5543" y="767547"/>
              <a:ext cx="266273" cy="266273"/>
            </a:xfrm>
            <a:prstGeom prst="rect">
              <a:avLst/>
            </a:prstGeom>
          </p:spPr>
        </p:pic>
      </p:grpSp>
      <p:sp>
        <p:nvSpPr>
          <p:cNvPr id="305" name="Rounded Rectangle 304"/>
          <p:cNvSpPr/>
          <p:nvPr/>
        </p:nvSpPr>
        <p:spPr>
          <a:xfrm>
            <a:off x="612648" y="1371600"/>
            <a:ext cx="6263640" cy="498348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33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306" name="Oval 305"/>
          <p:cNvSpPr/>
          <p:nvPr/>
        </p:nvSpPr>
        <p:spPr>
          <a:xfrm>
            <a:off x="868680" y="1572768"/>
            <a:ext cx="411480" cy="411480"/>
          </a:xfrm>
          <a:prstGeom prst="ellipse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1417320" y="153619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F3FA"/>
                </a:solidFill>
                <a:latin typeface="Plus Jakarta Sans"/>
              </a:rPr>
              <a:t>ASSOCIATION ANALYSIS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417320" y="1810512"/>
            <a:ext cx="5303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A9A2BA"/>
                </a:solidFill>
                <a:latin typeface="Plus Jakarta Sans"/>
              </a:rPr>
              <a:t>Finding hidden workout habits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868680" y="2194560"/>
            <a:ext cx="5806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C084FC"/>
                </a:solidFill>
                <a:latin typeface="Plus Jakarta Sans"/>
              </a:rPr>
              <a:t>Goal: </a:t>
            </a:r>
            <a:r>
              <a:rPr sz="1150" b="0">
                <a:solidFill>
                  <a:srgbClr val="D9D4E3"/>
                </a:solidFill>
                <a:latin typeface="Plus Jakarta Sans"/>
              </a:rPr>
              <a:t>Discover co-occurring training habits across workout modalities, member experience levels, and physiological demands.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868680" y="2724912"/>
            <a:ext cx="5806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C084FC"/>
                </a:solidFill>
                <a:latin typeface="Plus Jakarta Sans"/>
              </a:rPr>
              <a:t>Algorithm: </a:t>
            </a:r>
            <a:r>
              <a:rPr sz="1150" b="0">
                <a:solidFill>
                  <a:srgbClr val="D9D4E3"/>
                </a:solidFill>
                <a:latin typeface="Plus Jakarta Sans"/>
              </a:rPr>
              <a:t>Apriori — finds frequent itemsets meeting minimum support, then extracts directional IF → THEN rules.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868680" y="3246120"/>
            <a:ext cx="5806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A9A2BA"/>
                </a:solidFill>
                <a:latin typeface="Plus Jakarta Sans"/>
              </a:rPr>
              <a:t>CANDIDATE ASSOCIATION RULES</a:t>
            </a:r>
          </a:p>
        </p:txBody>
      </p:sp>
      <p:sp>
        <p:nvSpPr>
          <p:cNvPr id="312" name="Rounded Rectangle 311"/>
          <p:cNvSpPr/>
          <p:nvPr/>
        </p:nvSpPr>
        <p:spPr>
          <a:xfrm>
            <a:off x="868680" y="3520440"/>
            <a:ext cx="5760720" cy="475488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313" name="TextBox 312"/>
          <p:cNvSpPr txBox="1"/>
          <p:nvPr/>
        </p:nvSpPr>
        <p:spPr>
          <a:xfrm>
            <a:off x="1024128" y="356616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F5F3FA"/>
                </a:solidFill>
                <a:latin typeface="Plus Jakarta Sans"/>
              </a:rPr>
              <a:t>Energy Expenditure</a:t>
            </a:r>
          </a:p>
          <a:p>
            <a:pPr algn="l"/>
            <a:r>
              <a:rPr sz="1000" b="0">
                <a:solidFill>
                  <a:srgbClr val="C4BDD3"/>
                </a:solidFill>
                <a:latin typeface="Plus Jakarta Sans"/>
              </a:rPr>
              <a:t>{Workout_Type = HIIT, Duration = High} → {Calories_Burned = Very_High}</a:t>
            </a:r>
          </a:p>
        </p:txBody>
      </p:sp>
      <p:sp>
        <p:nvSpPr>
          <p:cNvPr id="314" name="Rounded Rectangle 313"/>
          <p:cNvSpPr/>
          <p:nvPr/>
        </p:nvSpPr>
        <p:spPr>
          <a:xfrm>
            <a:off x="868680" y="4069080"/>
            <a:ext cx="5760720" cy="475488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315" name="TextBox 314"/>
          <p:cNvSpPr txBox="1"/>
          <p:nvPr/>
        </p:nvSpPr>
        <p:spPr>
          <a:xfrm>
            <a:off x="1024128" y="411480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F5F3FA"/>
                </a:solidFill>
                <a:latin typeface="Plus Jakarta Sans"/>
              </a:rPr>
              <a:t>Cardiovascular Strain</a:t>
            </a:r>
          </a:p>
          <a:p>
            <a:pPr algn="l"/>
            <a:r>
              <a:rPr sz="1000" b="0">
                <a:solidFill>
                  <a:srgbClr val="C4BDD3"/>
                </a:solidFill>
                <a:latin typeface="Plus Jakarta Sans"/>
              </a:rPr>
              <a:t>{Workout_Type = HIIT, Experience_Level = Advanced} → {Avg_BPM = High}</a:t>
            </a:r>
          </a:p>
        </p:txBody>
      </p:sp>
      <p:sp>
        <p:nvSpPr>
          <p:cNvPr id="316" name="Rounded Rectangle 315"/>
          <p:cNvSpPr/>
          <p:nvPr/>
        </p:nvSpPr>
        <p:spPr>
          <a:xfrm>
            <a:off x="868680" y="4617720"/>
            <a:ext cx="5760720" cy="475488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317" name="TextBox 316"/>
          <p:cNvSpPr txBox="1"/>
          <p:nvPr/>
        </p:nvSpPr>
        <p:spPr>
          <a:xfrm>
            <a:off x="1024128" y="466344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F5F3FA"/>
                </a:solidFill>
                <a:latin typeface="Plus Jakarta Sans"/>
              </a:rPr>
              <a:t>Member Progression</a:t>
            </a:r>
          </a:p>
          <a:p>
            <a:pPr algn="l"/>
            <a:r>
              <a:rPr sz="1000" b="0">
                <a:solidFill>
                  <a:srgbClr val="C4BDD3"/>
                </a:solidFill>
                <a:latin typeface="Plus Jakarta Sans"/>
              </a:rPr>
              <a:t>{Fat_Percentage = Low, Workout_Frequency = High} → {Experience_Level = Advanced}</a:t>
            </a:r>
          </a:p>
        </p:txBody>
      </p:sp>
      <p:sp>
        <p:nvSpPr>
          <p:cNvPr id="318" name="Rounded Rectangle 317"/>
          <p:cNvSpPr/>
          <p:nvPr/>
        </p:nvSpPr>
        <p:spPr>
          <a:xfrm>
            <a:off x="868680" y="5166360"/>
            <a:ext cx="5760720" cy="475488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319" name="TextBox 318"/>
          <p:cNvSpPr txBox="1"/>
          <p:nvPr/>
        </p:nvSpPr>
        <p:spPr>
          <a:xfrm>
            <a:off x="1024128" y="521208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F5F3FA"/>
                </a:solidFill>
                <a:latin typeface="Plus Jakarta Sans"/>
              </a:rPr>
              <a:t>Hydration Demands</a:t>
            </a:r>
          </a:p>
          <a:p>
            <a:pPr algn="l"/>
            <a:r>
              <a:rPr sz="1000" b="0">
                <a:solidFill>
                  <a:srgbClr val="C4BDD3"/>
                </a:solidFill>
                <a:latin typeface="Plus Jakarta Sans"/>
              </a:rPr>
              <a:t>{Duration = High, Avg_BPM = High} → {Water_Intake = High}</a:t>
            </a:r>
          </a:p>
        </p:txBody>
      </p:sp>
      <p:sp>
        <p:nvSpPr>
          <p:cNvPr id="320" name="Rounded Rectangle 319"/>
          <p:cNvSpPr/>
          <p:nvPr/>
        </p:nvSpPr>
        <p:spPr>
          <a:xfrm>
            <a:off x="868680" y="5779008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2E1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321" name="TextBox 320"/>
          <p:cNvSpPr txBox="1"/>
          <p:nvPr/>
        </p:nvSpPr>
        <p:spPr>
          <a:xfrm>
            <a:off x="868680" y="577900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CFC8DC"/>
                </a:solidFill>
                <a:latin typeface="Plus Jakarta Sans"/>
              </a:rPr>
              <a:t>Support  </a:t>
            </a:r>
            <a:r>
              <a:rPr sz="1200" b="1">
                <a:solidFill>
                  <a:srgbClr val="C084FC"/>
                </a:solidFill>
                <a:latin typeface="Plus Jakarta Sans"/>
              </a:rPr>
              <a:t>≥ 0.10</a:t>
            </a:r>
          </a:p>
        </p:txBody>
      </p:sp>
      <p:sp>
        <p:nvSpPr>
          <p:cNvPr id="322" name="Rounded Rectangle 321"/>
          <p:cNvSpPr/>
          <p:nvPr/>
        </p:nvSpPr>
        <p:spPr>
          <a:xfrm>
            <a:off x="2816352" y="5779008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2E1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323" name="TextBox 322"/>
          <p:cNvSpPr txBox="1"/>
          <p:nvPr/>
        </p:nvSpPr>
        <p:spPr>
          <a:xfrm>
            <a:off x="2816352" y="577900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CFC8DC"/>
                </a:solidFill>
                <a:latin typeface="Plus Jakarta Sans"/>
              </a:rPr>
              <a:t>Confidence  </a:t>
            </a:r>
            <a:r>
              <a:rPr sz="1200" b="1">
                <a:solidFill>
                  <a:srgbClr val="C084FC"/>
                </a:solidFill>
                <a:latin typeface="Plus Jakarta Sans"/>
              </a:rPr>
              <a:t>≥ 0.70</a:t>
            </a:r>
          </a:p>
        </p:txBody>
      </p:sp>
      <p:sp>
        <p:nvSpPr>
          <p:cNvPr id="324" name="Rounded Rectangle 323"/>
          <p:cNvSpPr/>
          <p:nvPr/>
        </p:nvSpPr>
        <p:spPr>
          <a:xfrm>
            <a:off x="4764024" y="5779008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2E1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325" name="TextBox 324"/>
          <p:cNvSpPr txBox="1"/>
          <p:nvPr/>
        </p:nvSpPr>
        <p:spPr>
          <a:xfrm>
            <a:off x="4764024" y="577900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CFC8DC"/>
                </a:solidFill>
                <a:latin typeface="Plus Jakarta Sans"/>
              </a:rPr>
              <a:t>Lift  </a:t>
            </a:r>
            <a:r>
              <a:rPr sz="1200" b="1">
                <a:solidFill>
                  <a:srgbClr val="C084FC"/>
                </a:solidFill>
                <a:latin typeface="Plus Jakarta Sans"/>
              </a:rPr>
              <a:t>&gt; 1.0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7086600" y="1371600"/>
            <a:ext cx="4526280" cy="498348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332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D9D4E3"/>
              </a:solidFill>
            </a:endParaRPr>
          </a:p>
        </p:txBody>
      </p:sp>
      <p:sp>
        <p:nvSpPr>
          <p:cNvPr id="327" name="Oval 326"/>
          <p:cNvSpPr/>
          <p:nvPr/>
        </p:nvSpPr>
        <p:spPr>
          <a:xfrm>
            <a:off x="7342631" y="1572768"/>
            <a:ext cx="411480" cy="411480"/>
          </a:xfrm>
          <a:prstGeom prst="ellipse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891272" y="1536192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5F3FA"/>
                </a:solidFill>
                <a:latin typeface="Plus Jakarta Sans"/>
              </a:rPr>
              <a:t>CLUSTERING &amp; ANOMALIES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891272" y="1810512"/>
            <a:ext cx="3611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A9A2BA"/>
                </a:solidFill>
                <a:latin typeface="Plus Jakarta Sans"/>
              </a:rPr>
              <a:t>Grouping similar members &amp; spotting outliers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342631" y="2240280"/>
            <a:ext cx="411480" cy="411480"/>
            <a:chOff x="7342631" y="2240280"/>
            <a:chExt cx="411480" cy="411480"/>
          </a:xfrm>
        </p:grpSpPr>
        <p:sp>
          <p:nvSpPr>
            <p:cNvPr id="330" name="Oval 329"/>
            <p:cNvSpPr/>
            <p:nvPr/>
          </p:nvSpPr>
          <p:spPr>
            <a:xfrm>
              <a:off x="7342631" y="2240280"/>
              <a:ext cx="411480" cy="411480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331" name="Picture 330" descr="FaBullsey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41387" y="2339035"/>
              <a:ext cx="213969" cy="213969"/>
            </a:xfrm>
            <a:prstGeom prst="rect">
              <a:avLst/>
            </a:prstGeom>
          </p:spPr>
        </p:pic>
      </p:grpSp>
      <p:sp>
        <p:nvSpPr>
          <p:cNvPr id="332" name="TextBox 331"/>
          <p:cNvSpPr txBox="1"/>
          <p:nvPr/>
        </p:nvSpPr>
        <p:spPr>
          <a:xfrm>
            <a:off x="7891272" y="2221992"/>
            <a:ext cx="3520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5F3FA"/>
                </a:solidFill>
                <a:latin typeface="Plus Jakarta Sans"/>
              </a:rPr>
              <a:t>Goal</a:t>
            </a:r>
          </a:p>
          <a:p>
            <a:pPr algn="l"/>
            <a:r>
              <a:rPr sz="1100" b="0">
                <a:solidFill>
                  <a:srgbClr val="C4BDD3"/>
                </a:solidFill>
                <a:latin typeface="Plus Jakarta Sans"/>
              </a:rPr>
              <a:t>Group members into natural "fitness profiles" (e.g., endurance athletes vs. casual beginners) without pre-set labels.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342631" y="3246120"/>
            <a:ext cx="411480" cy="411480"/>
            <a:chOff x="7342631" y="3246120"/>
            <a:chExt cx="411480" cy="411480"/>
          </a:xfrm>
        </p:grpSpPr>
        <p:sp>
          <p:nvSpPr>
            <p:cNvPr id="333" name="Oval 332"/>
            <p:cNvSpPr/>
            <p:nvPr/>
          </p:nvSpPr>
          <p:spPr>
            <a:xfrm>
              <a:off x="7342631" y="3246120"/>
              <a:ext cx="411480" cy="41148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334" name="Picture 333" descr="FaProjectDiagram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41387" y="3344875"/>
              <a:ext cx="213969" cy="213969"/>
            </a:xfrm>
            <a:prstGeom prst="rect">
              <a:avLst/>
            </a:prstGeom>
          </p:spPr>
        </p:pic>
      </p:grpSp>
      <p:sp>
        <p:nvSpPr>
          <p:cNvPr id="335" name="TextBox 334"/>
          <p:cNvSpPr txBox="1"/>
          <p:nvPr/>
        </p:nvSpPr>
        <p:spPr>
          <a:xfrm>
            <a:off x="7891272" y="3227832"/>
            <a:ext cx="3520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5F3FA"/>
                </a:solidFill>
                <a:latin typeface="Plus Jakarta Sans"/>
              </a:rPr>
              <a:t>Models to Test</a:t>
            </a:r>
          </a:p>
          <a:p>
            <a:pPr algn="l"/>
            <a:r>
              <a:rPr sz="1100" b="0">
                <a:solidFill>
                  <a:srgbClr val="C4BDD3"/>
                </a:solidFill>
                <a:latin typeface="Plus Jakarta Sans"/>
              </a:rPr>
              <a:t>k-Means and Hierarchical Clustering, grouping members by body stats and heart rates.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7342631" y="4251960"/>
            <a:ext cx="411480" cy="411480"/>
            <a:chOff x="7342631" y="4251960"/>
            <a:chExt cx="411480" cy="411480"/>
          </a:xfrm>
        </p:grpSpPr>
        <p:sp>
          <p:nvSpPr>
            <p:cNvPr id="336" name="Oval 335"/>
            <p:cNvSpPr/>
            <p:nvPr/>
          </p:nvSpPr>
          <p:spPr>
            <a:xfrm>
              <a:off x="7342631" y="4251960"/>
              <a:ext cx="411480" cy="411480"/>
            </a:xfrm>
            <a:prstGeom prst="ellipse">
              <a:avLst/>
            </a:prstGeom>
            <a:solidFill>
              <a:srgbClr val="A855F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337" name="Picture 336" descr="FaSearch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41387" y="4350715"/>
              <a:ext cx="213969" cy="213969"/>
            </a:xfrm>
            <a:prstGeom prst="rect">
              <a:avLst/>
            </a:prstGeom>
          </p:spPr>
        </p:pic>
      </p:grpSp>
      <p:sp>
        <p:nvSpPr>
          <p:cNvPr id="338" name="TextBox 337"/>
          <p:cNvSpPr txBox="1"/>
          <p:nvPr/>
        </p:nvSpPr>
        <p:spPr>
          <a:xfrm>
            <a:off x="7891272" y="4233672"/>
            <a:ext cx="3520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5F3FA"/>
                </a:solidFill>
                <a:latin typeface="Plus Jakarta Sans"/>
              </a:rPr>
              <a:t>Anomaly Check</a:t>
            </a:r>
          </a:p>
          <a:p>
            <a:pPr algn="l"/>
            <a:r>
              <a:rPr sz="1100" b="0">
                <a:solidFill>
                  <a:srgbClr val="C4BDD3"/>
                </a:solidFill>
                <a:latin typeface="Plus Jakarta Sans"/>
              </a:rPr>
              <a:t>Pinpoint extreme sessions (like workouts burning over 1,600 kcal) so they don't distort findings.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7342631" y="5257800"/>
            <a:ext cx="411480" cy="411480"/>
            <a:chOff x="7342631" y="5257800"/>
            <a:chExt cx="411480" cy="411480"/>
          </a:xfrm>
        </p:grpSpPr>
        <p:sp>
          <p:nvSpPr>
            <p:cNvPr id="339" name="Oval 338"/>
            <p:cNvSpPr/>
            <p:nvPr/>
          </p:nvSpPr>
          <p:spPr>
            <a:xfrm>
              <a:off x="7342631" y="5257800"/>
              <a:ext cx="411480" cy="411480"/>
            </a:xfrm>
            <a:prstGeom prst="ellipse">
              <a:avLst/>
            </a:prstGeom>
            <a:solidFill>
              <a:srgbClr val="2E10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340" name="Picture 339" descr="FaCheckCircl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441387" y="5356555"/>
              <a:ext cx="213969" cy="213969"/>
            </a:xfrm>
            <a:prstGeom prst="rect">
              <a:avLst/>
            </a:prstGeom>
          </p:spPr>
        </p:pic>
      </p:grpSp>
      <p:sp>
        <p:nvSpPr>
          <p:cNvPr id="341" name="TextBox 340"/>
          <p:cNvSpPr txBox="1"/>
          <p:nvPr/>
        </p:nvSpPr>
        <p:spPr>
          <a:xfrm>
            <a:off x="7891272" y="5239512"/>
            <a:ext cx="35204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5F3FA"/>
                </a:solidFill>
                <a:latin typeface="Plus Jakarta Sans"/>
              </a:rPr>
              <a:t>How We Measure Success</a:t>
            </a:r>
          </a:p>
          <a:p>
            <a:pPr algn="l"/>
            <a:r>
              <a:rPr sz="1100" b="0">
                <a:solidFill>
                  <a:srgbClr val="C4BDD3"/>
                </a:solidFill>
                <a:latin typeface="Plus Jakarta Sans"/>
              </a:rPr>
              <a:t>Cluster quality scores: members inside the same group are genuinely similar.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6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6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600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600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400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400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400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1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400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400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400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400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40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40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400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400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400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400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6" presetClass="emph" presetSubtype="0" repeatCount="3000" fill="hold" nodeType="withEffect">
                                  <p:stCondLst>
                                    <p:cond delay="2600"/>
                                  </p:stCondLst>
                                  <p:childTnLst>
                                    <p:animScale>
                                      <p:cBhvr>
                                        <p:cTn id="136" dur="25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15000" y="11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Bg14"/>
          <a:srcRect/>
          <a:stretch>
            <a:fillRect/>
          </a:stretch>
        </a:blip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Picture 319" descr="ec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31920"/>
            <a:ext cx="12191695" cy="1627632"/>
          </a:xfrm>
          <a:prstGeom prst="rect">
            <a:avLst/>
          </a:prstGeom>
        </p:spPr>
      </p:pic>
      <p:sp>
        <p:nvSpPr>
          <p:cNvPr id="319" name="Google Shape;319;p29"/>
          <p:cNvSpPr txBox="1"/>
          <p:nvPr/>
        </p:nvSpPr>
        <p:spPr>
          <a:xfrm>
            <a:off x="612648" y="233172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FFFFFF"/>
                </a:solidFill>
                <a:latin typeface="Plus Jakarta Sans"/>
                <a:ea typeface="Calibri"/>
                <a:cs typeface="Calibri"/>
                <a:sym typeface="Calibri"/>
              </a:rPr>
              <a:t>Questions?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0"/>
          <p:cNvGrpSpPr/>
          <p:nvPr/>
        </p:nvGrpSpPr>
        <p:grpSpPr>
          <a:xfrm>
            <a:off x="5638647" y="1143000"/>
            <a:ext cx="914400" cy="914400"/>
            <a:chOff x="5638647" y="1143000"/>
            <a:chExt cx="914400" cy="914400"/>
          </a:xfrm>
        </p:grpSpPr>
        <p:sp>
          <p:nvSpPr>
            <p:cNvPr id="321" name="Oval 320"/>
            <p:cNvSpPr/>
            <p:nvPr/>
          </p:nvSpPr>
          <p:spPr>
            <a:xfrm>
              <a:off x="5638647" y="1143000"/>
              <a:ext cx="914400" cy="914400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322" name="Picture 321" descr="FaQuestion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58103" y="1362456"/>
              <a:ext cx="475488" cy="475488"/>
            </a:xfrm>
            <a:prstGeom prst="rect">
              <a:avLst/>
            </a:prstGeom>
          </p:spPr>
        </p:pic>
      </p:grpSp>
      <p:sp>
        <p:nvSpPr>
          <p:cNvPr id="323" name="TextBox 322"/>
          <p:cNvSpPr txBox="1"/>
          <p:nvPr/>
        </p:nvSpPr>
        <p:spPr>
          <a:xfrm>
            <a:off x="612648" y="33375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CFC8DC"/>
                </a:solidFill>
                <a:latin typeface="Plus Jakarta Sans"/>
              </a:rPr>
              <a:t>Phase 2  ·  Data Understanding &amp; Exploratory Analysis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2788920" y="6035040"/>
            <a:ext cx="329184" cy="329184"/>
            <a:chOff x="2788920" y="6035040"/>
            <a:chExt cx="329184" cy="329184"/>
          </a:xfrm>
        </p:grpSpPr>
        <p:sp>
          <p:nvSpPr>
            <p:cNvPr id="324" name="Oval 323"/>
            <p:cNvSpPr/>
            <p:nvPr/>
          </p:nvSpPr>
          <p:spPr>
            <a:xfrm>
              <a:off x="2788920" y="6035040"/>
              <a:ext cx="329184" cy="329184"/>
            </a:xfrm>
            <a:prstGeom prst="ellipse">
              <a:avLst/>
            </a:prstGeom>
            <a:solidFill>
              <a:srgbClr val="9333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D9D4E3"/>
                </a:solidFill>
              </a:endParaRPr>
            </a:p>
          </p:txBody>
        </p:sp>
        <p:pic>
          <p:nvPicPr>
            <p:cNvPr id="325" name="Picture 324" descr="FaLink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67924" y="6114044"/>
              <a:ext cx="171175" cy="171175"/>
            </a:xfrm>
            <a:prstGeom prst="rect">
              <a:avLst/>
            </a:prstGeom>
          </p:spPr>
        </p:pic>
      </p:grpSp>
      <p:sp>
        <p:nvSpPr>
          <p:cNvPr id="326" name="TextBox 325"/>
          <p:cNvSpPr txBox="1"/>
          <p:nvPr/>
        </p:nvSpPr>
        <p:spPr>
          <a:xfrm>
            <a:off x="3246120" y="60533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C084FC"/>
                </a:solidFill>
                <a:latin typeface="Plus Jakarta Sans"/>
              </a:rPr>
              <a:t>Reference:  </a:t>
            </a:r>
            <a:r>
              <a:rPr sz="1000" b="0">
                <a:solidFill>
                  <a:srgbClr val="CFC8DC"/>
                </a:solidFill>
                <a:latin typeface="Plus Jakarta Sans"/>
              </a:rPr>
              <a:t>https://healthyhabitsexplorer.com/my-one-year-journey-with-the-werise-app-by-senada-greca/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6" presetClass="emph" presetSubtype="0" repeatCount="800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animScale>
                                      <p:cBhvr>
                                        <p:cTn id="20" dur="180" autoRev="1" fill="hold"/>
                                        <p:tgtEl>
                                          <p:spTgt spid="1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2504</Words>
  <Application>Microsoft Macintosh PowerPoint</Application>
  <PresentationFormat>Widescreen</PresentationFormat>
  <Paragraphs>252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Calibri</vt:lpstr>
      <vt:lpstr>Inter</vt:lpstr>
      <vt:lpstr>Plus Jakarta Sans</vt:lpstr>
      <vt:lpstr>JetBrains Mono</vt:lpstr>
      <vt:lpstr>Space Grotesk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Solomon.Gbadebo</cp:lastModifiedBy>
  <cp:revision>1</cp:revision>
  <cp:lastPrinted>2026-10-21T02:00:14Z</cp:lastPrinted>
  <dcterms:modified xsi:type="dcterms:W3CDTF">2026-10-21T02:20:12Z</dcterms:modified>
</cp:coreProperties>
</file>