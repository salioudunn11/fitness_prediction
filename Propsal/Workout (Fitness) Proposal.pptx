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383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hyperlink" Target="https://www.kaggle.com/datasets/valakhorasani/gym-members-exercise-dataset"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kaggle.com/code/marcdumaguin/line-regression-gradio-user-input-cal-burned"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F"/>
        </a:solidFill>
        <a:effectLst/>
      </p:bgPr>
    </p:bg>
    <p:spTree>
      <p:nvGrpSpPr>
        <p:cNvPr id="1" name=""/>
        <p:cNvGrpSpPr/>
        <p:nvPr/>
      </p:nvGrpSpPr>
      <p:grpSpPr>
        <a:xfrm>
          <a:off x="0" y="0"/>
          <a:ext cx="0" cy="0"/>
          <a:chOff x="0" y="0"/>
          <a:chExt cx="0" cy="0"/>
        </a:xfrm>
      </p:grpSpPr>
      <p:pic>
        <p:nvPicPr>
          <p:cNvPr id="2" name="Image 0" descr="Man doing a dumbbell curl in a gym"/>
          <p:cNvPicPr>
            <a:picLocks noChangeAspect="1"/>
          </p:cNvPicPr>
          <p:nvPr/>
        </p:nvPicPr>
        <p:blipFill>
          <a:blip r:embed="rId3"/>
          <a:srcRect l="31099" r="25444"/>
          <a:stretch/>
        </p:blipFill>
        <p:spPr>
          <a:xfrm>
            <a:off x="7721600" y="0"/>
            <a:ext cx="4470400" cy="6858000"/>
          </a:xfrm>
          <a:prstGeom prst="rect">
            <a:avLst/>
          </a:prstGeom>
        </p:spPr>
      </p:pic>
      <p:sp>
        <p:nvSpPr>
          <p:cNvPr id="3" name="Shape 0"/>
          <p:cNvSpPr/>
          <p:nvPr/>
        </p:nvSpPr>
        <p:spPr>
          <a:xfrm>
            <a:off x="7721600" y="0"/>
            <a:ext cx="1524000" cy="6858000"/>
          </a:xfrm>
          <a:prstGeom prst="rect">
            <a:avLst/>
          </a:prstGeom>
          <a:gradFill rotWithShape="1">
            <a:gsLst>
              <a:gs pos="0">
                <a:srgbClr val="14181F"/>
              </a:gs>
              <a:gs pos="100000">
                <a:srgbClr val="14181F">
                  <a:alpha val="0"/>
                </a:srgbClr>
              </a:gs>
            </a:gsLst>
            <a:lin ang="0" scaled="0"/>
          </a:gradFill>
          <a:ln/>
        </p:spPr>
        <p:txBody>
          <a:bodyPr/>
          <a:lstStyle/>
          <a:p>
            <a:endParaRPr lang="en-US"/>
          </a:p>
        </p:txBody>
      </p:sp>
      <p:sp>
        <p:nvSpPr>
          <p:cNvPr id="4" name="Shape 1"/>
          <p:cNvSpPr/>
          <p:nvPr/>
        </p:nvSpPr>
        <p:spPr>
          <a:xfrm>
            <a:off x="0" y="0"/>
            <a:ext cx="152400" cy="6858000"/>
          </a:xfrm>
          <a:prstGeom prst="rect">
            <a:avLst/>
          </a:prstGeom>
          <a:solidFill>
            <a:srgbClr val="FF6B35"/>
          </a:solidFill>
          <a:ln/>
        </p:spPr>
        <p:txBody>
          <a:bodyPr/>
          <a:lstStyle/>
          <a:p>
            <a:endParaRPr lang="en-US"/>
          </a:p>
        </p:txBody>
      </p:sp>
      <p:sp>
        <p:nvSpPr>
          <p:cNvPr id="5" name="Text 2"/>
          <p:cNvSpPr/>
          <p:nvPr/>
        </p:nvSpPr>
        <p:spPr>
          <a:xfrm>
            <a:off x="812800" y="812800"/>
            <a:ext cx="6540500"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F6B35"/>
                </a:solidFill>
                <a:latin typeface="DM Sans" pitchFamily="34" charset="0"/>
                <a:ea typeface="DM Sans" pitchFamily="34" charset="-122"/>
                <a:cs typeface="DM Sans" pitchFamily="34" charset="-120"/>
              </a:rPr>
              <a:t>DATA MINING PROJECT PROPOSAL</a:t>
            </a:r>
            <a:endParaRPr lang="en-US" sz="1300" dirty="0"/>
          </a:p>
        </p:txBody>
      </p:sp>
      <p:sp>
        <p:nvSpPr>
          <p:cNvPr id="6" name="Text 3"/>
          <p:cNvSpPr/>
          <p:nvPr/>
        </p:nvSpPr>
        <p:spPr>
          <a:xfrm>
            <a:off x="812800" y="1247130"/>
            <a:ext cx="6540500" cy="3225800"/>
          </a:xfrm>
          <a:prstGeom prst="rect">
            <a:avLst/>
          </a:prstGeom>
          <a:noFill/>
          <a:ln/>
        </p:spPr>
        <p:txBody>
          <a:bodyPr wrap="square" lIns="0" tIns="0" rIns="0" bIns="0" rtlCol="0" anchor="t">
            <a:normAutofit/>
          </a:bodyPr>
          <a:lstStyle/>
          <a:p>
            <a:pPr marL="0" indent="0" algn="l">
              <a:lnSpc>
                <a:spcPts val="6300"/>
              </a:lnSpc>
              <a:buNone/>
            </a:pPr>
            <a:r>
              <a:rPr lang="en-US" sz="6000" b="1" dirty="0">
                <a:gradFill rotWithShape="1">
                  <a:gsLst>
                    <a:gs pos="0">
                      <a:srgbClr val="FF6B35"/>
                    </a:gs>
                    <a:gs pos="100000">
                      <a:srgbClr val="FFC857"/>
                    </a:gs>
                  </a:gsLst>
                  <a:lin ang="0" scaled="0"/>
                </a:gradFill>
                <a:latin typeface="Oswald" pitchFamily="34" charset="0"/>
                <a:ea typeface="Oswald" pitchFamily="34" charset="-122"/>
                <a:cs typeface="Oswald" pitchFamily="34" charset="-120"/>
              </a:rPr>
              <a:t>PREDICTIVE MODELING OF WORKOUT ENERGY EXPENDITURE</a:t>
            </a:r>
            <a:endParaRPr lang="en-US" sz="6000" dirty="0"/>
          </a:p>
        </p:txBody>
      </p:sp>
      <p:sp>
        <p:nvSpPr>
          <p:cNvPr id="7" name="Text 4"/>
          <p:cNvSpPr/>
          <p:nvPr/>
        </p:nvSpPr>
        <p:spPr>
          <a:xfrm>
            <a:off x="812800" y="4650730"/>
            <a:ext cx="6540500" cy="41652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FBE3D3"/>
                </a:solidFill>
                <a:latin typeface="DM Sans" pitchFamily="34" charset="0"/>
                <a:ea typeface="DM Sans" pitchFamily="34" charset="-122"/>
                <a:cs typeface="DM Sans" pitchFamily="34" charset="-120"/>
              </a:rPr>
              <a:t>and Caloric Burn Classification</a:t>
            </a:r>
            <a:endParaRPr lang="en-US" sz="2200" dirty="0"/>
          </a:p>
        </p:txBody>
      </p:sp>
      <p:sp>
        <p:nvSpPr>
          <p:cNvPr id="8" name="Text 5"/>
          <p:cNvSpPr/>
          <p:nvPr/>
        </p:nvSpPr>
        <p:spPr>
          <a:xfrm>
            <a:off x="812800" y="545341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BE3D3"/>
                </a:solidFill>
                <a:latin typeface="DM Sans" pitchFamily="34" charset="0"/>
                <a:ea typeface="DM Sans" pitchFamily="34" charset="-122"/>
                <a:cs typeface="DM Sans" pitchFamily="34" charset="-120"/>
              </a:rPr>
              <a:t>TEAM</a:t>
            </a:r>
            <a:endParaRPr lang="en-US" sz="1300" dirty="0"/>
          </a:p>
        </p:txBody>
      </p:sp>
      <p:sp>
        <p:nvSpPr>
          <p:cNvPr id="9" name="Text 6"/>
          <p:cNvSpPr/>
          <p:nvPr/>
        </p:nvSpPr>
        <p:spPr>
          <a:xfrm>
            <a:off x="812800" y="576074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BE3D3"/>
                </a:solidFill>
                <a:latin typeface="DM Sans" pitchFamily="34" charset="0"/>
                <a:ea typeface="DM Sans" pitchFamily="34" charset="-122"/>
                <a:cs typeface="DM Sans" pitchFamily="34" charset="-120"/>
              </a:rPr>
              <a:t>Solomon · Saliou Dunn · Khinememe Kyaw</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81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9722" r="9722"/>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14181F">
                  <a:alpha val="95000"/>
                </a:srgbClr>
              </a:gs>
              <a:gs pos="50000">
                <a:srgbClr val="14181F">
                  <a:alpha val="88000"/>
                </a:srgbClr>
              </a:gs>
              <a:gs pos="100000">
                <a:srgbClr val="14181F">
                  <a:alpha val="60000"/>
                </a:srgbClr>
              </a:gs>
            </a:gsLst>
            <a:lin ang="0" scaled="0"/>
          </a:gradFill>
          <a:ln/>
        </p:spPr>
        <p:txBody>
          <a:bodyPr/>
          <a:lstStyle/>
          <a:p>
            <a:endParaRPr lang="en-US"/>
          </a:p>
        </p:txBody>
      </p:sp>
      <p:sp>
        <p:nvSpPr>
          <p:cNvPr id="4" name="Text 1"/>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F6B35"/>
                </a:solidFill>
                <a:latin typeface="DM Sans" pitchFamily="34" charset="0"/>
                <a:ea typeface="DM Sans" pitchFamily="34" charset="-122"/>
                <a:cs typeface="DM Sans" pitchFamily="34" charset="-120"/>
              </a:rPr>
              <a:t>THE PROBLEM</a:t>
            </a:r>
            <a:endParaRPr lang="en-US" sz="1300" dirty="0"/>
          </a:p>
        </p:txBody>
      </p:sp>
      <p:sp>
        <p:nvSpPr>
          <p:cNvPr id="5" name="Text 2"/>
          <p:cNvSpPr/>
          <p:nvPr/>
        </p:nvSpPr>
        <p:spPr>
          <a:xfrm>
            <a:off x="812800" y="129793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dirty="0">
                <a:gradFill rotWithShape="1">
                  <a:gsLst>
                    <a:gs pos="0">
                      <a:srgbClr val="FF6B35"/>
                    </a:gs>
                    <a:gs pos="100000">
                      <a:srgbClr val="FFC857"/>
                    </a:gs>
                  </a:gsLst>
                  <a:lin ang="0" scaled="0"/>
                </a:gradFill>
                <a:latin typeface="Oswald" pitchFamily="34" charset="0"/>
                <a:ea typeface="Oswald" pitchFamily="34" charset="-122"/>
                <a:cs typeface="Oswald" pitchFamily="34" charset="-120"/>
              </a:rPr>
              <a:t>Calorie counts aren’t one-size-fits-all</a:t>
            </a:r>
            <a:endParaRPr lang="en-US" sz="3600" dirty="0"/>
          </a:p>
        </p:txBody>
      </p:sp>
      <p:sp>
        <p:nvSpPr>
          <p:cNvPr id="6" name="Shape 3"/>
          <p:cNvSpPr/>
          <p:nvPr/>
        </p:nvSpPr>
        <p:spPr>
          <a:xfrm>
            <a:off x="812800" y="2077690"/>
            <a:ext cx="76200" cy="1651000"/>
          </a:xfrm>
          <a:prstGeom prst="roundRect">
            <a:avLst>
              <a:gd name="adj" fmla="val 50000"/>
            </a:avLst>
          </a:prstGeom>
          <a:solidFill>
            <a:srgbClr val="FF6B35"/>
          </a:solidFill>
          <a:ln/>
        </p:spPr>
        <p:txBody>
          <a:bodyPr/>
          <a:lstStyle/>
          <a:p>
            <a:endParaRPr lang="en-US"/>
          </a:p>
        </p:txBody>
      </p:sp>
      <p:sp>
        <p:nvSpPr>
          <p:cNvPr id="7" name="Text 4"/>
          <p:cNvSpPr/>
          <p:nvPr/>
        </p:nvSpPr>
        <p:spPr>
          <a:xfrm>
            <a:off x="1295400" y="2077690"/>
            <a:ext cx="7194550" cy="1114971"/>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FBE3D3"/>
                </a:solidFill>
                <a:latin typeface="DM Sans" pitchFamily="34" charset="0"/>
                <a:ea typeface="DM Sans" pitchFamily="34" charset="-122"/>
                <a:cs typeface="DM Sans" pitchFamily="34" charset="-120"/>
              </a:rPr>
              <a:t>Most fitness apps guess your calories with the same formula for everyone. But two people doing the same workout don’t burn the same amount.</a:t>
            </a:r>
            <a:endParaRPr lang="en-US" sz="2200" dirty="0"/>
          </a:p>
        </p:txBody>
      </p:sp>
      <p:sp>
        <p:nvSpPr>
          <p:cNvPr id="8" name="Text 5"/>
          <p:cNvSpPr/>
          <p:nvPr/>
        </p:nvSpPr>
        <p:spPr>
          <a:xfrm>
            <a:off x="1295400" y="3370461"/>
            <a:ext cx="7194550" cy="120392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FBE3D3"/>
                </a:solidFill>
                <a:latin typeface="DM Sans" pitchFamily="34" charset="0"/>
                <a:ea typeface="DM Sans" pitchFamily="34" charset="-122"/>
                <a:cs typeface="DM Sans" pitchFamily="34" charset="-120"/>
              </a:rPr>
              <a:t>When we looked at the data, four things mattered most: how long you train, how experienced you are, how often you work out, and your body fat. Knowing this helps people plan workouts that actually hit their goals without overdoing it.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81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12500" b="12500"/>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14181F">
                  <a:alpha val="80000"/>
                </a:srgbClr>
              </a:gs>
              <a:gs pos="50000">
                <a:srgbClr val="14181F">
                  <a:alpha val="88000"/>
                </a:srgbClr>
              </a:gs>
              <a:gs pos="100000">
                <a:srgbClr val="14181F">
                  <a:alpha val="92000"/>
                </a:srgbClr>
              </a:gs>
            </a:gsLst>
            <a:lin ang="5400000" scaled="0"/>
          </a:gradFill>
          <a:ln/>
        </p:spPr>
        <p:txBody>
          <a:bodyPr/>
          <a:lstStyle/>
          <a:p>
            <a:endParaRPr lang="en-US"/>
          </a:p>
        </p:txBody>
      </p:sp>
      <p:sp>
        <p:nvSpPr>
          <p:cNvPr id="4" name="Text 1"/>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F6B35"/>
                </a:solidFill>
                <a:latin typeface="DM Sans" pitchFamily="34" charset="0"/>
                <a:ea typeface="DM Sans" pitchFamily="34" charset="-122"/>
                <a:cs typeface="DM Sans" pitchFamily="34" charset="-120"/>
              </a:rPr>
              <a:t>WHAT WE FOUND FIRST</a:t>
            </a:r>
            <a:endParaRPr lang="en-US" sz="1300" dirty="0"/>
          </a:p>
        </p:txBody>
      </p:sp>
      <p:sp>
        <p:nvSpPr>
          <p:cNvPr id="5" name="Text 2"/>
          <p:cNvSpPr/>
          <p:nvPr/>
        </p:nvSpPr>
        <p:spPr>
          <a:xfrm>
            <a:off x="812800" y="129793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dirty="0">
                <a:gradFill rotWithShape="1">
                  <a:gsLst>
                    <a:gs pos="0">
                      <a:srgbClr val="FF6B35"/>
                    </a:gs>
                    <a:gs pos="100000">
                      <a:srgbClr val="FFC857"/>
                    </a:gs>
                  </a:gsLst>
                  <a:lin ang="0" scaled="0"/>
                </a:gradFill>
                <a:latin typeface="Oswald" pitchFamily="34" charset="0"/>
                <a:ea typeface="Oswald" pitchFamily="34" charset="-122"/>
                <a:cs typeface="Oswald" pitchFamily="34" charset="-120"/>
              </a:rPr>
              <a:t>What really drives calories burned</a:t>
            </a:r>
            <a:endParaRPr lang="en-US" sz="3600" dirty="0"/>
          </a:p>
        </p:txBody>
      </p:sp>
      <p:sp>
        <p:nvSpPr>
          <p:cNvPr id="6" name="Shape 3"/>
          <p:cNvSpPr/>
          <p:nvPr/>
        </p:nvSpPr>
        <p:spPr>
          <a:xfrm>
            <a:off x="812800" y="2077690"/>
            <a:ext cx="2489200" cy="2207220"/>
          </a:xfrm>
          <a:prstGeom prst="roundRect">
            <a:avLst>
              <a:gd name="adj" fmla="val 4603"/>
            </a:avLst>
          </a:prstGeom>
          <a:solidFill>
            <a:srgbClr val="1E242D">
              <a:alpha val="80000"/>
            </a:srgbClr>
          </a:solidFill>
          <a:ln/>
        </p:spPr>
        <p:txBody>
          <a:bodyPr/>
          <a:lstStyle/>
          <a:p>
            <a:endParaRPr lang="en-US"/>
          </a:p>
        </p:txBody>
      </p:sp>
      <p:sp>
        <p:nvSpPr>
          <p:cNvPr id="7" name="Shape 4"/>
          <p:cNvSpPr/>
          <p:nvPr/>
        </p:nvSpPr>
        <p:spPr>
          <a:xfrm>
            <a:off x="812800" y="2077690"/>
            <a:ext cx="2489200" cy="2207220"/>
          </a:xfrm>
          <a:custGeom>
            <a:avLst/>
            <a:gdLst/>
            <a:ahLst/>
            <a:cxnLst/>
            <a:rect l="l" t="t" r="r" b="b"/>
            <a:pathLst>
              <a:path w="2489200" h="2207220">
                <a:moveTo>
                  <a:pt x="0" y="101600"/>
                </a:moveTo>
                <a:lnTo>
                  <a:pt x="0" y="101600"/>
                </a:lnTo>
                <a:arcTo wR="101600" hR="101600" stAng="10800000" swAng="5400000"/>
                <a:lnTo>
                  <a:pt x="2387600" y="0"/>
                </a:lnTo>
                <a:arcTo wR="101600" hR="101600" stAng="16200000" swAng="5400000"/>
                <a:lnTo>
                  <a:pt x="2489200" y="101600"/>
                </a:lnTo>
                <a:arcTo wR="101600" hR="63500" stAng="0" swAng="-5400000"/>
                <a:lnTo>
                  <a:pt x="101600" y="38100"/>
                </a:lnTo>
                <a:arcTo wR="101600" hR="63500" stAng="16200000" swAng="-5400000"/>
                <a:close/>
              </a:path>
            </a:pathLst>
          </a:custGeom>
          <a:solidFill>
            <a:srgbClr val="FF6B35"/>
          </a:solidFill>
          <a:ln/>
        </p:spPr>
        <p:txBody>
          <a:bodyPr/>
          <a:lstStyle/>
          <a:p>
            <a:endParaRPr lang="en-US"/>
          </a:p>
        </p:txBody>
      </p:sp>
      <p:sp>
        <p:nvSpPr>
          <p:cNvPr id="8" name="Text 5"/>
          <p:cNvSpPr/>
          <p:nvPr/>
        </p:nvSpPr>
        <p:spPr>
          <a:xfrm>
            <a:off x="1066800" y="2369790"/>
            <a:ext cx="2040636"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F6B35"/>
                </a:solidFill>
                <a:latin typeface="Oswald" pitchFamily="34" charset="0"/>
                <a:ea typeface="Oswald" pitchFamily="34" charset="-122"/>
                <a:cs typeface="Oswald" pitchFamily="34" charset="-120"/>
              </a:rPr>
              <a:t>0.91</a:t>
            </a:r>
            <a:endParaRPr lang="en-US" sz="6000" dirty="0"/>
          </a:p>
        </p:txBody>
      </p:sp>
      <p:sp>
        <p:nvSpPr>
          <p:cNvPr id="9" name="Text 6"/>
          <p:cNvSpPr/>
          <p:nvPr/>
        </p:nvSpPr>
        <p:spPr>
          <a:xfrm>
            <a:off x="1066800" y="3207990"/>
            <a:ext cx="204063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FC857"/>
                </a:solidFill>
                <a:latin typeface="DM Sans" pitchFamily="34" charset="0"/>
                <a:ea typeface="DM Sans" pitchFamily="34" charset="-122"/>
                <a:cs typeface="DM Sans" pitchFamily="34" charset="-120"/>
              </a:rPr>
              <a:t>Session duration</a:t>
            </a:r>
            <a:endParaRPr lang="en-US" sz="1600" dirty="0"/>
          </a:p>
        </p:txBody>
      </p:sp>
      <p:sp>
        <p:nvSpPr>
          <p:cNvPr id="10" name="Text 7"/>
          <p:cNvSpPr/>
          <p:nvPr/>
        </p:nvSpPr>
        <p:spPr>
          <a:xfrm>
            <a:off x="1066800" y="3568650"/>
            <a:ext cx="2040636"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E3D3"/>
                </a:solidFill>
                <a:latin typeface="DM Sans" pitchFamily="34" charset="0"/>
                <a:ea typeface="DM Sans" pitchFamily="34" charset="-122"/>
                <a:cs typeface="DM Sans" pitchFamily="34" charset="-120"/>
              </a:rPr>
              <a:t>The longer you train, the more you burn</a:t>
            </a:r>
            <a:endParaRPr lang="en-US" sz="1300" dirty="0"/>
          </a:p>
        </p:txBody>
      </p:sp>
      <p:sp>
        <p:nvSpPr>
          <p:cNvPr id="11" name="Shape 8"/>
          <p:cNvSpPr/>
          <p:nvPr/>
        </p:nvSpPr>
        <p:spPr>
          <a:xfrm>
            <a:off x="3505200" y="2077690"/>
            <a:ext cx="2489200" cy="2207220"/>
          </a:xfrm>
          <a:prstGeom prst="roundRect">
            <a:avLst>
              <a:gd name="adj" fmla="val 4603"/>
            </a:avLst>
          </a:prstGeom>
          <a:solidFill>
            <a:srgbClr val="1E242D">
              <a:alpha val="80000"/>
            </a:srgbClr>
          </a:solidFill>
          <a:ln/>
        </p:spPr>
        <p:txBody>
          <a:bodyPr/>
          <a:lstStyle/>
          <a:p>
            <a:endParaRPr lang="en-US"/>
          </a:p>
        </p:txBody>
      </p:sp>
      <p:sp>
        <p:nvSpPr>
          <p:cNvPr id="12" name="Shape 9"/>
          <p:cNvSpPr/>
          <p:nvPr/>
        </p:nvSpPr>
        <p:spPr>
          <a:xfrm>
            <a:off x="3505200" y="2077690"/>
            <a:ext cx="2489200" cy="2207220"/>
          </a:xfrm>
          <a:custGeom>
            <a:avLst/>
            <a:gdLst/>
            <a:ahLst/>
            <a:cxnLst/>
            <a:rect l="l" t="t" r="r" b="b"/>
            <a:pathLst>
              <a:path w="2489200" h="2207220">
                <a:moveTo>
                  <a:pt x="0" y="101600"/>
                </a:moveTo>
                <a:lnTo>
                  <a:pt x="0" y="101600"/>
                </a:lnTo>
                <a:arcTo wR="101600" hR="101600" stAng="10800000" swAng="5400000"/>
                <a:lnTo>
                  <a:pt x="2387600" y="0"/>
                </a:lnTo>
                <a:arcTo wR="101600" hR="101600" stAng="16200000" swAng="5400000"/>
                <a:lnTo>
                  <a:pt x="2489200" y="101600"/>
                </a:lnTo>
                <a:arcTo wR="101600" hR="63500" stAng="0" swAng="-5400000"/>
                <a:lnTo>
                  <a:pt x="101600" y="38100"/>
                </a:lnTo>
                <a:arcTo wR="101600" hR="63500" stAng="16200000" swAng="-5400000"/>
                <a:close/>
              </a:path>
            </a:pathLst>
          </a:custGeom>
          <a:solidFill>
            <a:srgbClr val="FF6B35"/>
          </a:solidFill>
          <a:ln/>
        </p:spPr>
        <p:txBody>
          <a:bodyPr/>
          <a:lstStyle/>
          <a:p>
            <a:endParaRPr lang="en-US"/>
          </a:p>
        </p:txBody>
      </p:sp>
      <p:sp>
        <p:nvSpPr>
          <p:cNvPr id="13" name="Text 10"/>
          <p:cNvSpPr/>
          <p:nvPr/>
        </p:nvSpPr>
        <p:spPr>
          <a:xfrm>
            <a:off x="3759200" y="2369790"/>
            <a:ext cx="2040636"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F6B35"/>
                </a:solidFill>
                <a:latin typeface="Oswald" pitchFamily="34" charset="0"/>
                <a:ea typeface="Oswald" pitchFamily="34" charset="-122"/>
                <a:cs typeface="Oswald" pitchFamily="34" charset="-120"/>
              </a:rPr>
              <a:t>0.69</a:t>
            </a:r>
            <a:endParaRPr lang="en-US" sz="6000" dirty="0"/>
          </a:p>
        </p:txBody>
      </p:sp>
      <p:sp>
        <p:nvSpPr>
          <p:cNvPr id="14" name="Text 11"/>
          <p:cNvSpPr/>
          <p:nvPr/>
        </p:nvSpPr>
        <p:spPr>
          <a:xfrm>
            <a:off x="3759200" y="3207990"/>
            <a:ext cx="204063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FC857"/>
                </a:solidFill>
                <a:latin typeface="DM Sans" pitchFamily="34" charset="0"/>
                <a:ea typeface="DM Sans" pitchFamily="34" charset="-122"/>
                <a:cs typeface="DM Sans" pitchFamily="34" charset="-120"/>
              </a:rPr>
              <a:t>Experience level</a:t>
            </a:r>
            <a:endParaRPr lang="en-US" sz="1600" dirty="0"/>
          </a:p>
        </p:txBody>
      </p:sp>
      <p:sp>
        <p:nvSpPr>
          <p:cNvPr id="15" name="Text 12"/>
          <p:cNvSpPr/>
          <p:nvPr/>
        </p:nvSpPr>
        <p:spPr>
          <a:xfrm>
            <a:off x="3759200" y="3568650"/>
            <a:ext cx="2040636"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E3D3"/>
                </a:solidFill>
                <a:latin typeface="DM Sans" pitchFamily="34" charset="0"/>
                <a:ea typeface="DM Sans" pitchFamily="34" charset="-122"/>
                <a:cs typeface="DM Sans" pitchFamily="34" charset="-120"/>
              </a:rPr>
              <a:t>Experienced lifters burn more each session</a:t>
            </a:r>
            <a:endParaRPr lang="en-US" sz="1300" dirty="0"/>
          </a:p>
        </p:txBody>
      </p:sp>
      <p:sp>
        <p:nvSpPr>
          <p:cNvPr id="16" name="Shape 13"/>
          <p:cNvSpPr/>
          <p:nvPr/>
        </p:nvSpPr>
        <p:spPr>
          <a:xfrm>
            <a:off x="6197600" y="2077690"/>
            <a:ext cx="2489200" cy="2207220"/>
          </a:xfrm>
          <a:prstGeom prst="roundRect">
            <a:avLst>
              <a:gd name="adj" fmla="val 4603"/>
            </a:avLst>
          </a:prstGeom>
          <a:solidFill>
            <a:srgbClr val="1E242D">
              <a:alpha val="80000"/>
            </a:srgbClr>
          </a:solidFill>
          <a:ln/>
        </p:spPr>
        <p:txBody>
          <a:bodyPr/>
          <a:lstStyle/>
          <a:p>
            <a:endParaRPr lang="en-US"/>
          </a:p>
        </p:txBody>
      </p:sp>
      <p:sp>
        <p:nvSpPr>
          <p:cNvPr id="17" name="Shape 14"/>
          <p:cNvSpPr/>
          <p:nvPr/>
        </p:nvSpPr>
        <p:spPr>
          <a:xfrm>
            <a:off x="6197600" y="2077690"/>
            <a:ext cx="2489200" cy="2207220"/>
          </a:xfrm>
          <a:custGeom>
            <a:avLst/>
            <a:gdLst/>
            <a:ahLst/>
            <a:cxnLst/>
            <a:rect l="l" t="t" r="r" b="b"/>
            <a:pathLst>
              <a:path w="2489200" h="2207220">
                <a:moveTo>
                  <a:pt x="0" y="101600"/>
                </a:moveTo>
                <a:lnTo>
                  <a:pt x="0" y="101600"/>
                </a:lnTo>
                <a:arcTo wR="101600" hR="101600" stAng="10800000" swAng="5400000"/>
                <a:lnTo>
                  <a:pt x="2387600" y="0"/>
                </a:lnTo>
                <a:arcTo wR="101600" hR="101600" stAng="16200000" swAng="5400000"/>
                <a:lnTo>
                  <a:pt x="2489200" y="101600"/>
                </a:lnTo>
                <a:arcTo wR="101600" hR="63500" stAng="0" swAng="-5400000"/>
                <a:lnTo>
                  <a:pt x="101600" y="38100"/>
                </a:lnTo>
                <a:arcTo wR="101600" hR="63500" stAng="16200000" swAng="-5400000"/>
                <a:close/>
              </a:path>
            </a:pathLst>
          </a:custGeom>
          <a:solidFill>
            <a:srgbClr val="FF6B35"/>
          </a:solidFill>
          <a:ln/>
        </p:spPr>
        <p:txBody>
          <a:bodyPr/>
          <a:lstStyle/>
          <a:p>
            <a:endParaRPr lang="en-US"/>
          </a:p>
        </p:txBody>
      </p:sp>
      <p:sp>
        <p:nvSpPr>
          <p:cNvPr id="18" name="Text 15"/>
          <p:cNvSpPr/>
          <p:nvPr/>
        </p:nvSpPr>
        <p:spPr>
          <a:xfrm>
            <a:off x="6451600" y="2369790"/>
            <a:ext cx="2040636"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F6B35"/>
                </a:solidFill>
                <a:latin typeface="Oswald" pitchFamily="34" charset="0"/>
                <a:ea typeface="Oswald" pitchFamily="34" charset="-122"/>
                <a:cs typeface="Oswald" pitchFamily="34" charset="-120"/>
              </a:rPr>
              <a:t>−0.60</a:t>
            </a:r>
            <a:endParaRPr lang="en-US" sz="6000" dirty="0"/>
          </a:p>
        </p:txBody>
      </p:sp>
      <p:sp>
        <p:nvSpPr>
          <p:cNvPr id="19" name="Text 16"/>
          <p:cNvSpPr/>
          <p:nvPr/>
        </p:nvSpPr>
        <p:spPr>
          <a:xfrm>
            <a:off x="6451600" y="3207990"/>
            <a:ext cx="204063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FC857"/>
                </a:solidFill>
                <a:latin typeface="DM Sans" pitchFamily="34" charset="0"/>
                <a:ea typeface="DM Sans" pitchFamily="34" charset="-122"/>
                <a:cs typeface="DM Sans" pitchFamily="34" charset="-120"/>
              </a:rPr>
              <a:t>Body fat %</a:t>
            </a:r>
            <a:endParaRPr lang="en-US" sz="1600" dirty="0"/>
          </a:p>
        </p:txBody>
      </p:sp>
      <p:sp>
        <p:nvSpPr>
          <p:cNvPr id="20" name="Text 17"/>
          <p:cNvSpPr/>
          <p:nvPr/>
        </p:nvSpPr>
        <p:spPr>
          <a:xfrm>
            <a:off x="6451600" y="3568650"/>
            <a:ext cx="2040636"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E3D3"/>
                </a:solidFill>
                <a:latin typeface="DM Sans" pitchFamily="34" charset="0"/>
                <a:ea typeface="DM Sans" pitchFamily="34" charset="-122"/>
                <a:cs typeface="DM Sans" pitchFamily="34" charset="-120"/>
              </a:rPr>
              <a:t>More body fat, fewer calories burned</a:t>
            </a:r>
            <a:endParaRPr lang="en-US" sz="1300" dirty="0"/>
          </a:p>
        </p:txBody>
      </p:sp>
      <p:sp>
        <p:nvSpPr>
          <p:cNvPr id="21" name="Shape 18"/>
          <p:cNvSpPr/>
          <p:nvPr/>
        </p:nvSpPr>
        <p:spPr>
          <a:xfrm>
            <a:off x="8890000" y="2077690"/>
            <a:ext cx="2489200" cy="2207220"/>
          </a:xfrm>
          <a:prstGeom prst="roundRect">
            <a:avLst>
              <a:gd name="adj" fmla="val 4603"/>
            </a:avLst>
          </a:prstGeom>
          <a:solidFill>
            <a:srgbClr val="1E242D">
              <a:alpha val="80000"/>
            </a:srgbClr>
          </a:solidFill>
          <a:ln/>
        </p:spPr>
        <p:txBody>
          <a:bodyPr/>
          <a:lstStyle/>
          <a:p>
            <a:endParaRPr lang="en-US"/>
          </a:p>
        </p:txBody>
      </p:sp>
      <p:sp>
        <p:nvSpPr>
          <p:cNvPr id="22" name="Shape 19"/>
          <p:cNvSpPr/>
          <p:nvPr/>
        </p:nvSpPr>
        <p:spPr>
          <a:xfrm>
            <a:off x="8890000" y="2077690"/>
            <a:ext cx="2489200" cy="2207220"/>
          </a:xfrm>
          <a:custGeom>
            <a:avLst/>
            <a:gdLst/>
            <a:ahLst/>
            <a:cxnLst/>
            <a:rect l="l" t="t" r="r" b="b"/>
            <a:pathLst>
              <a:path w="2489200" h="2207220">
                <a:moveTo>
                  <a:pt x="0" y="101600"/>
                </a:moveTo>
                <a:lnTo>
                  <a:pt x="0" y="101600"/>
                </a:lnTo>
                <a:arcTo wR="101600" hR="101600" stAng="10800000" swAng="5400000"/>
                <a:lnTo>
                  <a:pt x="2387600" y="0"/>
                </a:lnTo>
                <a:arcTo wR="101600" hR="101600" stAng="16200000" swAng="5400000"/>
                <a:lnTo>
                  <a:pt x="2489200" y="101600"/>
                </a:lnTo>
                <a:arcTo wR="101600" hR="63500" stAng="0" swAng="-5400000"/>
                <a:lnTo>
                  <a:pt x="101600" y="38100"/>
                </a:lnTo>
                <a:arcTo wR="101600" hR="63500" stAng="16200000" swAng="-5400000"/>
                <a:close/>
              </a:path>
            </a:pathLst>
          </a:custGeom>
          <a:solidFill>
            <a:srgbClr val="FF6B35"/>
          </a:solidFill>
          <a:ln/>
        </p:spPr>
        <p:txBody>
          <a:bodyPr/>
          <a:lstStyle/>
          <a:p>
            <a:endParaRPr lang="en-US"/>
          </a:p>
        </p:txBody>
      </p:sp>
      <p:sp>
        <p:nvSpPr>
          <p:cNvPr id="23" name="Text 20"/>
          <p:cNvSpPr/>
          <p:nvPr/>
        </p:nvSpPr>
        <p:spPr>
          <a:xfrm>
            <a:off x="9144000" y="2369790"/>
            <a:ext cx="2040636"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F6B35"/>
                </a:solidFill>
                <a:latin typeface="Oswald" pitchFamily="34" charset="0"/>
                <a:ea typeface="Oswald" pitchFamily="34" charset="-122"/>
                <a:cs typeface="Oswald" pitchFamily="34" charset="-120"/>
              </a:rPr>
              <a:t>0.58</a:t>
            </a:r>
            <a:endParaRPr lang="en-US" sz="6000" dirty="0"/>
          </a:p>
        </p:txBody>
      </p:sp>
      <p:sp>
        <p:nvSpPr>
          <p:cNvPr id="24" name="Text 21"/>
          <p:cNvSpPr/>
          <p:nvPr/>
        </p:nvSpPr>
        <p:spPr>
          <a:xfrm>
            <a:off x="9144000" y="3207990"/>
            <a:ext cx="204063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FC857"/>
                </a:solidFill>
                <a:latin typeface="DM Sans" pitchFamily="34" charset="0"/>
                <a:ea typeface="DM Sans" pitchFamily="34" charset="-122"/>
                <a:cs typeface="DM Sans" pitchFamily="34" charset="-120"/>
              </a:rPr>
              <a:t>Workout frequency</a:t>
            </a:r>
            <a:endParaRPr lang="en-US" sz="1600" dirty="0"/>
          </a:p>
        </p:txBody>
      </p:sp>
      <p:sp>
        <p:nvSpPr>
          <p:cNvPr id="25" name="Text 22"/>
          <p:cNvSpPr/>
          <p:nvPr/>
        </p:nvSpPr>
        <p:spPr>
          <a:xfrm>
            <a:off x="9144000" y="3568650"/>
            <a:ext cx="2040636"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E3D3"/>
                </a:solidFill>
                <a:latin typeface="DM Sans" pitchFamily="34" charset="0"/>
                <a:ea typeface="DM Sans" pitchFamily="34" charset="-122"/>
                <a:cs typeface="DM Sans" pitchFamily="34" charset="-120"/>
              </a:rPr>
              <a:t>People who train more often burn more</a:t>
            </a:r>
            <a:endParaRPr lang="en-US" sz="1300" dirty="0"/>
          </a:p>
        </p:txBody>
      </p:sp>
      <p:sp>
        <p:nvSpPr>
          <p:cNvPr id="26" name="Text 23"/>
          <p:cNvSpPr/>
          <p:nvPr/>
        </p:nvSpPr>
        <p:spPr>
          <a:xfrm>
            <a:off x="812800" y="4538911"/>
            <a:ext cx="10883392"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E3D3"/>
                </a:solidFill>
                <a:latin typeface="DM Sans" pitchFamily="34" charset="0"/>
                <a:ea typeface="DM Sans" pitchFamily="34" charset="-122"/>
                <a:cs typeface="DM Sans" pitchFamily="34" charset="-120"/>
              </a:rPr>
              <a:t>Each number shows how closely a factor tracks calories burned, from −1 to 1 (Pearson r). BMI, max heart rate and resting heart rate barely mattered.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1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11604" b="11604"/>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14181F">
                  <a:alpha val="80000"/>
                </a:srgbClr>
              </a:gs>
              <a:gs pos="50000">
                <a:srgbClr val="14181F">
                  <a:alpha val="88000"/>
                </a:srgbClr>
              </a:gs>
              <a:gs pos="100000">
                <a:srgbClr val="14181F">
                  <a:alpha val="92000"/>
                </a:srgbClr>
              </a:gs>
            </a:gsLst>
            <a:lin ang="5400000" scaled="0"/>
          </a:gradFill>
          <a:ln/>
        </p:spPr>
        <p:txBody>
          <a:bodyPr/>
          <a:lstStyle/>
          <a:p>
            <a:endParaRPr lang="en-US"/>
          </a:p>
        </p:txBody>
      </p:sp>
      <p:sp>
        <p:nvSpPr>
          <p:cNvPr id="4" name="Text 1"/>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F6B35"/>
                </a:solidFill>
                <a:latin typeface="DM Sans" pitchFamily="34" charset="0"/>
                <a:ea typeface="DM Sans" pitchFamily="34" charset="-122"/>
                <a:cs typeface="DM Sans" pitchFamily="34" charset="-120"/>
              </a:rPr>
              <a:t>WHAT WE’LL DO</a:t>
            </a:r>
            <a:endParaRPr lang="en-US" sz="1300" dirty="0"/>
          </a:p>
        </p:txBody>
      </p:sp>
      <p:sp>
        <p:nvSpPr>
          <p:cNvPr id="5" name="Text 2"/>
          <p:cNvSpPr/>
          <p:nvPr/>
        </p:nvSpPr>
        <p:spPr>
          <a:xfrm>
            <a:off x="812800" y="129793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dirty="0">
                <a:gradFill rotWithShape="1">
                  <a:gsLst>
                    <a:gs pos="0">
                      <a:srgbClr val="FF6B35"/>
                    </a:gs>
                    <a:gs pos="100000">
                      <a:srgbClr val="FFC857"/>
                    </a:gs>
                  </a:gsLst>
                  <a:lin ang="0" scaled="0"/>
                </a:gradFill>
                <a:latin typeface="Oswald" pitchFamily="34" charset="0"/>
                <a:ea typeface="Oswald" pitchFamily="34" charset="-122"/>
                <a:cs typeface="Oswald" pitchFamily="34" charset="-120"/>
              </a:rPr>
              <a:t>Three questions we want to answer</a:t>
            </a:r>
            <a:endParaRPr lang="en-US" sz="3600" dirty="0"/>
          </a:p>
        </p:txBody>
      </p:sp>
      <p:sp>
        <p:nvSpPr>
          <p:cNvPr id="6" name="Shape 3"/>
          <p:cNvSpPr/>
          <p:nvPr/>
        </p:nvSpPr>
        <p:spPr>
          <a:xfrm>
            <a:off x="812800" y="2077690"/>
            <a:ext cx="3386634" cy="2682081"/>
          </a:xfrm>
          <a:prstGeom prst="roundRect">
            <a:avLst>
              <a:gd name="adj" fmla="val 3788"/>
            </a:avLst>
          </a:prstGeom>
          <a:solidFill>
            <a:srgbClr val="1E242D">
              <a:alpha val="80000"/>
            </a:srgbClr>
          </a:solidFill>
          <a:ln/>
        </p:spPr>
        <p:txBody>
          <a:bodyPr/>
          <a:lstStyle/>
          <a:p>
            <a:endParaRPr lang="en-US"/>
          </a:p>
        </p:txBody>
      </p:sp>
      <p:sp>
        <p:nvSpPr>
          <p:cNvPr id="7" name="Shape 4"/>
          <p:cNvSpPr/>
          <p:nvPr/>
        </p:nvSpPr>
        <p:spPr>
          <a:xfrm>
            <a:off x="812800" y="2077690"/>
            <a:ext cx="3386634" cy="2682081"/>
          </a:xfrm>
          <a:custGeom>
            <a:avLst/>
            <a:gdLst/>
            <a:ahLst/>
            <a:cxnLst/>
            <a:rect l="l" t="t" r="r" b="b"/>
            <a:pathLst>
              <a:path w="3386634" h="2682081">
                <a:moveTo>
                  <a:pt x="0" y="101600"/>
                </a:moveTo>
                <a:lnTo>
                  <a:pt x="0" y="101600"/>
                </a:lnTo>
                <a:arcTo wR="101600" hR="101600" stAng="10800000" swAng="5400000"/>
                <a:lnTo>
                  <a:pt x="3285034" y="0"/>
                </a:lnTo>
                <a:arcTo wR="101600" hR="101600" stAng="16200000" swAng="5400000"/>
                <a:lnTo>
                  <a:pt x="3386634" y="101600"/>
                </a:lnTo>
                <a:arcTo wR="101600" hR="63500" stAng="0" swAng="-5400000"/>
                <a:lnTo>
                  <a:pt x="101600" y="38100"/>
                </a:lnTo>
                <a:arcTo wR="101600" hR="63500" stAng="16200000" swAng="-5400000"/>
                <a:close/>
              </a:path>
            </a:pathLst>
          </a:custGeom>
          <a:solidFill>
            <a:srgbClr val="FF6B35"/>
          </a:solidFill>
          <a:ln/>
        </p:spPr>
        <p:txBody>
          <a:bodyPr/>
          <a:lstStyle/>
          <a:p>
            <a:endParaRPr lang="en-US"/>
          </a:p>
        </p:txBody>
      </p:sp>
      <p:sp>
        <p:nvSpPr>
          <p:cNvPr id="8" name="Text 5"/>
          <p:cNvSpPr/>
          <p:nvPr/>
        </p:nvSpPr>
        <p:spPr>
          <a:xfrm>
            <a:off x="1066800" y="2369790"/>
            <a:ext cx="296499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6B35"/>
                </a:solidFill>
                <a:latin typeface="DM Sans" pitchFamily="34" charset="0"/>
                <a:ea typeface="DM Sans" pitchFamily="34" charset="-122"/>
                <a:cs typeface="DM Sans" pitchFamily="34" charset="-120"/>
              </a:rPr>
              <a:t>CLASSIFICATION</a:t>
            </a:r>
            <a:endParaRPr lang="en-US" sz="1200" dirty="0"/>
          </a:p>
        </p:txBody>
      </p:sp>
      <p:sp>
        <p:nvSpPr>
          <p:cNvPr id="9" name="Text 6"/>
          <p:cNvSpPr/>
          <p:nvPr/>
        </p:nvSpPr>
        <p:spPr>
          <a:xfrm>
            <a:off x="1066800" y="2684711"/>
            <a:ext cx="2964993"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C857"/>
                </a:solidFill>
                <a:latin typeface="DM Sans" pitchFamily="34" charset="0"/>
                <a:ea typeface="DM Sans" pitchFamily="34" charset="-122"/>
                <a:cs typeface="DM Sans" pitchFamily="34" charset="-120"/>
              </a:rPr>
              <a:t>Will a workout burn a little, a lot, or in between?</a:t>
            </a:r>
            <a:endParaRPr lang="en-US" sz="1600" dirty="0"/>
          </a:p>
        </p:txBody>
      </p:sp>
      <p:sp>
        <p:nvSpPr>
          <p:cNvPr id="10" name="Text 7"/>
          <p:cNvSpPr/>
          <p:nvPr/>
        </p:nvSpPr>
        <p:spPr>
          <a:xfrm>
            <a:off x="1066800" y="3294311"/>
            <a:ext cx="2964993" cy="98286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BE3D3"/>
                </a:solidFill>
                <a:latin typeface="DM Sans" pitchFamily="34" charset="0"/>
                <a:ea typeface="DM Sans" pitchFamily="34" charset="-122"/>
                <a:cs typeface="DM Sans" pitchFamily="34" charset="-120"/>
              </a:rPr>
              <a:t>We’ll sort workouts into Low (under 500 kcal), Medium (500–900) or High (over 900) and predict which group a session lands in.</a:t>
            </a:r>
            <a:endParaRPr lang="en-US" sz="1300" dirty="0"/>
          </a:p>
        </p:txBody>
      </p:sp>
      <p:sp>
        <p:nvSpPr>
          <p:cNvPr id="11" name="Shape 8"/>
          <p:cNvSpPr/>
          <p:nvPr/>
        </p:nvSpPr>
        <p:spPr>
          <a:xfrm>
            <a:off x="4402634" y="2077690"/>
            <a:ext cx="3386683" cy="2682081"/>
          </a:xfrm>
          <a:prstGeom prst="roundRect">
            <a:avLst>
              <a:gd name="adj" fmla="val 3788"/>
            </a:avLst>
          </a:prstGeom>
          <a:solidFill>
            <a:srgbClr val="1E242D">
              <a:alpha val="80000"/>
            </a:srgbClr>
          </a:solidFill>
          <a:ln/>
        </p:spPr>
        <p:txBody>
          <a:bodyPr/>
          <a:lstStyle/>
          <a:p>
            <a:endParaRPr lang="en-US"/>
          </a:p>
        </p:txBody>
      </p:sp>
      <p:sp>
        <p:nvSpPr>
          <p:cNvPr id="12" name="Shape 9"/>
          <p:cNvSpPr/>
          <p:nvPr/>
        </p:nvSpPr>
        <p:spPr>
          <a:xfrm>
            <a:off x="4402634" y="2077690"/>
            <a:ext cx="3386683" cy="2682081"/>
          </a:xfrm>
          <a:custGeom>
            <a:avLst/>
            <a:gdLst/>
            <a:ahLst/>
            <a:cxnLst/>
            <a:rect l="l" t="t" r="r" b="b"/>
            <a:pathLst>
              <a:path w="3386683" h="2682081">
                <a:moveTo>
                  <a:pt x="0" y="101600"/>
                </a:moveTo>
                <a:lnTo>
                  <a:pt x="0" y="101600"/>
                </a:lnTo>
                <a:arcTo wR="101600" hR="101600" stAng="10800000" swAng="5400000"/>
                <a:lnTo>
                  <a:pt x="3285083" y="0"/>
                </a:lnTo>
                <a:arcTo wR="101600" hR="101600" stAng="16200000" swAng="5400000"/>
                <a:lnTo>
                  <a:pt x="3386683" y="101600"/>
                </a:lnTo>
                <a:arcTo wR="101600" hR="63500" stAng="0" swAng="-5400000"/>
                <a:lnTo>
                  <a:pt x="101600" y="38100"/>
                </a:lnTo>
                <a:arcTo wR="101600" hR="63500" stAng="16200000" swAng="-5400000"/>
                <a:close/>
              </a:path>
            </a:pathLst>
          </a:custGeom>
          <a:solidFill>
            <a:srgbClr val="FF6B35"/>
          </a:solidFill>
          <a:ln/>
        </p:spPr>
        <p:txBody>
          <a:bodyPr/>
          <a:lstStyle/>
          <a:p>
            <a:endParaRPr lang="en-US"/>
          </a:p>
        </p:txBody>
      </p:sp>
      <p:sp>
        <p:nvSpPr>
          <p:cNvPr id="13" name="Text 10"/>
          <p:cNvSpPr/>
          <p:nvPr/>
        </p:nvSpPr>
        <p:spPr>
          <a:xfrm>
            <a:off x="4656634" y="2369790"/>
            <a:ext cx="2965044"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6B35"/>
                </a:solidFill>
                <a:latin typeface="DM Sans" pitchFamily="34" charset="0"/>
                <a:ea typeface="DM Sans" pitchFamily="34" charset="-122"/>
                <a:cs typeface="DM Sans" pitchFamily="34" charset="-120"/>
              </a:rPr>
              <a:t>ASSOCIATION RULES</a:t>
            </a:r>
            <a:endParaRPr lang="en-US" sz="1200" dirty="0"/>
          </a:p>
        </p:txBody>
      </p:sp>
      <p:sp>
        <p:nvSpPr>
          <p:cNvPr id="14" name="Text 11"/>
          <p:cNvSpPr/>
          <p:nvPr/>
        </p:nvSpPr>
        <p:spPr>
          <a:xfrm>
            <a:off x="4656634" y="2684711"/>
            <a:ext cx="2965044" cy="787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C857"/>
                </a:solidFill>
                <a:latin typeface="DM Sans" pitchFamily="34" charset="0"/>
                <a:ea typeface="DM Sans" pitchFamily="34" charset="-122"/>
                <a:cs typeface="DM Sans" pitchFamily="34" charset="-120"/>
              </a:rPr>
              <a:t>Which habits show up together in big-burn workouts?</a:t>
            </a:r>
            <a:endParaRPr lang="en-US" sz="1600" dirty="0"/>
          </a:p>
        </p:txBody>
      </p:sp>
      <p:sp>
        <p:nvSpPr>
          <p:cNvPr id="15" name="Text 12"/>
          <p:cNvSpPr/>
          <p:nvPr/>
        </p:nvSpPr>
        <p:spPr>
          <a:xfrm>
            <a:off x="4656634" y="3548311"/>
            <a:ext cx="2965044" cy="98286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BE3D3"/>
                </a:solidFill>
                <a:latin typeface="DM Sans" pitchFamily="34" charset="0"/>
                <a:ea typeface="DM Sans" pitchFamily="34" charset="-122"/>
                <a:cs typeface="DM Sans" pitchFamily="34" charset="-120"/>
              </a:rPr>
              <a:t>We’ll look for patterns like long session + expert + low body fat → high calories. Simple “if this, then that” rules anyone can read.</a:t>
            </a:r>
            <a:endParaRPr lang="en-US" sz="1300" dirty="0"/>
          </a:p>
        </p:txBody>
      </p:sp>
      <p:sp>
        <p:nvSpPr>
          <p:cNvPr id="16" name="Shape 13"/>
          <p:cNvSpPr/>
          <p:nvPr/>
        </p:nvSpPr>
        <p:spPr>
          <a:xfrm>
            <a:off x="7992517" y="2077690"/>
            <a:ext cx="3386683" cy="2682081"/>
          </a:xfrm>
          <a:prstGeom prst="roundRect">
            <a:avLst>
              <a:gd name="adj" fmla="val 3788"/>
            </a:avLst>
          </a:prstGeom>
          <a:solidFill>
            <a:srgbClr val="1E242D">
              <a:alpha val="80000"/>
            </a:srgbClr>
          </a:solidFill>
          <a:ln/>
        </p:spPr>
        <p:txBody>
          <a:bodyPr/>
          <a:lstStyle/>
          <a:p>
            <a:endParaRPr lang="en-US"/>
          </a:p>
        </p:txBody>
      </p:sp>
      <p:sp>
        <p:nvSpPr>
          <p:cNvPr id="17" name="Shape 14"/>
          <p:cNvSpPr/>
          <p:nvPr/>
        </p:nvSpPr>
        <p:spPr>
          <a:xfrm>
            <a:off x="7992517" y="2077690"/>
            <a:ext cx="3386683" cy="2682081"/>
          </a:xfrm>
          <a:custGeom>
            <a:avLst/>
            <a:gdLst/>
            <a:ahLst/>
            <a:cxnLst/>
            <a:rect l="l" t="t" r="r" b="b"/>
            <a:pathLst>
              <a:path w="3386683" h="2682081">
                <a:moveTo>
                  <a:pt x="0" y="101600"/>
                </a:moveTo>
                <a:lnTo>
                  <a:pt x="0" y="101600"/>
                </a:lnTo>
                <a:arcTo wR="101600" hR="101600" stAng="10800000" swAng="5400000"/>
                <a:lnTo>
                  <a:pt x="3285083" y="0"/>
                </a:lnTo>
                <a:arcTo wR="101600" hR="101600" stAng="16200000" swAng="5400000"/>
                <a:lnTo>
                  <a:pt x="3386683" y="101600"/>
                </a:lnTo>
                <a:arcTo wR="101600" hR="63500" stAng="0" swAng="-5400000"/>
                <a:lnTo>
                  <a:pt x="101600" y="38100"/>
                </a:lnTo>
                <a:arcTo wR="101600" hR="63500" stAng="16200000" swAng="-5400000"/>
                <a:close/>
              </a:path>
            </a:pathLst>
          </a:custGeom>
          <a:solidFill>
            <a:srgbClr val="FF6B35"/>
          </a:solidFill>
          <a:ln/>
        </p:spPr>
        <p:txBody>
          <a:bodyPr/>
          <a:lstStyle/>
          <a:p>
            <a:endParaRPr lang="en-US"/>
          </a:p>
        </p:txBody>
      </p:sp>
      <p:sp>
        <p:nvSpPr>
          <p:cNvPr id="18" name="Text 15"/>
          <p:cNvSpPr/>
          <p:nvPr/>
        </p:nvSpPr>
        <p:spPr>
          <a:xfrm>
            <a:off x="8246517" y="2369790"/>
            <a:ext cx="2965044"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6B35"/>
                </a:solidFill>
                <a:latin typeface="DM Sans" pitchFamily="34" charset="0"/>
                <a:ea typeface="DM Sans" pitchFamily="34" charset="-122"/>
                <a:cs typeface="DM Sans" pitchFamily="34" charset="-120"/>
              </a:rPr>
              <a:t>CLUSTERING</a:t>
            </a:r>
            <a:endParaRPr lang="en-US" sz="1200" dirty="0"/>
          </a:p>
        </p:txBody>
      </p:sp>
      <p:sp>
        <p:nvSpPr>
          <p:cNvPr id="19" name="Text 16"/>
          <p:cNvSpPr/>
          <p:nvPr/>
        </p:nvSpPr>
        <p:spPr>
          <a:xfrm>
            <a:off x="8246517" y="2684711"/>
            <a:ext cx="2965044"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C857"/>
                </a:solidFill>
                <a:latin typeface="DM Sans" pitchFamily="34" charset="0"/>
                <a:ea typeface="DM Sans" pitchFamily="34" charset="-122"/>
                <a:cs typeface="DM Sans" pitchFamily="34" charset="-120"/>
              </a:rPr>
              <a:t>What kinds of workouts naturally group together?</a:t>
            </a:r>
            <a:endParaRPr lang="en-US" sz="1600" dirty="0"/>
          </a:p>
        </p:txBody>
      </p:sp>
      <p:sp>
        <p:nvSpPr>
          <p:cNvPr id="20" name="Text 17"/>
          <p:cNvSpPr/>
          <p:nvPr/>
        </p:nvSpPr>
        <p:spPr>
          <a:xfrm>
            <a:off x="8246517" y="3294311"/>
            <a:ext cx="2965044" cy="98286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BE3D3"/>
                </a:solidFill>
                <a:latin typeface="DM Sans" pitchFamily="34" charset="0"/>
                <a:ea typeface="DM Sans" pitchFamily="34" charset="-122"/>
                <a:cs typeface="DM Sans" pitchFamily="34" charset="-120"/>
              </a:rPr>
              <a:t>Instead of picking calorie cutoffs ourselves, we’ll let the data group similar workouts and see what types show up.</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81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21799" b="21799"/>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14181F">
                  <a:alpha val="95000"/>
                </a:srgbClr>
              </a:gs>
              <a:gs pos="45000">
                <a:srgbClr val="14181F">
                  <a:alpha val="86000"/>
                </a:srgbClr>
              </a:gs>
              <a:gs pos="100000">
                <a:srgbClr val="14181F">
                  <a:alpha val="80000"/>
                </a:srgbClr>
              </a:gs>
            </a:gsLst>
            <a:lin ang="0" scaled="0"/>
          </a:gradFill>
          <a:ln/>
        </p:spPr>
        <p:txBody>
          <a:bodyPr/>
          <a:lstStyle/>
          <a:p>
            <a:endParaRPr lang="en-US"/>
          </a:p>
        </p:txBody>
      </p:sp>
      <p:sp>
        <p:nvSpPr>
          <p:cNvPr id="4" name="Text 1"/>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F6B35"/>
                </a:solidFill>
                <a:latin typeface="DM Sans" pitchFamily="34" charset="0"/>
                <a:ea typeface="DM Sans" pitchFamily="34" charset="-122"/>
                <a:cs typeface="DM Sans" pitchFamily="34" charset="-120"/>
              </a:rPr>
              <a:t>OUR DATA</a:t>
            </a:r>
            <a:endParaRPr lang="en-US" sz="1300" dirty="0"/>
          </a:p>
        </p:txBody>
      </p:sp>
      <p:sp>
        <p:nvSpPr>
          <p:cNvPr id="5" name="Text 2"/>
          <p:cNvSpPr/>
          <p:nvPr/>
        </p:nvSpPr>
        <p:spPr>
          <a:xfrm>
            <a:off x="812800" y="129793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dirty="0">
                <a:gradFill rotWithShape="1">
                  <a:gsLst>
                    <a:gs pos="0">
                      <a:srgbClr val="FF6B35"/>
                    </a:gs>
                    <a:gs pos="100000">
                      <a:srgbClr val="FFC857"/>
                    </a:gs>
                  </a:gsLst>
                  <a:lin ang="0" scaled="0"/>
                </a:gradFill>
                <a:latin typeface="Oswald" pitchFamily="34" charset="0"/>
                <a:ea typeface="Oswald" pitchFamily="34" charset="-122"/>
                <a:cs typeface="Oswald" pitchFamily="34" charset="-120"/>
              </a:rPr>
              <a:t>Gym Members Exercise Tracking Dataset</a:t>
            </a:r>
            <a:endParaRPr lang="en-US" sz="3600" dirty="0"/>
          </a:p>
        </p:txBody>
      </p:sp>
      <p:sp>
        <p:nvSpPr>
          <p:cNvPr id="6" name="Text 3"/>
          <p:cNvSpPr/>
          <p:nvPr/>
        </p:nvSpPr>
        <p:spPr>
          <a:xfrm>
            <a:off x="812800" y="2077690"/>
            <a:ext cx="3662680"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F6B35"/>
                </a:solidFill>
                <a:latin typeface="Oswald" pitchFamily="34" charset="0"/>
                <a:ea typeface="Oswald" pitchFamily="34" charset="-122"/>
                <a:cs typeface="Oswald" pitchFamily="34" charset="-120"/>
              </a:rPr>
              <a:t>973</a:t>
            </a:r>
            <a:endParaRPr lang="en-US" sz="6000" dirty="0"/>
          </a:p>
        </p:txBody>
      </p:sp>
      <p:sp>
        <p:nvSpPr>
          <p:cNvPr id="7" name="Text 4"/>
          <p:cNvSpPr/>
          <p:nvPr/>
        </p:nvSpPr>
        <p:spPr>
          <a:xfrm>
            <a:off x="812800" y="2865090"/>
            <a:ext cx="366268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E3D3"/>
                </a:solidFill>
                <a:latin typeface="DM Sans" pitchFamily="34" charset="0"/>
                <a:ea typeface="DM Sans" pitchFamily="34" charset="-122"/>
                <a:cs typeface="DM Sans" pitchFamily="34" charset="-120"/>
              </a:rPr>
              <a:t>workout sessions</a:t>
            </a:r>
            <a:endParaRPr lang="en-US" sz="1300" dirty="0"/>
          </a:p>
        </p:txBody>
      </p:sp>
      <p:sp>
        <p:nvSpPr>
          <p:cNvPr id="8" name="Text 5"/>
          <p:cNvSpPr/>
          <p:nvPr/>
        </p:nvSpPr>
        <p:spPr>
          <a:xfrm>
            <a:off x="812800" y="3248620"/>
            <a:ext cx="3662680"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F6B35"/>
                </a:solidFill>
                <a:latin typeface="Oswald" pitchFamily="34" charset="0"/>
                <a:ea typeface="Oswald" pitchFamily="34" charset="-122"/>
                <a:cs typeface="Oswald" pitchFamily="34" charset="-120"/>
              </a:rPr>
              <a:t>15</a:t>
            </a:r>
            <a:endParaRPr lang="en-US" sz="6000" dirty="0"/>
          </a:p>
        </p:txBody>
      </p:sp>
      <p:sp>
        <p:nvSpPr>
          <p:cNvPr id="9" name="Text 6"/>
          <p:cNvSpPr/>
          <p:nvPr/>
        </p:nvSpPr>
        <p:spPr>
          <a:xfrm>
            <a:off x="812800" y="4036020"/>
            <a:ext cx="366268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E3D3"/>
                </a:solidFill>
                <a:latin typeface="DM Sans" pitchFamily="34" charset="0"/>
                <a:ea typeface="DM Sans" pitchFamily="34" charset="-122"/>
                <a:cs typeface="DM Sans" pitchFamily="34" charset="-120"/>
              </a:rPr>
              <a:t>details recorded for each one</a:t>
            </a:r>
            <a:endParaRPr lang="en-US" sz="1300" dirty="0"/>
          </a:p>
        </p:txBody>
      </p:sp>
      <p:sp>
        <p:nvSpPr>
          <p:cNvPr id="10" name="Text 7"/>
          <p:cNvSpPr/>
          <p:nvPr/>
        </p:nvSpPr>
        <p:spPr>
          <a:xfrm>
            <a:off x="812800" y="4419550"/>
            <a:ext cx="3662680" cy="71879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BE3D3"/>
                </a:solidFill>
                <a:latin typeface="DM Sans" pitchFamily="34" charset="0"/>
                <a:ea typeface="DM Sans" pitchFamily="34" charset="-122"/>
                <a:cs typeface="DM Sans" pitchFamily="34" charset="-120"/>
              </a:rPr>
              <a:t>Source: Kaggle</a:t>
            </a:r>
            <a:endParaRPr lang="en-US" sz="1300" dirty="0"/>
          </a:p>
          <a:p>
            <a:pPr marL="0" indent="0" algn="l">
              <a:lnSpc>
                <a:spcPts val="1820"/>
              </a:lnSpc>
              <a:buNone/>
            </a:pPr>
            <a:r>
              <a:rPr lang="en-US" sz="1300" u="sng" dirty="0">
                <a:solidFill>
                  <a:srgbClr val="FBE3D3"/>
                </a:solidFill>
                <a:latin typeface="DM Sans" pitchFamily="34" charset="0"/>
                <a:ea typeface="DM Sans" pitchFamily="34" charset="-122"/>
                <a:cs typeface="DM Sans" pitchFamily="34" charset="-120"/>
                <a:hlinkClick r:id="rId4">
                  <a:extLst>
                    <a:ext uri="{A12FA001-AC4F-418D-AE19-62706E023703}">
                      <ahyp:hlinkClr xmlns:ahyp="http://schemas.microsoft.com/office/drawing/2018/hyperlinkcolor" val="tx"/>
                    </a:ext>
                  </a:extLst>
                </a:hlinkClick>
              </a:rPr>
              <a:t>kaggle.com/datasets/valakhorasani/</a:t>
            </a:r>
            <a:endParaRPr lang="en-US" sz="1300" dirty="0"/>
          </a:p>
          <a:p>
            <a:pPr marL="0" indent="0" algn="l">
              <a:lnSpc>
                <a:spcPts val="1820"/>
              </a:lnSpc>
              <a:buNone/>
            </a:pPr>
            <a:r>
              <a:rPr lang="en-US" sz="1300" u="sng" dirty="0">
                <a:solidFill>
                  <a:srgbClr val="FBE3D3"/>
                </a:solidFill>
                <a:latin typeface="DM Sans" pitchFamily="34" charset="0"/>
                <a:ea typeface="DM Sans" pitchFamily="34" charset="-122"/>
                <a:cs typeface="DM Sans" pitchFamily="34" charset="-120"/>
                <a:hlinkClick r:id="rId4">
                  <a:extLst>
                    <a:ext uri="{A12FA001-AC4F-418D-AE19-62706E023703}">
                      <ahyp:hlinkClr xmlns:ahyp="http://schemas.microsoft.com/office/drawing/2018/hyperlinkcolor" val="tx"/>
                    </a:ext>
                  </a:extLst>
                </a:hlinkClick>
              </a:rPr>
              <a:t>gym-members-exercise-dataset</a:t>
            </a:r>
            <a:endParaRPr lang="en-US" sz="1300" dirty="0"/>
          </a:p>
        </p:txBody>
      </p:sp>
      <p:sp>
        <p:nvSpPr>
          <p:cNvPr id="11" name="Shape 8"/>
          <p:cNvSpPr/>
          <p:nvPr/>
        </p:nvSpPr>
        <p:spPr>
          <a:xfrm>
            <a:off x="4673600" y="2077690"/>
            <a:ext cx="3276600" cy="1094730"/>
          </a:xfrm>
          <a:prstGeom prst="roundRect">
            <a:avLst>
              <a:gd name="adj" fmla="val 9281"/>
            </a:avLst>
          </a:prstGeom>
          <a:solidFill>
            <a:srgbClr val="1E242D"/>
          </a:solidFill>
          <a:ln/>
        </p:spPr>
        <p:txBody>
          <a:bodyPr/>
          <a:lstStyle/>
          <a:p>
            <a:endParaRPr lang="en-US"/>
          </a:p>
        </p:txBody>
      </p:sp>
      <p:sp>
        <p:nvSpPr>
          <p:cNvPr id="12" name="Text 9"/>
          <p:cNvSpPr/>
          <p:nvPr/>
        </p:nvSpPr>
        <p:spPr>
          <a:xfrm>
            <a:off x="4876800" y="2280890"/>
            <a:ext cx="295630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C857"/>
                </a:solidFill>
                <a:latin typeface="DM Sans" pitchFamily="34" charset="0"/>
                <a:ea typeface="DM Sans" pitchFamily="34" charset="-122"/>
                <a:cs typeface="DM Sans" pitchFamily="34" charset="-120"/>
              </a:rPr>
              <a:t>Demographics</a:t>
            </a:r>
            <a:endParaRPr lang="en-US" sz="1600" dirty="0"/>
          </a:p>
        </p:txBody>
      </p:sp>
      <p:sp>
        <p:nvSpPr>
          <p:cNvPr id="13" name="Text 10"/>
          <p:cNvSpPr/>
          <p:nvPr/>
        </p:nvSpPr>
        <p:spPr>
          <a:xfrm>
            <a:off x="4876800" y="2600920"/>
            <a:ext cx="2956306"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E3D3"/>
                </a:solidFill>
                <a:latin typeface="DM Sans" pitchFamily="34" charset="0"/>
                <a:ea typeface="DM Sans" pitchFamily="34" charset="-122"/>
                <a:cs typeface="DM Sans" pitchFamily="34" charset="-120"/>
              </a:rPr>
              <a:t>Age, Gender</a:t>
            </a:r>
            <a:endParaRPr lang="en-US" sz="1300" dirty="0"/>
          </a:p>
        </p:txBody>
      </p:sp>
      <p:sp>
        <p:nvSpPr>
          <p:cNvPr id="14" name="Shape 11"/>
          <p:cNvSpPr/>
          <p:nvPr/>
        </p:nvSpPr>
        <p:spPr>
          <a:xfrm>
            <a:off x="8102600" y="2077690"/>
            <a:ext cx="3276600" cy="1094730"/>
          </a:xfrm>
          <a:prstGeom prst="roundRect">
            <a:avLst>
              <a:gd name="adj" fmla="val 9281"/>
            </a:avLst>
          </a:prstGeom>
          <a:solidFill>
            <a:srgbClr val="1E242D"/>
          </a:solidFill>
          <a:ln/>
        </p:spPr>
        <p:txBody>
          <a:bodyPr/>
          <a:lstStyle/>
          <a:p>
            <a:endParaRPr lang="en-US"/>
          </a:p>
        </p:txBody>
      </p:sp>
      <p:sp>
        <p:nvSpPr>
          <p:cNvPr id="15" name="Text 12"/>
          <p:cNvSpPr/>
          <p:nvPr/>
        </p:nvSpPr>
        <p:spPr>
          <a:xfrm>
            <a:off x="8305800" y="2280890"/>
            <a:ext cx="295630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C857"/>
                </a:solidFill>
                <a:latin typeface="DM Sans" pitchFamily="34" charset="0"/>
                <a:ea typeface="DM Sans" pitchFamily="34" charset="-122"/>
                <a:cs typeface="DM Sans" pitchFamily="34" charset="-120"/>
              </a:rPr>
              <a:t>Body composition</a:t>
            </a:r>
            <a:endParaRPr lang="en-US" sz="1600" dirty="0"/>
          </a:p>
        </p:txBody>
      </p:sp>
      <p:sp>
        <p:nvSpPr>
          <p:cNvPr id="16" name="Text 13"/>
          <p:cNvSpPr/>
          <p:nvPr/>
        </p:nvSpPr>
        <p:spPr>
          <a:xfrm>
            <a:off x="8305800" y="2600920"/>
            <a:ext cx="2956306"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E3D3"/>
                </a:solidFill>
                <a:latin typeface="DM Sans" pitchFamily="34" charset="0"/>
                <a:ea typeface="DM Sans" pitchFamily="34" charset="-122"/>
                <a:cs typeface="DM Sans" pitchFamily="34" charset="-120"/>
              </a:rPr>
              <a:t>Weight, Height, BMI, Fat_Percentage</a:t>
            </a:r>
            <a:endParaRPr lang="en-US" sz="1300" dirty="0"/>
          </a:p>
        </p:txBody>
      </p:sp>
      <p:sp>
        <p:nvSpPr>
          <p:cNvPr id="17" name="Shape 14"/>
          <p:cNvSpPr/>
          <p:nvPr/>
        </p:nvSpPr>
        <p:spPr>
          <a:xfrm>
            <a:off x="4673600" y="3324820"/>
            <a:ext cx="3276600" cy="1788120"/>
          </a:xfrm>
          <a:prstGeom prst="roundRect">
            <a:avLst>
              <a:gd name="adj" fmla="val 5682"/>
            </a:avLst>
          </a:prstGeom>
          <a:solidFill>
            <a:srgbClr val="1E242D"/>
          </a:solidFill>
          <a:ln/>
        </p:spPr>
        <p:txBody>
          <a:bodyPr/>
          <a:lstStyle/>
          <a:p>
            <a:endParaRPr lang="en-US"/>
          </a:p>
        </p:txBody>
      </p:sp>
      <p:sp>
        <p:nvSpPr>
          <p:cNvPr id="18" name="Text 15"/>
          <p:cNvSpPr/>
          <p:nvPr/>
        </p:nvSpPr>
        <p:spPr>
          <a:xfrm>
            <a:off x="4876800" y="3528020"/>
            <a:ext cx="295630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C857"/>
                </a:solidFill>
                <a:latin typeface="DM Sans" pitchFamily="34" charset="0"/>
                <a:ea typeface="DM Sans" pitchFamily="34" charset="-122"/>
                <a:cs typeface="DM Sans" pitchFamily="34" charset="-120"/>
              </a:rPr>
              <a:t>Heart rate</a:t>
            </a:r>
            <a:endParaRPr lang="en-US" sz="1600" dirty="0"/>
          </a:p>
        </p:txBody>
      </p:sp>
      <p:sp>
        <p:nvSpPr>
          <p:cNvPr id="19" name="Text 16"/>
          <p:cNvSpPr/>
          <p:nvPr/>
        </p:nvSpPr>
        <p:spPr>
          <a:xfrm>
            <a:off x="4876800" y="3848050"/>
            <a:ext cx="2956306"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E3D3"/>
                </a:solidFill>
                <a:latin typeface="DM Sans" pitchFamily="34" charset="0"/>
                <a:ea typeface="DM Sans" pitchFamily="34" charset="-122"/>
                <a:cs typeface="DM Sans" pitchFamily="34" charset="-120"/>
              </a:rPr>
              <a:t>Max_BPM, Avg_BPM, Resting_BPM</a:t>
            </a:r>
            <a:endParaRPr lang="en-US" sz="1300" dirty="0"/>
          </a:p>
        </p:txBody>
      </p:sp>
      <p:sp>
        <p:nvSpPr>
          <p:cNvPr id="20" name="Shape 17"/>
          <p:cNvSpPr/>
          <p:nvPr/>
        </p:nvSpPr>
        <p:spPr>
          <a:xfrm>
            <a:off x="8102600" y="3324820"/>
            <a:ext cx="3276600" cy="1788120"/>
          </a:xfrm>
          <a:prstGeom prst="roundRect">
            <a:avLst>
              <a:gd name="adj" fmla="val 5682"/>
            </a:avLst>
          </a:prstGeom>
          <a:solidFill>
            <a:srgbClr val="1E242D"/>
          </a:solidFill>
          <a:ln/>
        </p:spPr>
        <p:txBody>
          <a:bodyPr/>
          <a:lstStyle/>
          <a:p>
            <a:endParaRPr lang="en-US"/>
          </a:p>
        </p:txBody>
      </p:sp>
      <p:sp>
        <p:nvSpPr>
          <p:cNvPr id="21" name="Text 18"/>
          <p:cNvSpPr/>
          <p:nvPr/>
        </p:nvSpPr>
        <p:spPr>
          <a:xfrm>
            <a:off x="8305800" y="3528020"/>
            <a:ext cx="295630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C857"/>
                </a:solidFill>
                <a:latin typeface="DM Sans" pitchFamily="34" charset="0"/>
                <a:ea typeface="DM Sans" pitchFamily="34" charset="-122"/>
                <a:cs typeface="DM Sans" pitchFamily="34" charset="-120"/>
              </a:rPr>
              <a:t>Workout habits</a:t>
            </a:r>
            <a:endParaRPr lang="en-US" sz="1600" dirty="0"/>
          </a:p>
        </p:txBody>
      </p:sp>
      <p:sp>
        <p:nvSpPr>
          <p:cNvPr id="22" name="Text 19"/>
          <p:cNvSpPr/>
          <p:nvPr/>
        </p:nvSpPr>
        <p:spPr>
          <a:xfrm>
            <a:off x="8305800" y="3848050"/>
            <a:ext cx="2956306" cy="9499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E3D3"/>
                </a:solidFill>
                <a:latin typeface="DM Sans" pitchFamily="34" charset="0"/>
                <a:ea typeface="DM Sans" pitchFamily="34" charset="-122"/>
                <a:cs typeface="DM Sans" pitchFamily="34" charset="-120"/>
              </a:rPr>
              <a:t>Session_Duration, Calories_Burned, Workout_Type, Water_Intake, Workout_Frequency, Experience_Level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81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F6B35"/>
                </a:solidFill>
                <a:latin typeface="DM Sans" pitchFamily="34" charset="0"/>
                <a:ea typeface="DM Sans" pitchFamily="34" charset="-122"/>
                <a:cs typeface="DM Sans" pitchFamily="34" charset="-120"/>
              </a:rPr>
              <a:t>PRIOR WORK</a:t>
            </a:r>
            <a:endParaRPr lang="en-US" sz="1300" dirty="0"/>
          </a:p>
        </p:txBody>
      </p:sp>
      <p:sp>
        <p:nvSpPr>
          <p:cNvPr id="3" name="Text 1"/>
          <p:cNvSpPr/>
          <p:nvPr/>
        </p:nvSpPr>
        <p:spPr>
          <a:xfrm>
            <a:off x="812800" y="129793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dirty="0">
                <a:gradFill rotWithShape="1">
                  <a:gsLst>
                    <a:gs pos="0">
                      <a:srgbClr val="FF6B35"/>
                    </a:gs>
                    <a:gs pos="100000">
                      <a:srgbClr val="FFC857"/>
                    </a:gs>
                  </a:gsLst>
                  <a:lin ang="0" scaled="0"/>
                </a:gradFill>
                <a:latin typeface="Oswald" pitchFamily="34" charset="0"/>
                <a:ea typeface="Oswald" pitchFamily="34" charset="-122"/>
                <a:cs typeface="Oswald" pitchFamily="34" charset="-120"/>
              </a:rPr>
              <a:t>What others have done</a:t>
            </a:r>
            <a:endParaRPr lang="en-US" sz="3600" dirty="0"/>
          </a:p>
        </p:txBody>
      </p:sp>
      <p:sp>
        <p:nvSpPr>
          <p:cNvPr id="4" name="Shape 2"/>
          <p:cNvSpPr/>
          <p:nvPr/>
        </p:nvSpPr>
        <p:spPr>
          <a:xfrm>
            <a:off x="812800" y="2077690"/>
            <a:ext cx="5181600" cy="2918222"/>
          </a:xfrm>
          <a:prstGeom prst="roundRect">
            <a:avLst>
              <a:gd name="adj" fmla="val 3482"/>
            </a:avLst>
          </a:prstGeom>
          <a:solidFill>
            <a:srgbClr val="1E242D"/>
          </a:solidFill>
          <a:ln/>
        </p:spPr>
        <p:txBody>
          <a:bodyPr/>
          <a:lstStyle/>
          <a:p>
            <a:endParaRPr lang="en-US"/>
          </a:p>
        </p:txBody>
      </p:sp>
      <p:sp>
        <p:nvSpPr>
          <p:cNvPr id="5" name="Shape 3"/>
          <p:cNvSpPr/>
          <p:nvPr/>
        </p:nvSpPr>
        <p:spPr>
          <a:xfrm>
            <a:off x="812800" y="2077690"/>
            <a:ext cx="5181600" cy="2918222"/>
          </a:xfrm>
          <a:custGeom>
            <a:avLst/>
            <a:gdLst/>
            <a:ahLst/>
            <a:cxnLst/>
            <a:rect l="l" t="t" r="r" b="b"/>
            <a:pathLst>
              <a:path w="5181600" h="2918222">
                <a:moveTo>
                  <a:pt x="0" y="101600"/>
                </a:moveTo>
                <a:lnTo>
                  <a:pt x="0" y="101600"/>
                </a:lnTo>
                <a:arcTo wR="101600" hR="101600" stAng="10800000" swAng="5400000"/>
                <a:lnTo>
                  <a:pt x="5080000" y="0"/>
                </a:lnTo>
                <a:arcTo wR="101600" hR="101600" stAng="16200000" swAng="5400000"/>
                <a:lnTo>
                  <a:pt x="5181600" y="101600"/>
                </a:lnTo>
                <a:arcTo wR="101600" hR="63500" stAng="0" swAng="-5400000"/>
                <a:lnTo>
                  <a:pt x="101600" y="38100"/>
                </a:lnTo>
                <a:arcTo wR="101600" hR="63500" stAng="16200000" swAng="-5400000"/>
                <a:close/>
              </a:path>
            </a:pathLst>
          </a:custGeom>
          <a:solidFill>
            <a:srgbClr val="FF6B35"/>
          </a:solidFill>
          <a:ln/>
        </p:spPr>
        <p:txBody>
          <a:bodyPr/>
          <a:lstStyle/>
          <a:p>
            <a:endParaRPr lang="en-US"/>
          </a:p>
        </p:txBody>
      </p:sp>
      <p:sp>
        <p:nvSpPr>
          <p:cNvPr id="6" name="Text 4"/>
          <p:cNvSpPr/>
          <p:nvPr/>
        </p:nvSpPr>
        <p:spPr>
          <a:xfrm>
            <a:off x="1066800" y="2369790"/>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6B35"/>
                </a:solidFill>
                <a:latin typeface="DM Sans" pitchFamily="34" charset="0"/>
                <a:ea typeface="DM Sans" pitchFamily="34" charset="-122"/>
                <a:cs typeface="DM Sans" pitchFamily="34" charset="-120"/>
              </a:rPr>
              <a:t>KAGGLE NOTEBOOK · MARC DUMAGUIN</a:t>
            </a:r>
            <a:endParaRPr lang="en-US" sz="1200" dirty="0"/>
          </a:p>
        </p:txBody>
      </p:sp>
      <p:sp>
        <p:nvSpPr>
          <p:cNvPr id="7" name="Text 5"/>
          <p:cNvSpPr/>
          <p:nvPr/>
        </p:nvSpPr>
        <p:spPr>
          <a:xfrm>
            <a:off x="1066800" y="2672011"/>
            <a:ext cx="4813808"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C857"/>
                </a:solidFill>
                <a:latin typeface="DM Sans" pitchFamily="34" charset="0"/>
                <a:ea typeface="DM Sans" pitchFamily="34" charset="-122"/>
                <a:cs typeface="DM Sans" pitchFamily="34" charset="-120"/>
              </a:rPr>
              <a:t>Linear Regression + Gradio User Input: Calories Burned</a:t>
            </a:r>
            <a:endParaRPr lang="en-US" sz="1600" dirty="0"/>
          </a:p>
        </p:txBody>
      </p:sp>
      <p:sp>
        <p:nvSpPr>
          <p:cNvPr id="8" name="Text 6"/>
          <p:cNvSpPr/>
          <p:nvPr/>
        </p:nvSpPr>
        <p:spPr>
          <a:xfrm>
            <a:off x="1066800" y="3268911"/>
            <a:ext cx="4813808" cy="98286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BE3D3"/>
                </a:solidFill>
                <a:latin typeface="DM Sans" pitchFamily="34" charset="0"/>
                <a:ea typeface="DM Sans" pitchFamily="34" charset="-122"/>
                <a:cs typeface="DM Sans" pitchFamily="34" charset="-120"/>
              </a:rPr>
              <a:t>Marc used a simple linear regression on weight, height, heart rate, workout length and frequency to predict calories burned, then built a small app where you type in your own numbers.</a:t>
            </a:r>
            <a:endParaRPr lang="en-US" sz="1300" dirty="0"/>
          </a:p>
        </p:txBody>
      </p:sp>
      <p:sp>
        <p:nvSpPr>
          <p:cNvPr id="9" name="Text 7"/>
          <p:cNvSpPr/>
          <p:nvPr/>
        </p:nvSpPr>
        <p:spPr>
          <a:xfrm>
            <a:off x="1066800" y="4315271"/>
            <a:ext cx="4813808" cy="452041"/>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FBE3D3"/>
                </a:solidFill>
                <a:latin typeface="DM Sans" pitchFamily="34" charset="0"/>
                <a:ea typeface="DM Sans" pitchFamily="34" charset="-122"/>
                <a:cs typeface="DM Sans" pitchFamily="34" charset="-120"/>
                <a:hlinkClick r:id="rId3">
                  <a:extLst>
                    <a:ext uri="{A12FA001-AC4F-418D-AE19-62706E023703}">
                      <ahyp:hlinkClr xmlns:ahyp="http://schemas.microsoft.com/office/drawing/2018/hyperlinkcolor" val="tx"/>
                    </a:ext>
                  </a:extLst>
                </a:hlinkClick>
              </a:rPr>
              <a:t>kaggle.com/code/marcdumaguin/</a:t>
            </a:r>
            <a:endParaRPr lang="en-US" sz="1200" dirty="0"/>
          </a:p>
          <a:p>
            <a:pPr marL="0" indent="0" algn="l">
              <a:lnSpc>
                <a:spcPts val="1680"/>
              </a:lnSpc>
              <a:buNone/>
            </a:pPr>
            <a:r>
              <a:rPr lang="en-US" sz="1200" u="sng" dirty="0">
                <a:solidFill>
                  <a:srgbClr val="FBE3D3"/>
                </a:solidFill>
                <a:latin typeface="DM Sans" pitchFamily="34" charset="0"/>
                <a:ea typeface="DM Sans" pitchFamily="34" charset="-122"/>
                <a:cs typeface="DM Sans" pitchFamily="34" charset="-120"/>
                <a:hlinkClick r:id="rId3">
                  <a:extLst>
                    <a:ext uri="{A12FA001-AC4F-418D-AE19-62706E023703}">
                      <ahyp:hlinkClr xmlns:ahyp="http://schemas.microsoft.com/office/drawing/2018/hyperlinkcolor" val="tx"/>
                    </a:ext>
                  </a:extLst>
                </a:hlinkClick>
              </a:rPr>
              <a:t>line-regression-gradio-user-input-cal-burned</a:t>
            </a:r>
            <a:endParaRPr lang="en-US" sz="1200" dirty="0"/>
          </a:p>
        </p:txBody>
      </p:sp>
      <p:sp>
        <p:nvSpPr>
          <p:cNvPr id="10" name="Shape 8"/>
          <p:cNvSpPr/>
          <p:nvPr/>
        </p:nvSpPr>
        <p:spPr>
          <a:xfrm>
            <a:off x="6197600" y="2077690"/>
            <a:ext cx="5181600" cy="2918222"/>
          </a:xfrm>
          <a:prstGeom prst="roundRect">
            <a:avLst>
              <a:gd name="adj" fmla="val 3482"/>
            </a:avLst>
          </a:prstGeom>
          <a:solidFill>
            <a:srgbClr val="1E242D"/>
          </a:solidFill>
          <a:ln/>
        </p:spPr>
        <p:txBody>
          <a:bodyPr/>
          <a:lstStyle/>
          <a:p>
            <a:endParaRPr lang="en-US"/>
          </a:p>
        </p:txBody>
      </p:sp>
      <p:sp>
        <p:nvSpPr>
          <p:cNvPr id="11" name="Shape 9"/>
          <p:cNvSpPr/>
          <p:nvPr/>
        </p:nvSpPr>
        <p:spPr>
          <a:xfrm>
            <a:off x="6197600" y="2077690"/>
            <a:ext cx="5181600" cy="2918222"/>
          </a:xfrm>
          <a:custGeom>
            <a:avLst/>
            <a:gdLst/>
            <a:ahLst/>
            <a:cxnLst/>
            <a:rect l="l" t="t" r="r" b="b"/>
            <a:pathLst>
              <a:path w="5181600" h="2918222">
                <a:moveTo>
                  <a:pt x="0" y="101600"/>
                </a:moveTo>
                <a:lnTo>
                  <a:pt x="0" y="101600"/>
                </a:lnTo>
                <a:arcTo wR="101600" hR="101600" stAng="10800000" swAng="5400000"/>
                <a:lnTo>
                  <a:pt x="5080000" y="0"/>
                </a:lnTo>
                <a:arcTo wR="101600" hR="101600" stAng="16200000" swAng="5400000"/>
                <a:lnTo>
                  <a:pt x="5181600" y="101600"/>
                </a:lnTo>
                <a:arcTo wR="101600" hR="63500" stAng="0" swAng="-5400000"/>
                <a:lnTo>
                  <a:pt x="101600" y="38100"/>
                </a:lnTo>
                <a:arcTo wR="101600" hR="63500" stAng="16200000" swAng="-5400000"/>
                <a:close/>
              </a:path>
            </a:pathLst>
          </a:custGeom>
          <a:solidFill>
            <a:srgbClr val="FF6B35"/>
          </a:solidFill>
          <a:ln/>
        </p:spPr>
        <p:txBody>
          <a:bodyPr/>
          <a:lstStyle/>
          <a:p>
            <a:endParaRPr lang="en-US"/>
          </a:p>
        </p:txBody>
      </p:sp>
      <p:sp>
        <p:nvSpPr>
          <p:cNvPr id="12" name="Text 10"/>
          <p:cNvSpPr/>
          <p:nvPr/>
        </p:nvSpPr>
        <p:spPr>
          <a:xfrm>
            <a:off x="6451600" y="2369790"/>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6B35"/>
                </a:solidFill>
                <a:latin typeface="DM Sans" pitchFamily="34" charset="0"/>
                <a:ea typeface="DM Sans" pitchFamily="34" charset="-122"/>
                <a:cs typeface="DM Sans" pitchFamily="34" charset="-120"/>
              </a:rPr>
              <a:t>WHAT WE’LL DO DIFFERENTLY</a:t>
            </a:r>
            <a:endParaRPr lang="en-US" sz="1200" dirty="0"/>
          </a:p>
        </p:txBody>
      </p:sp>
      <p:sp>
        <p:nvSpPr>
          <p:cNvPr id="13" name="Text 11"/>
          <p:cNvSpPr/>
          <p:nvPr/>
        </p:nvSpPr>
        <p:spPr>
          <a:xfrm>
            <a:off x="6451600" y="2710111"/>
            <a:ext cx="4813808" cy="1572022"/>
          </a:xfrm>
          <a:prstGeom prst="rect">
            <a:avLst/>
          </a:prstGeom>
          <a:noFill/>
          <a:ln/>
        </p:spPr>
        <p:txBody>
          <a:bodyPr wrap="square" lIns="0" tIns="0" rIns="0" bIns="0" rtlCol="0" anchor="t">
            <a:normAutofit/>
          </a:bodyPr>
          <a:lstStyle/>
          <a:p>
            <a:pPr marL="213360" indent="-169418" algn="l">
              <a:lnSpc>
                <a:spcPts val="2030"/>
              </a:lnSpc>
              <a:buSzPct val="100000"/>
              <a:buChar char="•"/>
            </a:pPr>
            <a:r>
              <a:rPr lang="en-US" sz="1400" dirty="0">
                <a:solidFill>
                  <a:srgbClr val="FBE3D3"/>
                </a:solidFill>
                <a:latin typeface="DM Sans" pitchFamily="34" charset="0"/>
                <a:ea typeface="DM Sans" pitchFamily="34" charset="-122"/>
                <a:cs typeface="DM Sans" pitchFamily="34" charset="-120"/>
              </a:rPr>
              <a:t>Predict whether a workout burns a low, medium or high amount, not an exact number</a:t>
            </a:r>
            <a:endParaRPr lang="en-US" sz="1400" dirty="0"/>
          </a:p>
          <a:p>
            <a:pPr marL="213360" indent="-169418" algn="l">
              <a:lnSpc>
                <a:spcPts val="2030"/>
              </a:lnSpc>
              <a:buSzPct val="100000"/>
              <a:buChar char="•"/>
            </a:pPr>
            <a:r>
              <a:rPr lang="en-US" sz="1400" dirty="0">
                <a:solidFill>
                  <a:srgbClr val="FBE3D3"/>
                </a:solidFill>
                <a:latin typeface="DM Sans" pitchFamily="34" charset="0"/>
                <a:ea typeface="DM Sans" pitchFamily="34" charset="-122"/>
                <a:cs typeface="DM Sans" pitchFamily="34" charset="-120"/>
              </a:rPr>
              <a:t>Focus on what matters most, like experience and body fat</a:t>
            </a:r>
            <a:endParaRPr lang="en-US" sz="1400" dirty="0"/>
          </a:p>
          <a:p>
            <a:pPr marL="213360" indent="-169418" algn="l">
              <a:lnSpc>
                <a:spcPts val="2030"/>
              </a:lnSpc>
              <a:buSzPct val="100000"/>
              <a:buChar char="•"/>
            </a:pPr>
            <a:r>
              <a:rPr lang="en-US" sz="1400" dirty="0">
                <a:solidFill>
                  <a:srgbClr val="FBE3D3"/>
                </a:solidFill>
                <a:latin typeface="DM Sans" pitchFamily="34" charset="0"/>
                <a:ea typeface="DM Sans" pitchFamily="34" charset="-122"/>
                <a:cs typeface="DM Sans" pitchFamily="34" charset="-120"/>
              </a:rPr>
              <a:t>Go further with pattern-finding (association rules) and grouping (clustering)</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1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7780" b="7780"/>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14181F">
                  <a:alpha val="72000"/>
                </a:srgbClr>
              </a:gs>
              <a:gs pos="40000">
                <a:srgbClr val="14181F">
                  <a:alpha val="85000"/>
                </a:srgbClr>
              </a:gs>
              <a:gs pos="100000">
                <a:srgbClr val="14181F">
                  <a:alpha val="94000"/>
                </a:srgbClr>
              </a:gs>
            </a:gsLst>
            <a:lin ang="5400000" scaled="0"/>
          </a:gradFill>
          <a:ln/>
        </p:spPr>
        <p:txBody>
          <a:bodyPr/>
          <a:lstStyle/>
          <a:p>
            <a:endParaRPr lang="en-US"/>
          </a:p>
        </p:txBody>
      </p:sp>
      <p:sp>
        <p:nvSpPr>
          <p:cNvPr id="4" name="Text 1"/>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F6B35"/>
                </a:solidFill>
                <a:latin typeface="DM Sans" pitchFamily="34" charset="0"/>
                <a:ea typeface="DM Sans" pitchFamily="34" charset="-122"/>
                <a:cs typeface="DM Sans" pitchFamily="34" charset="-120"/>
              </a:rPr>
              <a:t>WHY THIS INTERESTS US</a:t>
            </a:r>
            <a:endParaRPr lang="en-US" sz="1300" dirty="0"/>
          </a:p>
        </p:txBody>
      </p:sp>
      <p:sp>
        <p:nvSpPr>
          <p:cNvPr id="5" name="Text 2"/>
          <p:cNvSpPr/>
          <p:nvPr/>
        </p:nvSpPr>
        <p:spPr>
          <a:xfrm>
            <a:off x="812800" y="129793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dirty="0">
                <a:gradFill rotWithShape="1">
                  <a:gsLst>
                    <a:gs pos="0">
                      <a:srgbClr val="FF6B35"/>
                    </a:gs>
                    <a:gs pos="100000">
                      <a:srgbClr val="FFC857"/>
                    </a:gs>
                  </a:gsLst>
                  <a:lin ang="0" scaled="0"/>
                </a:gradFill>
                <a:latin typeface="Oswald" pitchFamily="34" charset="0"/>
                <a:ea typeface="Oswald" pitchFamily="34" charset="-122"/>
                <a:cs typeface="Oswald" pitchFamily="34" charset="-120"/>
              </a:rPr>
              <a:t>Real data from the way we train</a:t>
            </a:r>
            <a:endParaRPr lang="en-US" sz="3600" dirty="0"/>
          </a:p>
        </p:txBody>
      </p:sp>
      <p:sp>
        <p:nvSpPr>
          <p:cNvPr id="6" name="Shape 3"/>
          <p:cNvSpPr/>
          <p:nvPr/>
        </p:nvSpPr>
        <p:spPr>
          <a:xfrm>
            <a:off x="812800" y="4276874"/>
            <a:ext cx="3318917" cy="0"/>
          </a:xfrm>
          <a:prstGeom prst="line">
            <a:avLst/>
          </a:prstGeom>
          <a:noFill/>
          <a:ln w="25400">
            <a:solidFill>
              <a:srgbClr val="FF6B35"/>
            </a:solidFill>
            <a:prstDash val="solid"/>
          </a:ln>
        </p:spPr>
        <p:txBody>
          <a:bodyPr/>
          <a:lstStyle/>
          <a:p>
            <a:endParaRPr lang="en-US"/>
          </a:p>
        </p:txBody>
      </p:sp>
      <p:sp>
        <p:nvSpPr>
          <p:cNvPr id="7" name="Text 4"/>
          <p:cNvSpPr/>
          <p:nvPr/>
        </p:nvSpPr>
        <p:spPr>
          <a:xfrm>
            <a:off x="812800" y="4492774"/>
            <a:ext cx="341848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C857"/>
                </a:solidFill>
                <a:latin typeface="DM Sans" pitchFamily="34" charset="0"/>
                <a:ea typeface="DM Sans" pitchFamily="34" charset="-122"/>
                <a:cs typeface="DM Sans" pitchFamily="34" charset="-120"/>
              </a:rPr>
              <a:t>Smarter than a smartwatch</a:t>
            </a:r>
            <a:endParaRPr lang="en-US" sz="1600" dirty="0"/>
          </a:p>
        </p:txBody>
      </p:sp>
      <p:sp>
        <p:nvSpPr>
          <p:cNvPr id="8" name="Text 5"/>
          <p:cNvSpPr/>
          <p:nvPr/>
        </p:nvSpPr>
        <p:spPr>
          <a:xfrm>
            <a:off x="812800" y="4848374"/>
            <a:ext cx="3418484" cy="122222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BE3D3"/>
                </a:solidFill>
                <a:latin typeface="DM Sans" pitchFamily="34" charset="0"/>
                <a:ea typeface="DM Sans" pitchFamily="34" charset="-122"/>
                <a:cs typeface="DM Sans" pitchFamily="34" charset="-120"/>
              </a:rPr>
              <a:t>Our watches use the same formula for everyone. We want to see what really drives calories burned, so people can train at the right level and avoid overtraining or injury.</a:t>
            </a:r>
            <a:endParaRPr lang="en-US" sz="1300" dirty="0"/>
          </a:p>
        </p:txBody>
      </p:sp>
      <p:sp>
        <p:nvSpPr>
          <p:cNvPr id="9" name="Shape 6"/>
          <p:cNvSpPr/>
          <p:nvPr/>
        </p:nvSpPr>
        <p:spPr>
          <a:xfrm>
            <a:off x="4436517" y="4276874"/>
            <a:ext cx="3318966" cy="0"/>
          </a:xfrm>
          <a:prstGeom prst="line">
            <a:avLst/>
          </a:prstGeom>
          <a:noFill/>
          <a:ln w="25400">
            <a:solidFill>
              <a:srgbClr val="FF6B35"/>
            </a:solidFill>
            <a:prstDash val="solid"/>
          </a:ln>
        </p:spPr>
        <p:txBody>
          <a:bodyPr/>
          <a:lstStyle/>
          <a:p>
            <a:endParaRPr lang="en-US"/>
          </a:p>
        </p:txBody>
      </p:sp>
      <p:sp>
        <p:nvSpPr>
          <p:cNvPr id="10" name="Text 7"/>
          <p:cNvSpPr/>
          <p:nvPr/>
        </p:nvSpPr>
        <p:spPr>
          <a:xfrm>
            <a:off x="4436517" y="4492774"/>
            <a:ext cx="3418535"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C857"/>
                </a:solidFill>
                <a:latin typeface="DM Sans" pitchFamily="34" charset="0"/>
                <a:ea typeface="DM Sans" pitchFamily="34" charset="-122"/>
                <a:cs typeface="DM Sans" pitchFamily="34" charset="-120"/>
              </a:rPr>
              <a:t>Less guessing</a:t>
            </a:r>
            <a:endParaRPr lang="en-US" sz="1600" dirty="0"/>
          </a:p>
        </p:txBody>
      </p:sp>
      <p:sp>
        <p:nvSpPr>
          <p:cNvPr id="11" name="Text 8"/>
          <p:cNvSpPr/>
          <p:nvPr/>
        </p:nvSpPr>
        <p:spPr>
          <a:xfrm>
            <a:off x="4436517" y="4848374"/>
            <a:ext cx="3418535" cy="74349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BE3D3"/>
                </a:solidFill>
                <a:latin typeface="DM Sans" pitchFamily="34" charset="0"/>
                <a:ea typeface="DM Sans" pitchFamily="34" charset="-122"/>
                <a:cs typeface="DM Sans" pitchFamily="34" charset="-120"/>
              </a:rPr>
              <a:t>Instead of guessing, people can see which workouts and habits actually get them to their calorie goals.</a:t>
            </a:r>
            <a:endParaRPr lang="en-US" sz="1300" dirty="0"/>
          </a:p>
        </p:txBody>
      </p:sp>
      <p:sp>
        <p:nvSpPr>
          <p:cNvPr id="12" name="Shape 9"/>
          <p:cNvSpPr/>
          <p:nvPr/>
        </p:nvSpPr>
        <p:spPr>
          <a:xfrm>
            <a:off x="8060283" y="4276874"/>
            <a:ext cx="3318917" cy="0"/>
          </a:xfrm>
          <a:prstGeom prst="line">
            <a:avLst/>
          </a:prstGeom>
          <a:noFill/>
          <a:ln w="25400">
            <a:solidFill>
              <a:srgbClr val="FF6B35"/>
            </a:solidFill>
            <a:prstDash val="solid"/>
          </a:ln>
        </p:spPr>
        <p:txBody>
          <a:bodyPr/>
          <a:lstStyle/>
          <a:p>
            <a:endParaRPr lang="en-US"/>
          </a:p>
        </p:txBody>
      </p:sp>
      <p:sp>
        <p:nvSpPr>
          <p:cNvPr id="13" name="Text 10"/>
          <p:cNvSpPr/>
          <p:nvPr/>
        </p:nvSpPr>
        <p:spPr>
          <a:xfrm>
            <a:off x="8060283" y="4492774"/>
            <a:ext cx="341848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C857"/>
                </a:solidFill>
                <a:latin typeface="DM Sans" pitchFamily="34" charset="0"/>
                <a:ea typeface="DM Sans" pitchFamily="34" charset="-122"/>
                <a:cs typeface="DM Sans" pitchFamily="34" charset="-120"/>
              </a:rPr>
              <a:t>We love this stuff</a:t>
            </a:r>
            <a:endParaRPr lang="en-US" sz="1600" dirty="0"/>
          </a:p>
        </p:txBody>
      </p:sp>
      <p:sp>
        <p:nvSpPr>
          <p:cNvPr id="14" name="Text 11"/>
          <p:cNvSpPr/>
          <p:nvPr/>
        </p:nvSpPr>
        <p:spPr>
          <a:xfrm>
            <a:off x="8060283" y="4848374"/>
            <a:ext cx="3418484" cy="98286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BE3D3"/>
                </a:solidFill>
                <a:latin typeface="DM Sans" pitchFamily="34" charset="0"/>
                <a:ea typeface="DM Sans" pitchFamily="34" charset="-122"/>
                <a:cs typeface="DM Sans" pitchFamily="34" charset="-120"/>
              </a:rPr>
              <a:t>We’re all gym regulars, so it’s fun to use classification, clustering and association rules on data about something we actually do.</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81F"/>
        </a:solidFill>
        <a:effectLst/>
      </p:bgPr>
    </p:bg>
    <p:spTree>
      <p:nvGrpSpPr>
        <p:cNvPr id="1" name=""/>
        <p:cNvGrpSpPr/>
        <p:nvPr/>
      </p:nvGrpSpPr>
      <p:grpSpPr>
        <a:xfrm>
          <a:off x="0" y="0"/>
          <a:ext cx="0" cy="0"/>
          <a:chOff x="0" y="0"/>
          <a:chExt cx="0" cy="0"/>
        </a:xfrm>
      </p:grpSpPr>
      <p:pic>
        <p:nvPicPr>
          <p:cNvPr id="2" name="Image 0" descr="A kettlebell on a gym floor under falling chalk dust"/>
          <p:cNvPicPr>
            <a:picLocks noChangeAspect="1"/>
          </p:cNvPicPr>
          <p:nvPr/>
        </p:nvPicPr>
        <p:blipFill>
          <a:blip r:embed="rId3"/>
          <a:srcRect l="150" r="150"/>
          <a:stretch/>
        </p:blipFill>
        <p:spPr>
          <a:xfrm>
            <a:off x="0" y="0"/>
            <a:ext cx="12192000" cy="6858000"/>
          </a:xfrm>
          <a:prstGeom prst="rect">
            <a:avLst/>
          </a:prstGeom>
        </p:spPr>
      </p:pic>
      <p:sp>
        <p:nvSpPr>
          <p:cNvPr id="3" name="Shape 0"/>
          <p:cNvSpPr/>
          <p:nvPr/>
        </p:nvSpPr>
        <p:spPr>
          <a:xfrm>
            <a:off x="0" y="261257"/>
            <a:ext cx="12192000" cy="6858000"/>
          </a:xfrm>
          <a:prstGeom prst="rect">
            <a:avLst/>
          </a:prstGeom>
          <a:gradFill rotWithShape="1">
            <a:gsLst>
              <a:gs pos="0">
                <a:srgbClr val="14181F">
                  <a:alpha val="92000"/>
                </a:srgbClr>
              </a:gs>
              <a:gs pos="45000">
                <a:srgbClr val="14181F">
                  <a:alpha val="60000"/>
                </a:srgbClr>
              </a:gs>
              <a:gs pos="75000">
                <a:srgbClr val="14181F">
                  <a:alpha val="0"/>
                </a:srgbClr>
              </a:gs>
            </a:gsLst>
            <a:lin ang="0" scaled="0"/>
          </a:gradFill>
          <a:ln/>
        </p:spPr>
        <p:txBody>
          <a:bodyPr/>
          <a:lstStyle/>
          <a:p>
            <a:endParaRPr lang="en-US"/>
          </a:p>
        </p:txBody>
      </p:sp>
      <p:sp>
        <p:nvSpPr>
          <p:cNvPr id="4" name="Shape 1"/>
          <p:cNvSpPr/>
          <p:nvPr/>
        </p:nvSpPr>
        <p:spPr>
          <a:xfrm>
            <a:off x="0" y="0"/>
            <a:ext cx="152400" cy="6858000"/>
          </a:xfrm>
          <a:prstGeom prst="rect">
            <a:avLst/>
          </a:prstGeom>
          <a:solidFill>
            <a:srgbClr val="FF6B35"/>
          </a:solidFill>
          <a:ln/>
        </p:spPr>
        <p:txBody>
          <a:bodyPr/>
          <a:lstStyle/>
          <a:p>
            <a:endParaRPr lang="en-US"/>
          </a:p>
        </p:txBody>
      </p:sp>
      <p:sp>
        <p:nvSpPr>
          <p:cNvPr id="5" name="Text 2"/>
          <p:cNvSpPr/>
          <p:nvPr/>
        </p:nvSpPr>
        <p:spPr>
          <a:xfrm>
            <a:off x="812800" y="256793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F6B35"/>
                </a:solidFill>
                <a:latin typeface="DM Sans" pitchFamily="34" charset="0"/>
                <a:ea typeface="DM Sans" pitchFamily="34" charset="-122"/>
                <a:cs typeface="DM Sans" pitchFamily="34" charset="-120"/>
              </a:rPr>
              <a:t>THANK YOU</a:t>
            </a:r>
            <a:endParaRPr lang="en-US" sz="1300" dirty="0"/>
          </a:p>
        </p:txBody>
      </p:sp>
      <p:sp>
        <p:nvSpPr>
          <p:cNvPr id="6" name="Text 3"/>
          <p:cNvSpPr/>
          <p:nvPr/>
        </p:nvSpPr>
        <p:spPr>
          <a:xfrm>
            <a:off x="812800" y="300226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dirty="0">
                <a:gradFill rotWithShape="1">
                  <a:gsLst>
                    <a:gs pos="0">
                      <a:srgbClr val="FF6B35"/>
                    </a:gs>
                    <a:gs pos="100000">
                      <a:srgbClr val="FFC857"/>
                    </a:gs>
                  </a:gsLst>
                  <a:lin ang="0" scaled="0"/>
                </a:gradFill>
                <a:latin typeface="Oswald" pitchFamily="34" charset="0"/>
                <a:ea typeface="Oswald" pitchFamily="34" charset="-122"/>
                <a:cs typeface="Oswald" pitchFamily="34" charset="-120"/>
              </a:rPr>
              <a:t>QUESTIONS?</a:t>
            </a:r>
            <a:endParaRPr lang="en-US" sz="6000" dirty="0"/>
          </a:p>
        </p:txBody>
      </p:sp>
      <p:sp>
        <p:nvSpPr>
          <p:cNvPr id="7" name="Text 4"/>
          <p:cNvSpPr/>
          <p:nvPr/>
        </p:nvSpPr>
        <p:spPr>
          <a:xfrm>
            <a:off x="812800" y="400556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BE3D3"/>
                </a:solidFill>
                <a:latin typeface="DM Sans" pitchFamily="34" charset="0"/>
                <a:ea typeface="DM Sans" pitchFamily="34" charset="-122"/>
                <a:cs typeface="DM Sans" pitchFamily="34" charset="-120"/>
              </a:rPr>
              <a:t>Solomon · Saliou Dunn · Khinememe Kyaw</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617</Words>
  <Application>Microsoft Macintosh PowerPoint</Application>
  <PresentationFormat>Widescreen</PresentationFormat>
  <Paragraphs>82</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DM Sans</vt:lpstr>
      <vt:lpstr>Oswald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Workout Energy Proposal</dc:title>
  <dc:subject>PptxGenJS Presentation</dc:subject>
  <dc:creator>PptxGenJS</dc:creator>
  <cp:lastModifiedBy>salioudunn@gmail.com</cp:lastModifiedBy>
  <cp:revision>2</cp:revision>
  <dcterms:created xsi:type="dcterms:W3CDTF">2026-09-26T14:31:41Z</dcterms:created>
  <dcterms:modified xsi:type="dcterms:W3CDTF">2026-09-26T14:36:14Z</dcterms:modified>
</cp:coreProperties>
</file>