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y="6858000" cx="12192000"/>
  <p:notesSz cx="6858000" cy="9144000"/>
  <p:embeddedFontLst>
    <p:embeddedFont>
      <p:font typeface="Plus Jakarta Sans"/>
      <p:regular r:id="rId23"/>
      <p:bold r:id="rId24"/>
      <p:italic r:id="rId25"/>
      <p:boldItalic r:id="rId26"/>
    </p:embeddedFont>
    <p:embeddedFont>
      <p:font typeface="JetBrains Mono"/>
      <p:regular r:id="rId27"/>
      <p:bold r:id="rId28"/>
      <p:italic r:id="rId29"/>
      <p:boldItalic r:id="rId3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6C47D173-4FFC-4965-9714-878623102AE9}">
  <a:tblStyle styleId="{6C47D173-4FFC-4965-9714-878623102AE9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font" Target="fonts/PlusJakartaSans-bold.fntdata"/><Relationship Id="rId23" Type="http://schemas.openxmlformats.org/officeDocument/2006/relationships/font" Target="fonts/PlusJakartaSans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PlusJakartaSans-boldItalic.fntdata"/><Relationship Id="rId25" Type="http://schemas.openxmlformats.org/officeDocument/2006/relationships/font" Target="fonts/PlusJakartaSans-italic.fntdata"/><Relationship Id="rId28" Type="http://schemas.openxmlformats.org/officeDocument/2006/relationships/font" Target="fonts/JetBrainsMono-bold.fntdata"/><Relationship Id="rId27" Type="http://schemas.openxmlformats.org/officeDocument/2006/relationships/font" Target="fonts/JetBrainsMono-regular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JetBrainsMono-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0" Type="http://schemas.openxmlformats.org/officeDocument/2006/relationships/font" Target="fonts/JetBrainsMono-boldItalic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h121df8db74e1250f_1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h121df8db74e1250f_1_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h121df8db74e1250f_1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h121df8db74e1250f_1_6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h121df8db74e1250f_1_1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h121df8db74e1250f_1_10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h121df8db74e1250f_1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h121df8db74e1250f_1_3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h121df8db74e1250f_1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h121df8db74e1250f_1_7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4.png"/><Relationship Id="rId5" Type="http://schemas.openxmlformats.org/officeDocument/2006/relationships/image" Target="../media/image9.png"/><Relationship Id="rId6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Relationship Id="rId4" Type="http://schemas.openxmlformats.org/officeDocument/2006/relationships/image" Target="../media/image11.png"/><Relationship Id="rId5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hyperlink" Target="https://healthyhabitsexplorer.com/my-one-year-journey-with-the-werise-app-by-senada-greca/" TargetMode="Externa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/>
          <p:nvPr/>
        </p:nvSpPr>
        <p:spPr>
          <a:xfrm>
            <a:off x="762000" y="4217325"/>
            <a:ext cx="457200" cy="48300"/>
          </a:xfrm>
          <a:prstGeom prst="roundRect">
            <a:avLst>
              <a:gd fmla="val 50000" name="adj"/>
            </a:avLst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3"/>
          <p:cNvSpPr txBox="1"/>
          <p:nvPr/>
        </p:nvSpPr>
        <p:spPr>
          <a:xfrm>
            <a:off x="762000" y="1787797"/>
            <a:ext cx="8601000" cy="12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49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900" u="none" cap="none" strike="noStrik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Phase 2: Data Understanding &amp; Exploratory Analysis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762000" y="3379499"/>
            <a:ext cx="6572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Empirical inspection, statistical distributions, correlation modeling, and preprocessing of gym workout records.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1524000" y="4142300"/>
            <a:ext cx="28338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Gym Exercise Tracking Dataset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4"/>
          <p:cNvSpPr/>
          <p:nvPr/>
        </p:nvSpPr>
        <p:spPr>
          <a:xfrm>
            <a:off x="609600" y="2123025"/>
            <a:ext cx="6277500" cy="1038300"/>
          </a:xfrm>
          <a:prstGeom prst="roundRect">
            <a:avLst>
              <a:gd fmla="val 11009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4"/>
          <p:cNvSpPr/>
          <p:nvPr/>
        </p:nvSpPr>
        <p:spPr>
          <a:xfrm>
            <a:off x="609600" y="3313650"/>
            <a:ext cx="6277500" cy="1047600"/>
          </a:xfrm>
          <a:prstGeom prst="roundRect">
            <a:avLst>
              <a:gd fmla="val 10909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4"/>
          <p:cNvSpPr/>
          <p:nvPr/>
        </p:nvSpPr>
        <p:spPr>
          <a:xfrm>
            <a:off x="609600" y="4513800"/>
            <a:ext cx="6277500" cy="1047600"/>
          </a:xfrm>
          <a:prstGeom prst="roundRect">
            <a:avLst>
              <a:gd fmla="val 10909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4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2563E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1. BRIEF DESCRIPTION OF DATA</a:t>
            </a:r>
            <a:endParaRPr/>
          </a:p>
        </p:txBody>
      </p:sp>
      <p:sp>
        <p:nvSpPr>
          <p:cNvPr id="96" name="Google Shape;96;p14"/>
          <p:cNvSpPr txBox="1"/>
          <p:nvPr/>
        </p:nvSpPr>
        <p:spPr>
          <a:xfrm>
            <a:off x="609600" y="704850"/>
            <a:ext cx="11582400" cy="3504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Dataset Provenance &amp; Scope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809625" y="2323058"/>
            <a:ext cx="611944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DATA SOURCE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809625" y="2532608"/>
            <a:ext cx="611944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Kaggle / GitHub Repository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809625" y="2789783"/>
            <a:ext cx="61194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2563E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https://www.kaggle.com/datasets/valakhorasani/gym-members-exercise-dataset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809625" y="3513683"/>
            <a:ext cx="611944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COLLECTION CONTEXT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809625" y="3723233"/>
            <a:ext cx="611944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Fitness Center Member Tracking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809625" y="3980408"/>
            <a:ext cx="6119400" cy="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Aggregated biometric and physiological workout metrics.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809625" y="4713833"/>
            <a:ext cx="611944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CORE OBJECTIVE</a:t>
            </a:r>
            <a:endParaRPr/>
          </a:p>
        </p:txBody>
      </p:sp>
      <p:sp>
        <p:nvSpPr>
          <p:cNvPr id="104" name="Google Shape;104;p14"/>
          <p:cNvSpPr txBox="1"/>
          <p:nvPr/>
        </p:nvSpPr>
        <p:spPr>
          <a:xfrm>
            <a:off x="809625" y="4923383"/>
            <a:ext cx="611944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Energy Expenditure Prediction</a:t>
            </a:r>
            <a:endParaRPr/>
          </a:p>
        </p:txBody>
      </p:sp>
      <p:sp>
        <p:nvSpPr>
          <p:cNvPr id="105" name="Google Shape;105;p14"/>
          <p:cNvSpPr txBox="1"/>
          <p:nvPr/>
        </p:nvSpPr>
        <p:spPr>
          <a:xfrm>
            <a:off x="809625" y="5180558"/>
            <a:ext cx="6119440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Exploratory baselining for caloric burn modeling and training patterns.</a:t>
            </a:r>
            <a:endParaRPr/>
          </a:p>
        </p:txBody>
      </p:sp>
      <p:pic>
        <p:nvPicPr>
          <p:cNvPr id="106" name="Google Shape;106;p14" title="dashboard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42775" y="1755875"/>
            <a:ext cx="4958124" cy="41537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5"/>
          <p:cNvSpPr/>
          <p:nvPr/>
        </p:nvSpPr>
        <p:spPr>
          <a:xfrm>
            <a:off x="609544" y="1740775"/>
            <a:ext cx="3505200" cy="1384500"/>
          </a:xfrm>
          <a:prstGeom prst="roundRect">
            <a:avLst>
              <a:gd fmla="val 9600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5"/>
          <p:cNvSpPr/>
          <p:nvPr/>
        </p:nvSpPr>
        <p:spPr>
          <a:xfrm>
            <a:off x="4343344" y="1740775"/>
            <a:ext cx="3505200" cy="1384500"/>
          </a:xfrm>
          <a:prstGeom prst="roundRect">
            <a:avLst>
              <a:gd fmla="val 9600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5"/>
          <p:cNvSpPr/>
          <p:nvPr/>
        </p:nvSpPr>
        <p:spPr>
          <a:xfrm>
            <a:off x="8077144" y="1740775"/>
            <a:ext cx="3505200" cy="1384500"/>
          </a:xfrm>
          <a:prstGeom prst="roundRect">
            <a:avLst>
              <a:gd fmla="val 9600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15"/>
          <p:cNvSpPr/>
          <p:nvPr/>
        </p:nvSpPr>
        <p:spPr>
          <a:xfrm>
            <a:off x="609600" y="3429000"/>
            <a:ext cx="5372100" cy="1397100"/>
          </a:xfrm>
          <a:prstGeom prst="roundRect">
            <a:avLst>
              <a:gd fmla="val 7407" name="adj"/>
            </a:avLst>
          </a:prstGeom>
          <a:solidFill>
            <a:srgbClr val="EFF6FF"/>
          </a:solidFill>
          <a:ln cap="flat" cmpd="sng" w="9525">
            <a:solidFill>
              <a:srgbClr val="BFDB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5"/>
          <p:cNvSpPr/>
          <p:nvPr/>
        </p:nvSpPr>
        <p:spPr>
          <a:xfrm>
            <a:off x="6210300" y="3429000"/>
            <a:ext cx="5372100" cy="1397100"/>
          </a:xfrm>
          <a:prstGeom prst="roundRect">
            <a:avLst>
              <a:gd fmla="val 7407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5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2563E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2. DIMENSIONS &amp; TARGET ARCHITECTURE</a:t>
            </a:r>
            <a:endParaRPr/>
          </a:p>
        </p:txBody>
      </p:sp>
      <p:sp>
        <p:nvSpPr>
          <p:cNvPr id="117" name="Google Shape;117;p15"/>
          <p:cNvSpPr txBox="1"/>
          <p:nvPr/>
        </p:nvSpPr>
        <p:spPr>
          <a:xfrm>
            <a:off x="609600" y="704850"/>
            <a:ext cx="11582400" cy="3504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Structural Profile &amp; Target Variable</a:t>
            </a:r>
            <a:endParaRPr/>
          </a:p>
        </p:txBody>
      </p:sp>
      <p:sp>
        <p:nvSpPr>
          <p:cNvPr id="118" name="Google Shape;118;p15"/>
          <p:cNvSpPr txBox="1"/>
          <p:nvPr/>
        </p:nvSpPr>
        <p:spPr>
          <a:xfrm>
            <a:off x="469050" y="2017678"/>
            <a:ext cx="37863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2563E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973</a:t>
            </a:r>
            <a:endParaRPr/>
          </a:p>
        </p:txBody>
      </p:sp>
      <p:sp>
        <p:nvSpPr>
          <p:cNvPr id="119" name="Google Shape;119;p15"/>
          <p:cNvSpPr txBox="1"/>
          <p:nvPr/>
        </p:nvSpPr>
        <p:spPr>
          <a:xfrm>
            <a:off x="469050" y="2637941"/>
            <a:ext cx="3786300" cy="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Total Member Records</a:t>
            </a:r>
            <a:endParaRPr/>
          </a:p>
        </p:txBody>
      </p:sp>
      <p:sp>
        <p:nvSpPr>
          <p:cNvPr id="120" name="Google Shape;120;p15"/>
          <p:cNvSpPr txBox="1"/>
          <p:nvPr/>
        </p:nvSpPr>
        <p:spPr>
          <a:xfrm>
            <a:off x="4202850" y="2017678"/>
            <a:ext cx="37863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15</a:t>
            </a:r>
            <a:endParaRPr/>
          </a:p>
        </p:txBody>
      </p:sp>
      <p:sp>
        <p:nvSpPr>
          <p:cNvPr id="121" name="Google Shape;121;p15"/>
          <p:cNvSpPr txBox="1"/>
          <p:nvPr/>
        </p:nvSpPr>
        <p:spPr>
          <a:xfrm>
            <a:off x="4202850" y="2637941"/>
            <a:ext cx="3786300" cy="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Observed Features</a:t>
            </a:r>
            <a:endParaRPr/>
          </a:p>
        </p:txBody>
      </p:sp>
      <p:sp>
        <p:nvSpPr>
          <p:cNvPr id="122" name="Google Shape;122;p15"/>
          <p:cNvSpPr txBox="1"/>
          <p:nvPr/>
        </p:nvSpPr>
        <p:spPr>
          <a:xfrm>
            <a:off x="7936650" y="2017678"/>
            <a:ext cx="37863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13 / 2</a:t>
            </a:r>
            <a:endParaRPr/>
          </a:p>
        </p:txBody>
      </p:sp>
      <p:sp>
        <p:nvSpPr>
          <p:cNvPr id="123" name="Google Shape;123;p15"/>
          <p:cNvSpPr txBox="1"/>
          <p:nvPr/>
        </p:nvSpPr>
        <p:spPr>
          <a:xfrm>
            <a:off x="7936650" y="2637941"/>
            <a:ext cx="3786300" cy="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Numeric vs. Categorical</a:t>
            </a:r>
            <a:endParaRPr/>
          </a:p>
        </p:txBody>
      </p:sp>
      <p:sp>
        <p:nvSpPr>
          <p:cNvPr id="124" name="Google Shape;124;p15"/>
          <p:cNvSpPr txBox="1"/>
          <p:nvPr/>
        </p:nvSpPr>
        <p:spPr>
          <a:xfrm>
            <a:off x="885825" y="3679087"/>
            <a:ext cx="60246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1D4ED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TARGET CLASS IDENTIFICATION</a:t>
            </a:r>
            <a:endParaRPr/>
          </a:p>
        </p:txBody>
      </p:sp>
      <p:sp>
        <p:nvSpPr>
          <p:cNvPr id="125" name="Google Shape;125;p15"/>
          <p:cNvSpPr txBox="1"/>
          <p:nvPr/>
        </p:nvSpPr>
        <p:spPr>
          <a:xfrm>
            <a:off x="885825" y="3886056"/>
            <a:ext cx="6024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E3A8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Calories_Burned</a:t>
            </a:r>
            <a:endParaRPr/>
          </a:p>
        </p:txBody>
      </p:sp>
      <p:sp>
        <p:nvSpPr>
          <p:cNvPr id="126" name="Google Shape;126;p15"/>
          <p:cNvSpPr txBox="1"/>
          <p:nvPr/>
        </p:nvSpPr>
        <p:spPr>
          <a:xfrm>
            <a:off x="885825" y="4213756"/>
            <a:ext cx="4914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Continuous numerical regression target indicating total energy output per exercise session.</a:t>
            </a:r>
            <a:endParaRPr/>
          </a:p>
        </p:txBody>
      </p:sp>
      <p:sp>
        <p:nvSpPr>
          <p:cNvPr id="127" name="Google Shape;127;p15"/>
          <p:cNvSpPr txBox="1"/>
          <p:nvPr/>
        </p:nvSpPr>
        <p:spPr>
          <a:xfrm>
            <a:off x="6486525" y="3679087"/>
            <a:ext cx="57054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CATEGORICAL </a:t>
            </a:r>
            <a:r>
              <a:rPr b="1" lang="en-US" sz="1050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DATA</a:t>
            </a:r>
            <a:endParaRPr/>
          </a:p>
        </p:txBody>
      </p:sp>
      <p:sp>
        <p:nvSpPr>
          <p:cNvPr id="128" name="Google Shape;128;p15"/>
          <p:cNvSpPr txBox="1"/>
          <p:nvPr/>
        </p:nvSpPr>
        <p:spPr>
          <a:xfrm>
            <a:off x="6486525" y="3886056"/>
            <a:ext cx="5705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Gender &amp; Workout_Type</a:t>
            </a:r>
            <a:endParaRPr/>
          </a:p>
        </p:txBody>
      </p:sp>
      <p:sp>
        <p:nvSpPr>
          <p:cNvPr id="129" name="Google Shape;129;p15"/>
          <p:cNvSpPr txBox="1"/>
          <p:nvPr/>
        </p:nvSpPr>
        <p:spPr>
          <a:xfrm>
            <a:off x="6486525" y="4213756"/>
            <a:ext cx="4914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Gender (Male / Female) and Workout Type (Cardio, HIIT, Strength, Yoga) serve as key groupings.</a:t>
            </a:r>
            <a:endParaRPr/>
          </a:p>
        </p:txBody>
      </p:sp>
      <p:sp>
        <p:nvSpPr>
          <p:cNvPr id="130" name="Google Shape;130;p15"/>
          <p:cNvSpPr/>
          <p:nvPr/>
        </p:nvSpPr>
        <p:spPr>
          <a:xfrm>
            <a:off x="6210300" y="5075100"/>
            <a:ext cx="5524500" cy="1384500"/>
          </a:xfrm>
          <a:prstGeom prst="roundRect">
            <a:avLst>
              <a:gd fmla="val 7407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5"/>
          <p:cNvSpPr txBox="1"/>
          <p:nvPr/>
        </p:nvSpPr>
        <p:spPr>
          <a:xfrm>
            <a:off x="6415725" y="5298975"/>
            <a:ext cx="59286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NUMERICAL </a:t>
            </a:r>
            <a:r>
              <a:rPr b="1" i="0" lang="en-US" sz="105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b="1" lang="en-US" sz="1050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DATA</a:t>
            </a:r>
            <a:endParaRPr/>
          </a:p>
        </p:txBody>
      </p:sp>
      <p:sp>
        <p:nvSpPr>
          <p:cNvPr id="132" name="Google Shape;132;p15"/>
          <p:cNvSpPr txBox="1"/>
          <p:nvPr/>
        </p:nvSpPr>
        <p:spPr>
          <a:xfrm>
            <a:off x="6415700" y="5528025"/>
            <a:ext cx="53721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Age, Weight, Height, Max_BPM, Avg_BPM,Resting_BPM, Session_Duration, Fat_Percentage, Water_Intake, Workout_Frequency, Experience_Level, BMI</a:t>
            </a:r>
            <a:endParaRPr b="1" sz="1500">
              <a:solidFill>
                <a:srgbClr val="0F172A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6"/>
          <p:cNvSpPr/>
          <p:nvPr/>
        </p:nvSpPr>
        <p:spPr>
          <a:xfrm>
            <a:off x="609600" y="2980283"/>
            <a:ext cx="2571750" cy="1724025"/>
          </a:xfrm>
          <a:prstGeom prst="roundRect">
            <a:avLst>
              <a:gd fmla="val 6629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6"/>
          <p:cNvSpPr/>
          <p:nvPr/>
        </p:nvSpPr>
        <p:spPr>
          <a:xfrm>
            <a:off x="3409950" y="2980283"/>
            <a:ext cx="2571750" cy="1724025"/>
          </a:xfrm>
          <a:prstGeom prst="roundRect">
            <a:avLst>
              <a:gd fmla="val 6629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6"/>
          <p:cNvSpPr/>
          <p:nvPr/>
        </p:nvSpPr>
        <p:spPr>
          <a:xfrm>
            <a:off x="6210300" y="2980283"/>
            <a:ext cx="2571750" cy="1724025"/>
          </a:xfrm>
          <a:prstGeom prst="roundRect">
            <a:avLst>
              <a:gd fmla="val 6629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6"/>
          <p:cNvSpPr/>
          <p:nvPr/>
        </p:nvSpPr>
        <p:spPr>
          <a:xfrm>
            <a:off x="9010650" y="2980283"/>
            <a:ext cx="2571750" cy="1724025"/>
          </a:xfrm>
          <a:prstGeom prst="roundRect">
            <a:avLst>
              <a:gd fmla="val 6629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41" name="Google Shape;141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5825" y="3256508"/>
            <a:ext cx="3048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2" name="Google Shape;142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686175" y="3256508"/>
            <a:ext cx="3048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3" name="Google Shape;143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486525" y="3256508"/>
            <a:ext cx="3048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4" name="Google Shape;144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286875" y="3256508"/>
            <a:ext cx="3048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6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2563E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2. DATA QUALITY &amp; PREPROCESSING</a:t>
            </a:r>
            <a:endParaRPr/>
          </a:p>
        </p:txBody>
      </p:sp>
      <p:sp>
        <p:nvSpPr>
          <p:cNvPr id="146" name="Google Shape;146;p16"/>
          <p:cNvSpPr txBox="1"/>
          <p:nvPr/>
        </p:nvSpPr>
        <p:spPr>
          <a:xfrm>
            <a:off x="609600" y="704850"/>
            <a:ext cx="11582400" cy="3504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Detected Anomalies &amp; Cleansing Steps</a:t>
            </a:r>
            <a:endParaRPr/>
          </a:p>
        </p:txBody>
      </p:sp>
      <p:sp>
        <p:nvSpPr>
          <p:cNvPr id="147" name="Google Shape;147;p16"/>
          <p:cNvSpPr txBox="1"/>
          <p:nvPr/>
        </p:nvSpPr>
        <p:spPr>
          <a:xfrm>
            <a:off x="885825" y="3713708"/>
            <a:ext cx="2650331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Zero Missing Values</a:t>
            </a:r>
            <a:endParaRPr/>
          </a:p>
        </p:txBody>
      </p:sp>
      <p:sp>
        <p:nvSpPr>
          <p:cNvPr id="148" name="Google Shape;148;p16"/>
          <p:cNvSpPr txBox="1"/>
          <p:nvPr/>
        </p:nvSpPr>
        <p:spPr>
          <a:xfrm>
            <a:off x="885825" y="4028033"/>
            <a:ext cx="211455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Zero null entries across all 15 columns.</a:t>
            </a:r>
            <a:endParaRPr/>
          </a:p>
        </p:txBody>
      </p:sp>
      <p:sp>
        <p:nvSpPr>
          <p:cNvPr id="149" name="Google Shape;149;p16"/>
          <p:cNvSpPr txBox="1"/>
          <p:nvPr/>
        </p:nvSpPr>
        <p:spPr>
          <a:xfrm>
            <a:off x="3686175" y="3713708"/>
            <a:ext cx="2650331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Zero Duplicates</a:t>
            </a:r>
            <a:endParaRPr/>
          </a:p>
        </p:txBody>
      </p:sp>
      <p:sp>
        <p:nvSpPr>
          <p:cNvPr id="150" name="Google Shape;150;p16"/>
          <p:cNvSpPr txBox="1"/>
          <p:nvPr/>
        </p:nvSpPr>
        <p:spPr>
          <a:xfrm>
            <a:off x="3686175" y="4028033"/>
            <a:ext cx="211455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973 unique tracking records confirmed.</a:t>
            </a:r>
            <a:endParaRPr/>
          </a:p>
        </p:txBody>
      </p:sp>
      <p:sp>
        <p:nvSpPr>
          <p:cNvPr id="151" name="Google Shape;151;p16"/>
          <p:cNvSpPr txBox="1"/>
          <p:nvPr/>
        </p:nvSpPr>
        <p:spPr>
          <a:xfrm>
            <a:off x="6486525" y="3713708"/>
            <a:ext cx="2650331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Unit Transformation</a:t>
            </a:r>
            <a:endParaRPr/>
          </a:p>
        </p:txBody>
      </p:sp>
      <p:sp>
        <p:nvSpPr>
          <p:cNvPr id="152" name="Google Shape;152;p16"/>
          <p:cNvSpPr txBox="1"/>
          <p:nvPr/>
        </p:nvSpPr>
        <p:spPr>
          <a:xfrm>
            <a:off x="6486525" y="4028033"/>
            <a:ext cx="211455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Added pounds and inches for modeling.</a:t>
            </a:r>
            <a:endParaRPr/>
          </a:p>
        </p:txBody>
      </p:sp>
      <p:sp>
        <p:nvSpPr>
          <p:cNvPr id="153" name="Google Shape;153;p16"/>
          <p:cNvSpPr txBox="1"/>
          <p:nvPr/>
        </p:nvSpPr>
        <p:spPr>
          <a:xfrm>
            <a:off x="9286875" y="3713708"/>
            <a:ext cx="2650331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Z-Score Outliers</a:t>
            </a:r>
            <a:endParaRPr/>
          </a:p>
        </p:txBody>
      </p:sp>
      <p:sp>
        <p:nvSpPr>
          <p:cNvPr id="154" name="Google Shape;154;p16"/>
          <p:cNvSpPr txBox="1"/>
          <p:nvPr/>
        </p:nvSpPr>
        <p:spPr>
          <a:xfrm>
            <a:off x="9286875" y="4028033"/>
            <a:ext cx="211455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Identified extreme points exceeding |Z| &gt; 3.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7"/>
          <p:cNvSpPr txBox="1"/>
          <p:nvPr/>
        </p:nvSpPr>
        <p:spPr>
          <a:xfrm>
            <a:off x="609600" y="457200"/>
            <a:ext cx="115824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2563E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2. DATA QUALITY &amp; PREPROCESSING</a:t>
            </a:r>
            <a:endParaRPr/>
          </a:p>
        </p:txBody>
      </p:sp>
      <p:sp>
        <p:nvSpPr>
          <p:cNvPr id="160" name="Google Shape;160;p17"/>
          <p:cNvSpPr txBox="1"/>
          <p:nvPr/>
        </p:nvSpPr>
        <p:spPr>
          <a:xfrm>
            <a:off x="609600" y="704850"/>
            <a:ext cx="11582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Outliers</a:t>
            </a:r>
            <a:r>
              <a:rPr b="1" lang="en-US" sz="2400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Using Boxplots</a:t>
            </a:r>
            <a:endParaRPr/>
          </a:p>
        </p:txBody>
      </p:sp>
      <p:sp>
        <p:nvSpPr>
          <p:cNvPr id="161" name="Google Shape;161;p17"/>
          <p:cNvSpPr/>
          <p:nvPr/>
        </p:nvSpPr>
        <p:spPr>
          <a:xfrm>
            <a:off x="380500" y="2102300"/>
            <a:ext cx="3333900" cy="3125400"/>
          </a:xfrm>
          <a:prstGeom prst="roundRect">
            <a:avLst>
              <a:gd fmla="val 16667" name="adj"/>
            </a:avLst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7"/>
          <p:cNvSpPr/>
          <p:nvPr/>
        </p:nvSpPr>
        <p:spPr>
          <a:xfrm>
            <a:off x="4312300" y="2102300"/>
            <a:ext cx="3497100" cy="3125400"/>
          </a:xfrm>
          <a:prstGeom prst="roundRect">
            <a:avLst>
              <a:gd fmla="val 16667" name="adj"/>
            </a:avLst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7"/>
          <p:cNvSpPr/>
          <p:nvPr/>
        </p:nvSpPr>
        <p:spPr>
          <a:xfrm>
            <a:off x="8352800" y="2066050"/>
            <a:ext cx="3406500" cy="3125400"/>
          </a:xfrm>
          <a:prstGeom prst="roundRect">
            <a:avLst>
              <a:gd fmla="val 16667" name="adj"/>
            </a:avLst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4" name="Google Shape;164;p17" title="Screenshot 2026-10-17 at 3.00.17 AM.png"/>
          <p:cNvPicPr preferRelativeResize="0"/>
          <p:nvPr/>
        </p:nvPicPr>
        <p:blipFill rotWithShape="1">
          <a:blip r:embed="rId3">
            <a:alphaModFix/>
          </a:blip>
          <a:srcRect b="0" l="0" r="0" t="-6315"/>
          <a:stretch/>
        </p:blipFill>
        <p:spPr>
          <a:xfrm>
            <a:off x="8855800" y="2056150"/>
            <a:ext cx="2539476" cy="2888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17" title="Screenshot 2026-10-17 at 3.00.05 A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82313" y="2278925"/>
            <a:ext cx="2627374" cy="2699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17" title="Screenshot 2026-10-17 at 2.59.51 AM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98467" y="2278925"/>
            <a:ext cx="2539494" cy="276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8"/>
          <p:cNvSpPr txBox="1"/>
          <p:nvPr/>
        </p:nvSpPr>
        <p:spPr>
          <a:xfrm>
            <a:off x="609600" y="457200"/>
            <a:ext cx="115824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2563E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2. DATA QUALITY &amp; PREPROCESSING</a:t>
            </a:r>
            <a:endParaRPr/>
          </a:p>
        </p:txBody>
      </p:sp>
      <p:sp>
        <p:nvSpPr>
          <p:cNvPr id="172" name="Google Shape;172;p18"/>
          <p:cNvSpPr txBox="1"/>
          <p:nvPr/>
        </p:nvSpPr>
        <p:spPr>
          <a:xfrm>
            <a:off x="609600" y="704850"/>
            <a:ext cx="11582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Outliers Using Boxplots</a:t>
            </a:r>
            <a:endParaRPr/>
          </a:p>
        </p:txBody>
      </p:sp>
      <p:pic>
        <p:nvPicPr>
          <p:cNvPr id="173" name="Google Shape;173;p18" title="Unknown-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43700" y="1160100"/>
            <a:ext cx="9962949" cy="54790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9"/>
          <p:cNvSpPr txBox="1"/>
          <p:nvPr/>
        </p:nvSpPr>
        <p:spPr>
          <a:xfrm>
            <a:off x="609600" y="457200"/>
            <a:ext cx="115824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2563E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2. DATA QUALITY &amp; PREPROCESSING</a:t>
            </a:r>
            <a:endParaRPr/>
          </a:p>
        </p:txBody>
      </p:sp>
      <p:sp>
        <p:nvSpPr>
          <p:cNvPr id="179" name="Google Shape;179;p19"/>
          <p:cNvSpPr txBox="1"/>
          <p:nvPr/>
        </p:nvSpPr>
        <p:spPr>
          <a:xfrm>
            <a:off x="609600" y="704850"/>
            <a:ext cx="11582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Outliers Using Z-scores</a:t>
            </a:r>
            <a:endParaRPr/>
          </a:p>
        </p:txBody>
      </p:sp>
      <p:pic>
        <p:nvPicPr>
          <p:cNvPr id="180" name="Google Shape;180;p19" title="Screenshot 2026-10-17 at 3.32.45 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8600" y="1467400"/>
            <a:ext cx="11887202" cy="45431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5" name="Google Shape;185;p20"/>
          <p:cNvGraphicFramePr/>
          <p:nvPr/>
        </p:nvGraphicFramePr>
        <p:xfrm>
          <a:off x="609600" y="250403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{6C47D173-4FFC-4965-9714-878623102AE9}</a:tableStyleId>
              </a:tblPr>
              <a:tblGrid>
                <a:gridCol w="2761500"/>
                <a:gridCol w="1350025"/>
                <a:gridCol w="1018575"/>
                <a:gridCol w="1141350"/>
                <a:gridCol w="1742775"/>
                <a:gridCol w="2958550"/>
              </a:tblGrid>
              <a:tr h="446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Feature Attribute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Data Type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Min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Max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Mean ± Std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Observed Spread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</a:tr>
              <a:tr h="446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Calories_Burned (Target)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64748B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Float64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303.00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1783.00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2563EB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90</a:t>
                      </a:r>
                      <a:r>
                        <a:rPr b="1" lang="en-US" sz="1200">
                          <a:solidFill>
                            <a:srgbClr val="2563EB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5</a:t>
                      </a:r>
                      <a:r>
                        <a:rPr b="1" i="0" lang="en-US" sz="1200" u="none" cap="none" strike="noStrike">
                          <a:solidFill>
                            <a:srgbClr val="2563EB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.42 ± 2</a:t>
                      </a:r>
                      <a:r>
                        <a:rPr b="1" lang="en-US" sz="1200">
                          <a:solidFill>
                            <a:srgbClr val="2563EB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72.64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64748B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Broad continuous range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46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Session_Duration (hours)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64748B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Float64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0.50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2.00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1.2</a:t>
                      </a:r>
                      <a:r>
                        <a:rPr b="1" lang="en-US" sz="1200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6</a:t>
                      </a:r>
                      <a:r>
                        <a:rPr b="1" i="0" lang="en-US" sz="1200" u="none" cap="none" strike="noStrike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 ± 0.3</a:t>
                      </a:r>
                      <a:r>
                        <a:rPr b="1" lang="en-US" sz="1200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4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64748B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Uniform exercise window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  <a:tr h="446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Avg_BPM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rgbClr val="64748B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Int64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120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1</a:t>
                      </a:r>
                      <a:r>
                        <a:rPr lang="en-US" sz="1200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69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1</a:t>
                      </a:r>
                      <a:r>
                        <a:rPr b="1" lang="en-US" sz="1200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43.77</a:t>
                      </a:r>
                      <a:r>
                        <a:rPr b="1" i="0" lang="en-US" sz="1200" u="none" cap="none" strike="noStrike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 ± </a:t>
                      </a:r>
                      <a:r>
                        <a:rPr b="1" lang="en-US" sz="1200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14.35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64748B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Cardiovascular exertion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46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Fat_Percentage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64748B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Float64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10.0%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35.0%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24.98</a:t>
                      </a:r>
                      <a:r>
                        <a:rPr b="1" i="0" lang="en-US" sz="1200" u="none" cap="none" strike="noStrike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% ± 6.</a:t>
                      </a:r>
                      <a:r>
                        <a:rPr b="1" lang="en-US" sz="1200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26</a:t>
                      </a:r>
                      <a:r>
                        <a:rPr b="1" i="0" lang="en-US" sz="1200" u="none" cap="none" strike="noStrike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64748B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Realistic body composition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  <a:tr h="4461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Workout_Frequency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64748B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Int64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2 days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5 days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3.</a:t>
                      </a:r>
                      <a:r>
                        <a:rPr b="1" lang="en-US" sz="1200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32</a:t>
                      </a:r>
                      <a:r>
                        <a:rPr b="1" i="0" lang="en-US" sz="1200" u="none" cap="none" strike="noStrike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 ± </a:t>
                      </a:r>
                      <a:r>
                        <a:rPr b="1" lang="en-US" sz="1200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0.91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64748B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Days logged per week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86" name="Google Shape;186;p20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2563E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2. STATISTICAL ANALYSIS</a:t>
            </a:r>
            <a:endParaRPr/>
          </a:p>
        </p:txBody>
      </p:sp>
      <p:sp>
        <p:nvSpPr>
          <p:cNvPr id="187" name="Google Shape;187;p20"/>
          <p:cNvSpPr txBox="1"/>
          <p:nvPr/>
        </p:nvSpPr>
        <p:spPr>
          <a:xfrm>
            <a:off x="609600" y="704850"/>
            <a:ext cx="11582400" cy="3504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Parametric Summary of Key Attributes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1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2563E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3. PLOTS &amp; HISTOGRAMS</a:t>
            </a:r>
            <a:endParaRPr/>
          </a:p>
        </p:txBody>
      </p:sp>
      <p:sp>
        <p:nvSpPr>
          <p:cNvPr id="193" name="Google Shape;193;p21"/>
          <p:cNvSpPr txBox="1"/>
          <p:nvPr/>
        </p:nvSpPr>
        <p:spPr>
          <a:xfrm>
            <a:off x="609600" y="704850"/>
            <a:ext cx="11582400" cy="3504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Target Distribution: Calories Burned</a:t>
            </a:r>
            <a:endParaRPr/>
          </a:p>
        </p:txBody>
      </p:sp>
      <p:sp>
        <p:nvSpPr>
          <p:cNvPr id="194" name="Google Shape;194;p21"/>
          <p:cNvSpPr txBox="1"/>
          <p:nvPr/>
        </p:nvSpPr>
        <p:spPr>
          <a:xfrm>
            <a:off x="609600" y="1170402"/>
            <a:ext cx="115824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Binned histogram of Calories Burned across 10 equal frequency intervals (2</a:t>
            </a:r>
            <a:r>
              <a:rPr lang="en-US" sz="1200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0</a:t>
            </a:r>
            <a:r>
              <a:rPr b="0" i="0" lang="en-US" sz="120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0 kcal to 1,800 kcal).</a:t>
            </a:r>
            <a:endParaRPr/>
          </a:p>
        </p:txBody>
      </p:sp>
      <p:sp>
        <p:nvSpPr>
          <p:cNvPr id="195" name="Google Shape;195;p21"/>
          <p:cNvSpPr txBox="1"/>
          <p:nvPr/>
        </p:nvSpPr>
        <p:spPr>
          <a:xfrm>
            <a:off x="1247800" y="6006825"/>
            <a:ext cx="40335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Normal distribution shape centered near 900 kcal</a:t>
            </a:r>
            <a:endParaRPr/>
          </a:p>
        </p:txBody>
      </p:sp>
      <p:sp>
        <p:nvSpPr>
          <p:cNvPr id="196" name="Google Shape;196;p21"/>
          <p:cNvSpPr txBox="1"/>
          <p:nvPr/>
        </p:nvSpPr>
        <p:spPr>
          <a:xfrm>
            <a:off x="7264250" y="6008075"/>
            <a:ext cx="37821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Slight positive right skew toward endurance workouts</a:t>
            </a:r>
            <a:endParaRPr/>
          </a:p>
        </p:txBody>
      </p:sp>
      <p:pic>
        <p:nvPicPr>
          <p:cNvPr id="197" name="Google Shape;197;p21" title="Screenshot 2026-10-17 at 2.49.08 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51413" y="1460500"/>
            <a:ext cx="5686237" cy="4492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22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2563E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4. CORRELATION ANALYSIS</a:t>
            </a:r>
            <a:endParaRPr/>
          </a:p>
        </p:txBody>
      </p:sp>
      <p:sp>
        <p:nvSpPr>
          <p:cNvPr id="203" name="Google Shape;203;p22"/>
          <p:cNvSpPr txBox="1"/>
          <p:nvPr/>
        </p:nvSpPr>
        <p:spPr>
          <a:xfrm>
            <a:off x="609600" y="704850"/>
            <a:ext cx="11582400" cy="3504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Pearson Correlation with Target (Calories Burned)</a:t>
            </a:r>
            <a:endParaRPr/>
          </a:p>
        </p:txBody>
      </p:sp>
      <p:pic>
        <p:nvPicPr>
          <p:cNvPr id="204" name="Google Shape;204;p22" title="Unknown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90425" y="1207750"/>
            <a:ext cx="8506824" cy="56502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23"/>
          <p:cNvSpPr/>
          <p:nvPr/>
        </p:nvSpPr>
        <p:spPr>
          <a:xfrm>
            <a:off x="609600" y="4666208"/>
            <a:ext cx="10972800" cy="409500"/>
          </a:xfrm>
          <a:prstGeom prst="roundRect">
            <a:avLst>
              <a:gd fmla="val 18604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23"/>
          <p:cNvSpPr/>
          <p:nvPr/>
        </p:nvSpPr>
        <p:spPr>
          <a:xfrm>
            <a:off x="2705100" y="2608808"/>
            <a:ext cx="8115300" cy="228600"/>
          </a:xfrm>
          <a:prstGeom prst="roundRect">
            <a:avLst>
              <a:gd fmla="val 50000" name="adj"/>
            </a:avLst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23"/>
          <p:cNvSpPr/>
          <p:nvPr/>
        </p:nvSpPr>
        <p:spPr>
          <a:xfrm>
            <a:off x="2705100" y="2989808"/>
            <a:ext cx="8115300" cy="228600"/>
          </a:xfrm>
          <a:prstGeom prst="roundRect">
            <a:avLst>
              <a:gd fmla="val 50000" name="adj"/>
            </a:avLst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23"/>
          <p:cNvSpPr/>
          <p:nvPr/>
        </p:nvSpPr>
        <p:spPr>
          <a:xfrm>
            <a:off x="2705100" y="3370808"/>
            <a:ext cx="8115300" cy="228600"/>
          </a:xfrm>
          <a:prstGeom prst="roundRect">
            <a:avLst>
              <a:gd fmla="val 50000" name="adj"/>
            </a:avLst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23"/>
          <p:cNvSpPr/>
          <p:nvPr/>
        </p:nvSpPr>
        <p:spPr>
          <a:xfrm>
            <a:off x="2705100" y="3751808"/>
            <a:ext cx="8115300" cy="228600"/>
          </a:xfrm>
          <a:prstGeom prst="roundRect">
            <a:avLst>
              <a:gd fmla="val 50000" name="adj"/>
            </a:avLst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23"/>
          <p:cNvSpPr/>
          <p:nvPr/>
        </p:nvSpPr>
        <p:spPr>
          <a:xfrm>
            <a:off x="2705100" y="4132808"/>
            <a:ext cx="8115300" cy="228600"/>
          </a:xfrm>
          <a:prstGeom prst="roundRect">
            <a:avLst>
              <a:gd fmla="val 50000" name="adj"/>
            </a:avLst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23"/>
          <p:cNvSpPr/>
          <p:nvPr/>
        </p:nvSpPr>
        <p:spPr>
          <a:xfrm>
            <a:off x="609600" y="4666208"/>
            <a:ext cx="38100" cy="4095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23"/>
          <p:cNvSpPr/>
          <p:nvPr/>
        </p:nvSpPr>
        <p:spPr>
          <a:xfrm>
            <a:off x="2705100" y="2608808"/>
            <a:ext cx="7141500" cy="228600"/>
          </a:xfrm>
          <a:prstGeom prst="roundRect">
            <a:avLst>
              <a:gd fmla="val 50000" name="adj"/>
            </a:avLst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23"/>
          <p:cNvSpPr/>
          <p:nvPr/>
        </p:nvSpPr>
        <p:spPr>
          <a:xfrm>
            <a:off x="2705100" y="2989800"/>
            <a:ext cx="5210400" cy="228600"/>
          </a:xfrm>
          <a:prstGeom prst="roundRect">
            <a:avLst>
              <a:gd fmla="val 50000" name="adj"/>
            </a:avLst>
          </a:prstGeom>
          <a:solidFill>
            <a:srgbClr val="3B82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23"/>
          <p:cNvSpPr/>
          <p:nvPr/>
        </p:nvSpPr>
        <p:spPr>
          <a:xfrm>
            <a:off x="2705100" y="3370800"/>
            <a:ext cx="4444200" cy="228600"/>
          </a:xfrm>
          <a:prstGeom prst="roundRect">
            <a:avLst>
              <a:gd fmla="val 50000" name="adj"/>
            </a:avLst>
          </a:prstGeom>
          <a:solidFill>
            <a:srgbClr val="60A5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23"/>
          <p:cNvSpPr/>
          <p:nvPr/>
        </p:nvSpPr>
        <p:spPr>
          <a:xfrm>
            <a:off x="2705100" y="3751808"/>
            <a:ext cx="2515500" cy="228600"/>
          </a:xfrm>
          <a:prstGeom prst="roundRect">
            <a:avLst>
              <a:gd fmla="val 50000" name="adj"/>
            </a:avLst>
          </a:prstGeom>
          <a:solidFill>
            <a:srgbClr val="93C5F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23"/>
          <p:cNvSpPr/>
          <p:nvPr/>
        </p:nvSpPr>
        <p:spPr>
          <a:xfrm>
            <a:off x="2705100" y="4132808"/>
            <a:ext cx="1947600" cy="228600"/>
          </a:xfrm>
          <a:prstGeom prst="roundRect">
            <a:avLst>
              <a:gd fmla="val 50000" name="adj"/>
            </a:avLst>
          </a:prstGeom>
          <a:solidFill>
            <a:srgbClr val="F8717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23"/>
          <p:cNvSpPr txBox="1"/>
          <p:nvPr/>
        </p:nvSpPr>
        <p:spPr>
          <a:xfrm>
            <a:off x="609600" y="457200"/>
            <a:ext cx="115824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2563E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4. CORRELATION ANALYSIS</a:t>
            </a:r>
            <a:endParaRPr/>
          </a:p>
        </p:txBody>
      </p:sp>
      <p:sp>
        <p:nvSpPr>
          <p:cNvPr id="222" name="Google Shape;222;p23"/>
          <p:cNvSpPr txBox="1"/>
          <p:nvPr/>
        </p:nvSpPr>
        <p:spPr>
          <a:xfrm>
            <a:off x="609600" y="704850"/>
            <a:ext cx="11582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Pearson Correlation with Target (Calories Burned)</a:t>
            </a:r>
            <a:endParaRPr/>
          </a:p>
        </p:txBody>
      </p:sp>
      <p:sp>
        <p:nvSpPr>
          <p:cNvPr id="223" name="Google Shape;223;p23"/>
          <p:cNvSpPr txBox="1"/>
          <p:nvPr/>
        </p:nvSpPr>
        <p:spPr>
          <a:xfrm>
            <a:off x="609600" y="2632620"/>
            <a:ext cx="2381400" cy="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Session_Duration</a:t>
            </a:r>
            <a:endParaRPr/>
          </a:p>
        </p:txBody>
      </p:sp>
      <p:sp>
        <p:nvSpPr>
          <p:cNvPr id="224" name="Google Shape;224;p23"/>
          <p:cNvSpPr txBox="1"/>
          <p:nvPr/>
        </p:nvSpPr>
        <p:spPr>
          <a:xfrm>
            <a:off x="10725150" y="2623095"/>
            <a:ext cx="8574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2563E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+0.</a:t>
            </a:r>
            <a:r>
              <a:rPr b="1" lang="en-US" sz="1200">
                <a:solidFill>
                  <a:srgbClr val="2563E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91</a:t>
            </a:r>
            <a:endParaRPr/>
          </a:p>
        </p:txBody>
      </p:sp>
      <p:sp>
        <p:nvSpPr>
          <p:cNvPr id="225" name="Google Shape;225;p23"/>
          <p:cNvSpPr txBox="1"/>
          <p:nvPr/>
        </p:nvSpPr>
        <p:spPr>
          <a:xfrm>
            <a:off x="609600" y="3013620"/>
            <a:ext cx="2381400" cy="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25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Experience_level</a:t>
            </a:r>
            <a:endParaRPr/>
          </a:p>
        </p:txBody>
      </p:sp>
      <p:sp>
        <p:nvSpPr>
          <p:cNvPr id="226" name="Google Shape;226;p23"/>
          <p:cNvSpPr txBox="1"/>
          <p:nvPr/>
        </p:nvSpPr>
        <p:spPr>
          <a:xfrm>
            <a:off x="10725150" y="3004095"/>
            <a:ext cx="8574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B82F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+0.</a:t>
            </a:r>
            <a:r>
              <a:rPr b="1" lang="en-US" sz="1200">
                <a:solidFill>
                  <a:srgbClr val="3B82F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69</a:t>
            </a:r>
            <a:endParaRPr/>
          </a:p>
        </p:txBody>
      </p:sp>
      <p:sp>
        <p:nvSpPr>
          <p:cNvPr id="227" name="Google Shape;227;p23"/>
          <p:cNvSpPr txBox="1"/>
          <p:nvPr/>
        </p:nvSpPr>
        <p:spPr>
          <a:xfrm>
            <a:off x="609600" y="3394620"/>
            <a:ext cx="2381400" cy="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25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Workout_frequency</a:t>
            </a:r>
            <a:endParaRPr/>
          </a:p>
        </p:txBody>
      </p:sp>
      <p:sp>
        <p:nvSpPr>
          <p:cNvPr id="228" name="Google Shape;228;p23"/>
          <p:cNvSpPr txBox="1"/>
          <p:nvPr/>
        </p:nvSpPr>
        <p:spPr>
          <a:xfrm>
            <a:off x="10725150" y="3385095"/>
            <a:ext cx="8574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+0.</a:t>
            </a:r>
            <a:r>
              <a:rPr b="1" lang="en-US" sz="1200">
                <a:solidFill>
                  <a:srgbClr val="0F172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58</a:t>
            </a:r>
            <a:endParaRPr/>
          </a:p>
        </p:txBody>
      </p:sp>
      <p:sp>
        <p:nvSpPr>
          <p:cNvPr id="229" name="Google Shape;229;p23"/>
          <p:cNvSpPr txBox="1"/>
          <p:nvPr/>
        </p:nvSpPr>
        <p:spPr>
          <a:xfrm>
            <a:off x="609600" y="3775620"/>
            <a:ext cx="2381400" cy="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25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Average_BPM</a:t>
            </a:r>
            <a:endParaRPr/>
          </a:p>
        </p:txBody>
      </p:sp>
      <p:sp>
        <p:nvSpPr>
          <p:cNvPr id="230" name="Google Shape;230;p23"/>
          <p:cNvSpPr txBox="1"/>
          <p:nvPr/>
        </p:nvSpPr>
        <p:spPr>
          <a:xfrm>
            <a:off x="10725150" y="3766095"/>
            <a:ext cx="8574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64748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+0.</a:t>
            </a:r>
            <a:r>
              <a:rPr b="1" lang="en-US" sz="1200">
                <a:solidFill>
                  <a:srgbClr val="64748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34</a:t>
            </a:r>
            <a:endParaRPr/>
          </a:p>
        </p:txBody>
      </p:sp>
      <p:sp>
        <p:nvSpPr>
          <p:cNvPr id="231" name="Google Shape;231;p23"/>
          <p:cNvSpPr txBox="1"/>
          <p:nvPr/>
        </p:nvSpPr>
        <p:spPr>
          <a:xfrm>
            <a:off x="609600" y="4156620"/>
            <a:ext cx="2381400" cy="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Fat_Percentage</a:t>
            </a:r>
            <a:endParaRPr/>
          </a:p>
        </p:txBody>
      </p:sp>
      <p:sp>
        <p:nvSpPr>
          <p:cNvPr id="232" name="Google Shape;232;p23"/>
          <p:cNvSpPr txBox="1"/>
          <p:nvPr/>
        </p:nvSpPr>
        <p:spPr>
          <a:xfrm>
            <a:off x="10725150" y="4147095"/>
            <a:ext cx="8574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EF444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-0.</a:t>
            </a:r>
            <a:r>
              <a:rPr b="1" lang="en-US" sz="1200">
                <a:solidFill>
                  <a:srgbClr val="EF444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60</a:t>
            </a:r>
            <a:endParaRPr/>
          </a:p>
        </p:txBody>
      </p:sp>
      <p:sp>
        <p:nvSpPr>
          <p:cNvPr id="233" name="Google Shape;233;p23"/>
          <p:cNvSpPr txBox="1"/>
          <p:nvPr/>
        </p:nvSpPr>
        <p:spPr>
          <a:xfrm>
            <a:off x="800100" y="4780508"/>
            <a:ext cx="11391900" cy="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Key Takeaway:</a:t>
            </a:r>
            <a:r>
              <a:rPr b="0" i="0" lang="en-US" sz="1125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Workout duration is the primary linear predictor (r = 0.</a:t>
            </a:r>
            <a:r>
              <a:rPr lang="en-US" sz="1125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91</a:t>
            </a:r>
            <a:r>
              <a:rPr b="0" i="0" lang="en-US" sz="1125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), followed by cardiovascular intensity (</a:t>
            </a:r>
            <a:r>
              <a:rPr lang="en-US" sz="1125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Experience_level = 0.69</a:t>
            </a:r>
            <a:r>
              <a:rPr b="0" i="0" lang="en-US" sz="1125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).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24"/>
          <p:cNvSpPr/>
          <p:nvPr/>
        </p:nvSpPr>
        <p:spPr>
          <a:xfrm>
            <a:off x="251800" y="2799300"/>
            <a:ext cx="4320300" cy="2085900"/>
          </a:xfrm>
          <a:prstGeom prst="roundRect">
            <a:avLst>
              <a:gd fmla="val 5479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24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2563E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5. SCATTER PLOTS &amp; MULTIVARIABLE ANALYSIS</a:t>
            </a:r>
            <a:endParaRPr/>
          </a:p>
        </p:txBody>
      </p:sp>
      <p:sp>
        <p:nvSpPr>
          <p:cNvPr id="240" name="Google Shape;240;p24"/>
          <p:cNvSpPr txBox="1"/>
          <p:nvPr/>
        </p:nvSpPr>
        <p:spPr>
          <a:xfrm>
            <a:off x="609600" y="704850"/>
            <a:ext cx="11582400" cy="3504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Workout Type &amp; Gender Interactions</a:t>
            </a:r>
            <a:endParaRPr/>
          </a:p>
        </p:txBody>
      </p:sp>
      <p:sp>
        <p:nvSpPr>
          <p:cNvPr id="241" name="Google Shape;241;p24"/>
          <p:cNvSpPr txBox="1"/>
          <p:nvPr/>
        </p:nvSpPr>
        <p:spPr>
          <a:xfrm>
            <a:off x="454432" y="3075525"/>
            <a:ext cx="46038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Caloric Burn by Workout</a:t>
            </a:r>
            <a:endParaRPr/>
          </a:p>
        </p:txBody>
      </p:sp>
      <p:sp>
        <p:nvSpPr>
          <p:cNvPr id="242" name="Google Shape;242;p24"/>
          <p:cNvSpPr txBox="1"/>
          <p:nvPr/>
        </p:nvSpPr>
        <p:spPr>
          <a:xfrm>
            <a:off x="454432" y="3466050"/>
            <a:ext cx="438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HIIT Workouts:</a:t>
            </a:r>
            <a:r>
              <a:rPr b="0" i="0" lang="en-US" sz="120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Average </a:t>
            </a:r>
            <a:r>
              <a:rPr lang="en-US" sz="120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calories </a:t>
            </a:r>
            <a:r>
              <a:rPr b="0" i="0" lang="en-US" sz="120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burn (~980 kcal).</a:t>
            </a:r>
            <a:endParaRPr/>
          </a:p>
        </p:txBody>
      </p:sp>
      <p:sp>
        <p:nvSpPr>
          <p:cNvPr id="243" name="Google Shape;243;p24"/>
          <p:cNvSpPr txBox="1"/>
          <p:nvPr/>
        </p:nvSpPr>
        <p:spPr>
          <a:xfrm>
            <a:off x="454425" y="3780375"/>
            <a:ext cx="4384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-US" sz="120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Strength Training:</a:t>
            </a:r>
            <a:r>
              <a:rPr lang="en-US" sz="120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Average calories burn (~970 kcal).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rgbClr val="334155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244" name="Google Shape;244;p24"/>
          <p:cNvSpPr txBox="1"/>
          <p:nvPr/>
        </p:nvSpPr>
        <p:spPr>
          <a:xfrm>
            <a:off x="454432" y="4094700"/>
            <a:ext cx="4384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20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Cardio Sessions:</a:t>
            </a:r>
            <a:r>
              <a:rPr lang="en-US" sz="120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Average calories burn (~960 kcal).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rgbClr val="334155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245" name="Google Shape;245;p24"/>
          <p:cNvSpPr txBox="1"/>
          <p:nvPr/>
        </p:nvSpPr>
        <p:spPr>
          <a:xfrm>
            <a:off x="454432" y="4409025"/>
            <a:ext cx="438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Yoga Classes:</a:t>
            </a:r>
            <a:r>
              <a:rPr b="0" i="0" lang="en-US" sz="120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120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Average calories burn (~900 kcal).</a:t>
            </a:r>
            <a:endParaRPr/>
          </a:p>
        </p:txBody>
      </p:sp>
      <p:sp>
        <p:nvSpPr>
          <p:cNvPr id="246" name="Google Shape;246;p24"/>
          <p:cNvSpPr txBox="1"/>
          <p:nvPr/>
        </p:nvSpPr>
        <p:spPr>
          <a:xfrm>
            <a:off x="152400" y="15240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247" name="Google Shape;247;p24" title="Unknown-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96049" y="1229651"/>
            <a:ext cx="7402801" cy="4080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25"/>
          <p:cNvSpPr/>
          <p:nvPr/>
        </p:nvSpPr>
        <p:spPr>
          <a:xfrm>
            <a:off x="7127325" y="1942375"/>
            <a:ext cx="4882800" cy="2486100"/>
          </a:xfrm>
          <a:prstGeom prst="roundRect">
            <a:avLst>
              <a:gd fmla="val 4597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25"/>
          <p:cNvSpPr txBox="1"/>
          <p:nvPr/>
        </p:nvSpPr>
        <p:spPr>
          <a:xfrm>
            <a:off x="609600" y="457200"/>
            <a:ext cx="115824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2563E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5. SCATTER PLOTS &amp; MULTIVARIABLE ANALYSIS</a:t>
            </a:r>
            <a:endParaRPr/>
          </a:p>
        </p:txBody>
      </p:sp>
      <p:sp>
        <p:nvSpPr>
          <p:cNvPr id="254" name="Google Shape;254;p25"/>
          <p:cNvSpPr txBox="1"/>
          <p:nvPr/>
        </p:nvSpPr>
        <p:spPr>
          <a:xfrm>
            <a:off x="609600" y="704850"/>
            <a:ext cx="11582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Workout Type </a:t>
            </a:r>
            <a:r>
              <a:rPr b="1" lang="en-US" sz="2000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Vs (Session_Duration, Calories_Burned, Avg_BPM, Fat_Percentage)</a:t>
            </a:r>
            <a:endParaRPr sz="1000"/>
          </a:p>
        </p:txBody>
      </p:sp>
      <p:sp>
        <p:nvSpPr>
          <p:cNvPr id="255" name="Google Shape;255;p25"/>
          <p:cNvSpPr txBox="1"/>
          <p:nvPr/>
        </p:nvSpPr>
        <p:spPr>
          <a:xfrm>
            <a:off x="7362706" y="2218600"/>
            <a:ext cx="48294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Scatter Matrix Insights</a:t>
            </a:r>
            <a:endParaRPr/>
          </a:p>
        </p:txBody>
      </p:sp>
      <p:sp>
        <p:nvSpPr>
          <p:cNvPr id="256" name="Google Shape;256;p25"/>
          <p:cNvSpPr txBox="1"/>
          <p:nvPr/>
        </p:nvSpPr>
        <p:spPr>
          <a:xfrm>
            <a:off x="7362706" y="2609125"/>
            <a:ext cx="48294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Duration vs Calories:</a:t>
            </a:r>
            <a:r>
              <a:rPr b="0" i="0" lang="en-US" sz="120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Distinct tight linear upward slope.</a:t>
            </a:r>
            <a:endParaRPr/>
          </a:p>
        </p:txBody>
      </p:sp>
      <p:sp>
        <p:nvSpPr>
          <p:cNvPr id="257" name="Google Shape;257;p25"/>
          <p:cNvSpPr txBox="1"/>
          <p:nvPr/>
        </p:nvSpPr>
        <p:spPr>
          <a:xfrm>
            <a:off x="7362706" y="2923450"/>
            <a:ext cx="48294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Heart Rate Clusters:</a:t>
            </a:r>
            <a:r>
              <a:rPr b="0" i="0" lang="en-US" sz="120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Clear separation between HIIT and Yoga.</a:t>
            </a:r>
            <a:endParaRPr/>
          </a:p>
        </p:txBody>
      </p:sp>
      <p:sp>
        <p:nvSpPr>
          <p:cNvPr id="258" name="Google Shape;258;p25"/>
          <p:cNvSpPr txBox="1"/>
          <p:nvPr/>
        </p:nvSpPr>
        <p:spPr>
          <a:xfrm>
            <a:off x="7362706" y="3237775"/>
            <a:ext cx="4155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Gender Differences:</a:t>
            </a:r>
            <a:r>
              <a:rPr b="0" i="0" lang="en-US" sz="120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Slight divergence driven by body mass scale.</a:t>
            </a:r>
            <a:endParaRPr/>
          </a:p>
        </p:txBody>
      </p:sp>
      <p:sp>
        <p:nvSpPr>
          <p:cNvPr id="259" name="Google Shape;259;p25"/>
          <p:cNvSpPr txBox="1"/>
          <p:nvPr/>
        </p:nvSpPr>
        <p:spPr>
          <a:xfrm>
            <a:off x="7362706" y="3752125"/>
            <a:ext cx="4155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Fat % Inverse Slope:</a:t>
            </a:r>
            <a:r>
              <a:rPr b="0" i="0" lang="en-US" sz="120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Higher body fat correlates with lower BPM peak.</a:t>
            </a:r>
            <a:endParaRPr/>
          </a:p>
        </p:txBody>
      </p:sp>
      <p:pic>
        <p:nvPicPr>
          <p:cNvPr id="260" name="Google Shape;260;p25" title="newplot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1800" y="1160100"/>
            <a:ext cx="6547950" cy="57582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26"/>
          <p:cNvSpPr/>
          <p:nvPr/>
        </p:nvSpPr>
        <p:spPr>
          <a:xfrm>
            <a:off x="609600" y="2165895"/>
            <a:ext cx="5334000" cy="3352800"/>
          </a:xfrm>
          <a:prstGeom prst="roundRect">
            <a:avLst>
              <a:gd fmla="val 3409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26"/>
          <p:cNvSpPr/>
          <p:nvPr/>
        </p:nvSpPr>
        <p:spPr>
          <a:xfrm>
            <a:off x="6248400" y="2165895"/>
            <a:ext cx="5334000" cy="3352800"/>
          </a:xfrm>
          <a:prstGeom prst="roundRect">
            <a:avLst>
              <a:gd fmla="val 3409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26"/>
          <p:cNvSpPr/>
          <p:nvPr/>
        </p:nvSpPr>
        <p:spPr>
          <a:xfrm>
            <a:off x="885825" y="2504033"/>
            <a:ext cx="114300" cy="114300"/>
          </a:xfrm>
          <a:prstGeom prst="roundRect">
            <a:avLst>
              <a:gd fmla="val 50000" name="adj"/>
            </a:avLst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26"/>
          <p:cNvSpPr/>
          <p:nvPr/>
        </p:nvSpPr>
        <p:spPr>
          <a:xfrm>
            <a:off x="885825" y="3166020"/>
            <a:ext cx="4781550" cy="447675"/>
          </a:xfrm>
          <a:prstGeom prst="roundRect">
            <a:avLst>
              <a:gd fmla="val 17021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26"/>
          <p:cNvSpPr/>
          <p:nvPr/>
        </p:nvSpPr>
        <p:spPr>
          <a:xfrm>
            <a:off x="885825" y="3708945"/>
            <a:ext cx="4781550" cy="447675"/>
          </a:xfrm>
          <a:prstGeom prst="roundRect">
            <a:avLst>
              <a:gd fmla="val 17021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26"/>
          <p:cNvSpPr/>
          <p:nvPr/>
        </p:nvSpPr>
        <p:spPr>
          <a:xfrm>
            <a:off x="885825" y="4251870"/>
            <a:ext cx="4781550" cy="447675"/>
          </a:xfrm>
          <a:prstGeom prst="roundRect">
            <a:avLst>
              <a:gd fmla="val 17021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26"/>
          <p:cNvSpPr/>
          <p:nvPr/>
        </p:nvSpPr>
        <p:spPr>
          <a:xfrm>
            <a:off x="885825" y="4794795"/>
            <a:ext cx="4781550" cy="447675"/>
          </a:xfrm>
          <a:prstGeom prst="roundRect">
            <a:avLst>
              <a:gd fmla="val 17021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26"/>
          <p:cNvSpPr/>
          <p:nvPr/>
        </p:nvSpPr>
        <p:spPr>
          <a:xfrm>
            <a:off x="6524625" y="2504033"/>
            <a:ext cx="114300" cy="114300"/>
          </a:xfrm>
          <a:prstGeom prst="roundRect">
            <a:avLst>
              <a:gd fmla="val 50000" name="adj"/>
            </a:avLst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26"/>
          <p:cNvSpPr/>
          <p:nvPr/>
        </p:nvSpPr>
        <p:spPr>
          <a:xfrm>
            <a:off x="6524625" y="3166020"/>
            <a:ext cx="4781550" cy="447675"/>
          </a:xfrm>
          <a:prstGeom prst="roundRect">
            <a:avLst>
              <a:gd fmla="val 17021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26"/>
          <p:cNvSpPr/>
          <p:nvPr/>
        </p:nvSpPr>
        <p:spPr>
          <a:xfrm>
            <a:off x="6524625" y="3708945"/>
            <a:ext cx="4781550" cy="447675"/>
          </a:xfrm>
          <a:prstGeom prst="roundRect">
            <a:avLst>
              <a:gd fmla="val 17021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26"/>
          <p:cNvSpPr/>
          <p:nvPr/>
        </p:nvSpPr>
        <p:spPr>
          <a:xfrm>
            <a:off x="6524625" y="4251870"/>
            <a:ext cx="4781550" cy="447675"/>
          </a:xfrm>
          <a:prstGeom prst="roundRect">
            <a:avLst>
              <a:gd fmla="val 17021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26"/>
          <p:cNvSpPr/>
          <p:nvPr/>
        </p:nvSpPr>
        <p:spPr>
          <a:xfrm>
            <a:off x="6524625" y="4794795"/>
            <a:ext cx="4781550" cy="447675"/>
          </a:xfrm>
          <a:prstGeom prst="roundRect">
            <a:avLst>
              <a:gd fmla="val 17021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26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2563E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5. FEATURE ENGINEERING: DISCRETIZATION</a:t>
            </a:r>
            <a:endParaRPr/>
          </a:p>
        </p:txBody>
      </p:sp>
      <p:sp>
        <p:nvSpPr>
          <p:cNvPr id="278" name="Google Shape;278;p26"/>
          <p:cNvSpPr txBox="1"/>
          <p:nvPr/>
        </p:nvSpPr>
        <p:spPr>
          <a:xfrm>
            <a:off x="609600" y="704850"/>
            <a:ext cx="11582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Equal-Frequency Binning for Calories Burned and Fat Percentage</a:t>
            </a:r>
            <a:endParaRPr/>
          </a:p>
        </p:txBody>
      </p:sp>
      <p:sp>
        <p:nvSpPr>
          <p:cNvPr id="279" name="Google Shape;279;p26"/>
          <p:cNvSpPr txBox="1"/>
          <p:nvPr/>
        </p:nvSpPr>
        <p:spPr>
          <a:xfrm>
            <a:off x="885825" y="2832645"/>
            <a:ext cx="59769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125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Divides into 4 quartiles with equal record counts.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25">
              <a:solidFill>
                <a:srgbClr val="64748B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280" name="Google Shape;280;p26"/>
          <p:cNvSpPr txBox="1"/>
          <p:nvPr/>
        </p:nvSpPr>
        <p:spPr>
          <a:xfrm>
            <a:off x="6524625" y="2832645"/>
            <a:ext cx="5667375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Divides into 4 quartiles with equal record counts.</a:t>
            </a:r>
            <a:endParaRPr/>
          </a:p>
        </p:txBody>
      </p:sp>
      <p:sp>
        <p:nvSpPr>
          <p:cNvPr id="281" name="Google Shape;281;p26"/>
          <p:cNvSpPr txBox="1"/>
          <p:nvPr/>
        </p:nvSpPr>
        <p:spPr>
          <a:xfrm>
            <a:off x="1114425" y="2442125"/>
            <a:ext cx="4392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-US" sz="1500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Equal-Frequency (pd.qcut) Calories Burned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rgbClr val="0F172A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282" name="Google Shape;282;p26"/>
          <p:cNvSpPr txBox="1"/>
          <p:nvPr/>
        </p:nvSpPr>
        <p:spPr>
          <a:xfrm>
            <a:off x="6753225" y="2456150"/>
            <a:ext cx="43482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Equal-Frequency (pd.qcut) Fat percentage</a:t>
            </a:r>
            <a:endParaRPr/>
          </a:p>
        </p:txBody>
      </p:sp>
      <p:sp>
        <p:nvSpPr>
          <p:cNvPr id="283" name="Google Shape;283;p26"/>
          <p:cNvSpPr txBox="1"/>
          <p:nvPr/>
        </p:nvSpPr>
        <p:spPr>
          <a:xfrm>
            <a:off x="1009650" y="3289845"/>
            <a:ext cx="14670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050">
                <a:solidFill>
                  <a:srgbClr val="33415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Q1: 302 - 720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334155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284" name="Google Shape;284;p26"/>
          <p:cNvSpPr txBox="1"/>
          <p:nvPr/>
        </p:nvSpPr>
        <p:spPr>
          <a:xfrm>
            <a:off x="4562475" y="3289845"/>
            <a:ext cx="12669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2563E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245 </a:t>
            </a:r>
            <a:r>
              <a:rPr b="1" i="0" lang="en-US" sz="1200" u="none" cap="none" strike="noStrike">
                <a:solidFill>
                  <a:srgbClr val="2563E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members</a:t>
            </a:r>
            <a:endParaRPr/>
          </a:p>
        </p:txBody>
      </p:sp>
      <p:sp>
        <p:nvSpPr>
          <p:cNvPr id="285" name="Google Shape;285;p26"/>
          <p:cNvSpPr txBox="1"/>
          <p:nvPr/>
        </p:nvSpPr>
        <p:spPr>
          <a:xfrm>
            <a:off x="1009650" y="3832770"/>
            <a:ext cx="16956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050">
                <a:solidFill>
                  <a:srgbClr val="33415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Q2: 720 - 893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334155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286" name="Google Shape;286;p26"/>
          <p:cNvSpPr txBox="1"/>
          <p:nvPr/>
        </p:nvSpPr>
        <p:spPr>
          <a:xfrm>
            <a:off x="4514850" y="3832770"/>
            <a:ext cx="13146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2563E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242</a:t>
            </a:r>
            <a:r>
              <a:rPr b="1" i="0" lang="en-US" sz="1200" u="none" cap="none" strike="noStrike">
                <a:solidFill>
                  <a:srgbClr val="2563E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members</a:t>
            </a:r>
            <a:endParaRPr/>
          </a:p>
        </p:txBody>
      </p:sp>
      <p:sp>
        <p:nvSpPr>
          <p:cNvPr id="287" name="Google Shape;287;p26"/>
          <p:cNvSpPr txBox="1"/>
          <p:nvPr/>
        </p:nvSpPr>
        <p:spPr>
          <a:xfrm>
            <a:off x="1009650" y="4375695"/>
            <a:ext cx="1771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050">
                <a:solidFill>
                  <a:srgbClr val="33415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Q3: 893 - 1076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334155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288" name="Google Shape;288;p26"/>
          <p:cNvSpPr txBox="1"/>
          <p:nvPr/>
        </p:nvSpPr>
        <p:spPr>
          <a:xfrm>
            <a:off x="4514850" y="4375695"/>
            <a:ext cx="13146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2563E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2</a:t>
            </a:r>
            <a:r>
              <a:rPr b="1" lang="en-US" sz="1200">
                <a:solidFill>
                  <a:srgbClr val="2563E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43 </a:t>
            </a:r>
            <a:r>
              <a:rPr b="1" i="0" lang="en-US" sz="1200" u="none" cap="none" strike="noStrike">
                <a:solidFill>
                  <a:srgbClr val="2563E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members</a:t>
            </a:r>
            <a:endParaRPr/>
          </a:p>
        </p:txBody>
      </p:sp>
      <p:sp>
        <p:nvSpPr>
          <p:cNvPr id="289" name="Google Shape;289;p26"/>
          <p:cNvSpPr txBox="1"/>
          <p:nvPr/>
        </p:nvSpPr>
        <p:spPr>
          <a:xfrm>
            <a:off x="1009650" y="4918620"/>
            <a:ext cx="1771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050">
                <a:solidFill>
                  <a:srgbClr val="33415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Q4: 1076 - 1783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334155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290" name="Google Shape;290;p26"/>
          <p:cNvSpPr txBox="1"/>
          <p:nvPr/>
        </p:nvSpPr>
        <p:spPr>
          <a:xfrm>
            <a:off x="4600575" y="4918620"/>
            <a:ext cx="12288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2563E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243</a:t>
            </a:r>
            <a:r>
              <a:rPr b="1" i="0" lang="en-US" sz="1200" u="none" cap="none" strike="noStrike">
                <a:solidFill>
                  <a:srgbClr val="2563E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members</a:t>
            </a:r>
            <a:endParaRPr/>
          </a:p>
        </p:txBody>
      </p:sp>
      <p:sp>
        <p:nvSpPr>
          <p:cNvPr id="291" name="Google Shape;291;p26"/>
          <p:cNvSpPr txBox="1"/>
          <p:nvPr/>
        </p:nvSpPr>
        <p:spPr>
          <a:xfrm>
            <a:off x="6648450" y="3289845"/>
            <a:ext cx="11622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33415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Q1: </a:t>
            </a:r>
            <a:r>
              <a:rPr lang="en-US" sz="1050">
                <a:solidFill>
                  <a:srgbClr val="33415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29-35</a:t>
            </a:r>
            <a:endParaRPr/>
          </a:p>
        </p:txBody>
      </p:sp>
      <p:sp>
        <p:nvSpPr>
          <p:cNvPr id="292" name="Google Shape;292;p26"/>
          <p:cNvSpPr txBox="1"/>
          <p:nvPr/>
        </p:nvSpPr>
        <p:spPr>
          <a:xfrm>
            <a:off x="10153650" y="3289845"/>
            <a:ext cx="13146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2</a:t>
            </a:r>
            <a:r>
              <a:rPr b="1" lang="en-US" sz="1200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39 </a:t>
            </a:r>
            <a:r>
              <a:rPr b="1" i="0" lang="en-US" sz="12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members</a:t>
            </a:r>
            <a:endParaRPr/>
          </a:p>
        </p:txBody>
      </p:sp>
      <p:sp>
        <p:nvSpPr>
          <p:cNvPr id="293" name="Google Shape;293;p26"/>
          <p:cNvSpPr txBox="1"/>
          <p:nvPr/>
        </p:nvSpPr>
        <p:spPr>
          <a:xfrm>
            <a:off x="6648450" y="3832770"/>
            <a:ext cx="12384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33415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Q2: </a:t>
            </a:r>
            <a:r>
              <a:rPr lang="en-US" sz="1050">
                <a:solidFill>
                  <a:srgbClr val="33415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26 - 29</a:t>
            </a:r>
            <a:endParaRPr/>
          </a:p>
        </p:txBody>
      </p:sp>
      <p:sp>
        <p:nvSpPr>
          <p:cNvPr id="294" name="Google Shape;294;p26"/>
          <p:cNvSpPr txBox="1"/>
          <p:nvPr/>
        </p:nvSpPr>
        <p:spPr>
          <a:xfrm>
            <a:off x="10153650" y="3832770"/>
            <a:ext cx="13146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24</a:t>
            </a:r>
            <a:r>
              <a:rPr b="1" lang="en-US" sz="1200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5 </a:t>
            </a:r>
            <a:r>
              <a:rPr b="1" i="0" lang="en-US" sz="12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members</a:t>
            </a:r>
            <a:endParaRPr/>
          </a:p>
        </p:txBody>
      </p:sp>
      <p:sp>
        <p:nvSpPr>
          <p:cNvPr id="295" name="Google Shape;295;p26"/>
          <p:cNvSpPr txBox="1"/>
          <p:nvPr/>
        </p:nvSpPr>
        <p:spPr>
          <a:xfrm>
            <a:off x="6648450" y="4375695"/>
            <a:ext cx="13146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33415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Q3: </a:t>
            </a:r>
            <a:r>
              <a:rPr lang="en-US" sz="1050">
                <a:solidFill>
                  <a:srgbClr val="33415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21 -26</a:t>
            </a:r>
            <a:endParaRPr/>
          </a:p>
        </p:txBody>
      </p:sp>
      <p:sp>
        <p:nvSpPr>
          <p:cNvPr id="296" name="Google Shape;296;p26"/>
          <p:cNvSpPr txBox="1"/>
          <p:nvPr/>
        </p:nvSpPr>
        <p:spPr>
          <a:xfrm>
            <a:off x="10153650" y="4375695"/>
            <a:ext cx="13146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2</a:t>
            </a:r>
            <a:r>
              <a:rPr b="1" lang="en-US" sz="1200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36</a:t>
            </a:r>
            <a:r>
              <a:rPr b="1" i="0" lang="en-US" sz="12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members</a:t>
            </a:r>
            <a:endParaRPr/>
          </a:p>
        </p:txBody>
      </p:sp>
      <p:sp>
        <p:nvSpPr>
          <p:cNvPr id="297" name="Google Shape;297;p26"/>
          <p:cNvSpPr txBox="1"/>
          <p:nvPr/>
        </p:nvSpPr>
        <p:spPr>
          <a:xfrm>
            <a:off x="6648450" y="4918625"/>
            <a:ext cx="15300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33415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Q4: </a:t>
            </a:r>
            <a:r>
              <a:rPr lang="en-US" sz="1050">
                <a:solidFill>
                  <a:srgbClr val="33415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9 - 21</a:t>
            </a:r>
            <a:endParaRPr/>
          </a:p>
        </p:txBody>
      </p:sp>
      <p:sp>
        <p:nvSpPr>
          <p:cNvPr id="298" name="Google Shape;298;p26"/>
          <p:cNvSpPr txBox="1"/>
          <p:nvPr/>
        </p:nvSpPr>
        <p:spPr>
          <a:xfrm>
            <a:off x="10153650" y="4918620"/>
            <a:ext cx="13146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2</a:t>
            </a:r>
            <a:r>
              <a:rPr b="1" lang="en-US" sz="1200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53</a:t>
            </a:r>
            <a:r>
              <a:rPr b="1" i="0" lang="en-US" sz="12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members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27"/>
          <p:cNvSpPr txBox="1"/>
          <p:nvPr/>
        </p:nvSpPr>
        <p:spPr>
          <a:xfrm>
            <a:off x="1181100" y="1028700"/>
            <a:ext cx="2925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Reference</a:t>
            </a:r>
            <a:endParaRPr/>
          </a:p>
        </p:txBody>
      </p:sp>
      <p:sp>
        <p:nvSpPr>
          <p:cNvPr id="304" name="Google Shape;304;p27"/>
          <p:cNvSpPr txBox="1"/>
          <p:nvPr/>
        </p:nvSpPr>
        <p:spPr>
          <a:xfrm>
            <a:off x="1379475" y="1642250"/>
            <a:ext cx="68754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u="sng">
                <a:solidFill>
                  <a:schemeClr val="hlink"/>
                </a:solidFill>
                <a:hlinkClick r:id="rId3"/>
              </a:rPr>
              <a:t>https://healthyhabitsexplorer.com/my-one-year-journey-with-the-werise-app-by-senada-greca/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28"/>
          <p:cNvSpPr txBox="1"/>
          <p:nvPr/>
        </p:nvSpPr>
        <p:spPr>
          <a:xfrm>
            <a:off x="3175000" y="1948800"/>
            <a:ext cx="55716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Questions?</a:t>
            </a:r>
            <a:endParaRPr sz="3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