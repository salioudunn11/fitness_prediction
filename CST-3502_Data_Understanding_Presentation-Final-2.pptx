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2" r:id="rId15"/>
  </p:sldIdLst>
  <p:sldSz cx="12192000" cy="6858000"/>
  <p:notesSz cx="6858000" cy="9144000"/>
  <p:embeddedFontLst>
    <p:embeddedFont>
      <p:font typeface="Inter" panose="02000503000000020004" pitchFamily="2" charset="0"/>
      <p:regular r:id="rId17"/>
      <p:bold r:id="rId18"/>
      <p:italic r:id="rId19"/>
      <p:boldItalic r:id="rId20"/>
    </p:embeddedFont>
    <p:embeddedFont>
      <p:font typeface="JetBrains Mono" panose="02000009000000000000" pitchFamily="49" charset="0"/>
      <p:regular r:id="rId21"/>
      <p:bold r:id="rId22"/>
      <p:italic r:id="rId23"/>
      <p:boldItalic r:id="rId24"/>
    </p:embeddedFont>
    <p:embeddedFont>
      <p:font typeface="Plus Jakarta Sans" pitchFamily="2" charset="77"/>
      <p:regular r:id="rId25"/>
      <p:bold r:id="rId26"/>
      <p:italic r:id="rId27"/>
      <p:boldItalic r:id="rId28"/>
    </p:embeddedFont>
    <p:embeddedFont>
      <p:font typeface="Space Grotesk" pitchFamily="2" charset="77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C00773-0F09-4C36-A88E-9A5F6A04E5A2}">
  <a:tblStyle styleId="{CEC00773-0F09-4C36-A88E-9A5F6A04E5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[As the heartbeat line draws across the screen]</a:t>
            </a:r>
          </a:p>
          <a:p>
            <a:r>
              <a:rPr dirty="0"/>
              <a:t>Hi everyone. This is Phase 2 of our project: Data Understanding and Exploratory Analysis.</a:t>
            </a:r>
          </a:p>
          <a:p>
            <a:r>
              <a:rPr dirty="0"/>
              <a:t>We're working with a gym exercise tracking dataset. Before building any models, we looked closely at the data to see what's in it, how clean it is, and which attributes matter.</a:t>
            </a:r>
          </a:p>
          <a:p>
            <a:r>
              <a:rPr dirty="0"/>
              <a:t>[As the five icons appear] These icons are the attributes you'll hear about most today: heart rate, calories burned, session duration, water intake, and workout frequency.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slide shows where our data comes from.</a:t>
            </a:r>
          </a:p>
          <a:p>
            <a:r>
              <a:rPr dirty="0"/>
              <a:t>[Cards slide in] The dataset comes from Kaggle and GitHub. It was collected from fitness center members and combines biometric and workout measurements.</a:t>
            </a:r>
          </a:p>
          <a:p>
            <a:r>
              <a:rPr dirty="0"/>
              <a:t>Our main goal is to predict energy expenditure, meaning how many calories a member burns in a session, and to understand the training patterns behind it.</a:t>
            </a:r>
          </a:p>
          <a:p>
            <a:r>
              <a:rPr dirty="0"/>
              <a:t>The app screens on the right show the kind of tracking tool that produces data like this.</a:t>
            </a:r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Here's the shape of the dataset.</a:t>
            </a:r>
          </a:p>
          <a:p>
            <a:r>
              <a:rPr dirty="0"/>
              <a:t>[Numbers pop in] We have 973 member records and 15 features. 13 are numeric and 2 are categorical.</a:t>
            </a:r>
          </a:p>
          <a:p>
            <a:r>
              <a:rPr dirty="0"/>
              <a:t>Our target is </a:t>
            </a:r>
            <a:r>
              <a:rPr dirty="0" err="1"/>
              <a:t>Calories_Burned</a:t>
            </a:r>
            <a:r>
              <a:rPr dirty="0"/>
              <a:t>, a continuous number, which makes this a regression problem.</a:t>
            </a:r>
          </a:p>
          <a:p>
            <a:r>
              <a:rPr dirty="0"/>
              <a:t>The two categorical features, Gender and </a:t>
            </a:r>
            <a:r>
              <a:rPr dirty="0" err="1"/>
              <a:t>Workout_Type</a:t>
            </a:r>
            <a:r>
              <a:rPr dirty="0"/>
              <a:t>, let us compare groups. </a:t>
            </a:r>
            <a:r>
              <a:rPr dirty="0" err="1"/>
              <a:t>Workout_Type</a:t>
            </a:r>
            <a:r>
              <a:rPr dirty="0"/>
              <a:t> covers Cardio, HIIT, Strength, and Yoga.</a:t>
            </a:r>
          </a:p>
          <a:p>
            <a:r>
              <a:rPr dirty="0"/>
              <a:t>Everything else, like age, weight, heart rate, and session duration, is numeric.</a:t>
            </a:r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Before analysis, we checked data quality.</a:t>
            </a:r>
          </a:p>
          <a:p>
            <a:r>
              <a:rPr dirty="0"/>
              <a:t>[Cards appear one by one] There are zero missing values across all 15 columns, and zero duplicates, so all 973 records are unique.</a:t>
            </a:r>
          </a:p>
          <a:p>
            <a:r>
              <a:rPr dirty="0"/>
              <a:t>We converted pound and inch values for modeling, and we used Z-scores to flag extreme points beyond 3 standard deviations.</a:t>
            </a:r>
          </a:p>
          <a:p>
            <a:r>
              <a:rPr dirty="0"/>
              <a:t>[Result bar] The result: a clean dataset that's ready to work with.</a:t>
            </a:r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20fcd7b782225f8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Next, we looked for outliers using the interquartile range.</a:t>
            </a:r>
          </a:p>
          <a:p>
            <a:r>
              <a:rPr dirty="0"/>
              <a:t>[Top row] Age, heart rates, and session duration have no outliers. They sit in natural, realistic ranges.</a:t>
            </a:r>
          </a:p>
          <a:p>
            <a:r>
              <a:rPr dirty="0"/>
              <a:t>[Bottom row] Weight, BMI, and calories burned do have some high values on the right tail.</a:t>
            </a:r>
          </a:p>
          <a:p>
            <a:r>
              <a:rPr dirty="0"/>
              <a:t>[Right side] The key point: these aren't errors. The highest calorie values come from heavier members doing the longest, two-hour sessions, so they're real and worth keeping.</a:t>
            </a:r>
          </a:p>
        </p:txBody>
      </p:sp>
      <p:sp>
        <p:nvSpPr>
          <p:cNvPr id="154" name="Google Shape;154;h20fcd7b782225f8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table summarizes five key attributes.</a:t>
            </a:r>
          </a:p>
          <a:p>
            <a:r>
              <a:rPr dirty="0"/>
              <a:t>[Table wipes down] Calories burned, highlighted at the top, ranges from about 300 to 1,783, with an average of around 905.</a:t>
            </a:r>
          </a:p>
          <a:p>
            <a:r>
              <a:rPr dirty="0"/>
              <a:t>Sessions run from half an hour to two hours, averaging about 1.26 hours.</a:t>
            </a:r>
          </a:p>
          <a:p>
            <a:r>
              <a:rPr dirty="0"/>
              <a:t>Average heart rate is about 144 BPM, body fat averages about 25 percent, and members work out about 3 days a week.</a:t>
            </a:r>
          </a:p>
          <a:p>
            <a:r>
              <a:rPr dirty="0"/>
              <a:t>All of these values are realistic for gym members.</a:t>
            </a:r>
          </a:p>
        </p:txBody>
      </p:sp>
      <p:sp>
        <p:nvSpPr>
          <p:cNvPr id="185" name="Google Shape;1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Now let's look at our target, calories burned.</a:t>
            </a:r>
          </a:p>
          <a:p>
            <a:r>
              <a:rPr dirty="0"/>
              <a:t>[Bars rise] The histogram is roughly bell-shaped and centered near 900 calories, so most sessions land in the middle.</a:t>
            </a:r>
          </a:p>
          <a:p>
            <a:r>
              <a:rPr dirty="0"/>
              <a:t>There's a slight tail to the right: a smaller group of sessions burns a lot more, usually long endurance workouts.</a:t>
            </a:r>
          </a:p>
          <a:p>
            <a:r>
              <a:rPr dirty="0"/>
              <a:t>This shape matters later when we split calories into groups.</a:t>
            </a:r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121df8db74e1250f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slide shows which attributes move with calories burned.</a:t>
            </a:r>
          </a:p>
          <a:p>
            <a:r>
              <a:rPr dirty="0"/>
              <a:t>[Heatmap appears] On the left is the full correlation matrix. Red means two features rise together, and blue means one rises while the other falls.</a:t>
            </a:r>
          </a:p>
          <a:p>
            <a:r>
              <a:rPr dirty="0"/>
              <a:t>[Bars fill one at a time] On the right are the strongest links to calories. Session duration is by far the strongest at plus 0.91: the longer you train, the more you burn. Experience level follows at 0.69, then workout frequency and average heart rate.</a:t>
            </a:r>
          </a:p>
          <a:p>
            <a:r>
              <a:rPr dirty="0"/>
              <a:t>Body fat percentage is negative at minus 0.60, so members with lower body fat tend to burn more.</a:t>
            </a:r>
          </a:p>
        </p:txBody>
      </p:sp>
      <p:sp>
        <p:nvSpPr>
          <p:cNvPr id="206" name="Google Shape;206;h121df8db74e1250f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Here we compare calories by workout type and gender.</a:t>
            </a:r>
          </a:p>
          <a:p>
            <a:r>
              <a:rPr dirty="0"/>
              <a:t>[Bars rise] HIIT and Strength burn the most, at around 980 and 970 calories, followed by Cardio and then Yoga.</a:t>
            </a:r>
          </a:p>
          <a:p>
            <a:r>
              <a:rPr dirty="0"/>
              <a:t>Across every workout type, male members burn about 100 to 120 more calories on average than female members.</a:t>
            </a:r>
          </a:p>
          <a:p>
            <a:r>
              <a:rPr dirty="0"/>
              <a:t>So both the type of workout and who is doing it make a difference.</a:t>
            </a:r>
          </a:p>
        </p:txBody>
      </p:sp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121df8db74e1250f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This scatter matrix compares duration, calories, heart rate, and body fat, colored by workout type.</a:t>
            </a:r>
          </a:p>
          <a:p>
            <a:r>
              <a:rPr dirty="0"/>
              <a:t>[Insights slide in] First, duration and calories form an almost straight line, which confirms duration is our best predictor.</a:t>
            </a:r>
          </a:p>
          <a:p>
            <a:r>
              <a:rPr dirty="0"/>
              <a:t>Second, duration against body fat splits into two clear clusters: members who train longer than 1.5 hours all have body fat under 20 percent.</a:t>
            </a:r>
          </a:p>
          <a:p>
            <a:r>
              <a:rPr dirty="0"/>
              <a:t>Third, heart rate is spread evenly from 120 to 170 BPM, with no workout type standing out.</a:t>
            </a:r>
          </a:p>
        </p:txBody>
      </p:sp>
      <p:sp>
        <p:nvSpPr>
          <p:cNvPr id="243" name="Google Shape;243;h121df8db74e1250f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To prepare for classification, we tried two ways of splitting calories into four groups.</a:t>
            </a:r>
          </a:p>
          <a:p>
            <a:r>
              <a:rPr dirty="0"/>
              <a:t>[Left column] Equal-width binning cuts the range into equal-sized intervals. Because most sessions sit in the middle, one bin gets 506 members and another gets only 39, which is badly unbalanced.</a:t>
            </a:r>
          </a:p>
          <a:p>
            <a:r>
              <a:rPr dirty="0"/>
              <a:t>[Right column] Equal-frequency binning uses quartiles, so each group has about 243 members.</a:t>
            </a:r>
          </a:p>
          <a:p>
            <a:r>
              <a:rPr dirty="0"/>
              <a:t>We'll use the equal-frequency version for our four intensity tiers: Low, Moderate, High, and Very High.</a:t>
            </a:r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20fcd7b782225f8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Here's our plan for supervised learning, which has two tracks.</a:t>
            </a:r>
          </a:p>
          <a:p>
            <a:r>
              <a:t>First, regression, to predict the exact number of calories. We'll start with simple linear regression on duration, then try decision trees, k-nearest neighbors, and neural networks. We'll measure success by average prediction error.</a:t>
            </a:r>
          </a:p>
          <a:p>
            <a:r>
              <a:t>Second, classification, to sort each workout into the four intensity tiers. We'll test decision trees, Naive Bayes, and k-nearest neighbors, and check accuracy and a confusion matrix.</a:t>
            </a:r>
          </a:p>
        </p:txBody>
      </p:sp>
      <p:sp>
        <p:nvSpPr>
          <p:cNvPr id="293" name="Google Shape;293;h20fcd7b782225f8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20fcd7b782225f84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Finally, unsupervised learning, which also has two parts.</a:t>
            </a:r>
          </a:p>
          <a:p>
            <a:r>
              <a:t>[Left card] With association analysis, we use the Apriori algorithm to find habits that occur together. For example: HIIT plus long duration leads to very high calorie burn. A rule counts only if it meets our thresholds: support at least 0.10, confidence at least 0.70, and lift above 1.</a:t>
            </a:r>
          </a:p>
          <a:p>
            <a:r>
              <a:t>[Right card] With clustering, we use k-Means and hierarchical clustering to group members into fitness profiles, like endurance athletes versus beginners. We'll also flag extreme sessions over 1,600 calories so they don't skew the results.</a:t>
            </a:r>
          </a:p>
        </p:txBody>
      </p:sp>
      <p:sp>
        <p:nvSpPr>
          <p:cNvPr id="299" name="Google Shape;299;h20fcd7b782225f84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[Heartbeat line draws in]</a:t>
            </a:r>
          </a:p>
          <a:p>
            <a:r>
              <a:t>To sum up: our data is clean, 973 records with 15 features, and session duration is the strongest driver of calories burned.</a:t>
            </a:r>
          </a:p>
          <a:p>
            <a:r>
              <a:t>Thank you. We're happy to take any questions.</a:t>
            </a:r>
          </a:p>
        </p:txBody>
      </p:sp>
      <p:sp>
        <p:nvSpPr>
          <p:cNvPr id="317" name="Google Shape;3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e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4920"/>
            <a:ext cx="12191695" cy="1627632"/>
          </a:xfrm>
          <a:prstGeom prst="rect">
            <a:avLst/>
          </a:prstGeom>
        </p:spPr>
      </p:pic>
      <p:sp>
        <p:nvSpPr>
          <p:cNvPr id="84" name="Google Shape;84;p13"/>
          <p:cNvSpPr/>
          <p:nvPr/>
        </p:nvSpPr>
        <p:spPr>
          <a:xfrm>
            <a:off x="762000" y="4217325"/>
            <a:ext cx="457200" cy="483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1787797"/>
            <a:ext cx="8601000" cy="12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2: Data Understanding &amp; Exploratory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379499"/>
            <a:ext cx="65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Empirical inspection, statistical distributions, correlation modeling, and preprocessing of gym workout records.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24000" y="4142300"/>
            <a:ext cx="283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Gym Exercise Tracking Dataset</a:t>
            </a:r>
            <a:endParaRPr/>
          </a:p>
        </p:txBody>
      </p:sp>
      <p:sp>
        <p:nvSpPr>
          <p:cNvPr id="89" name="Oval 88"/>
          <p:cNvSpPr/>
          <p:nvPr/>
        </p:nvSpPr>
        <p:spPr>
          <a:xfrm>
            <a:off x="8732520" y="1417320"/>
            <a:ext cx="2651760" cy="2651760"/>
          </a:xfrm>
          <a:prstGeom prst="ellipse">
            <a:avLst/>
          </a:prstGeom>
          <a:noFill/>
          <a:ln w="254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0"/>
          <p:cNvGrpSpPr/>
          <p:nvPr/>
        </p:nvGrpSpPr>
        <p:grpSpPr>
          <a:xfrm>
            <a:off x="9098280" y="1783080"/>
            <a:ext cx="1920240" cy="1920240"/>
            <a:chOff x="9098280" y="1783080"/>
            <a:chExt cx="1920240" cy="1920240"/>
          </a:xfrm>
        </p:grpSpPr>
        <p:sp>
          <p:nvSpPr>
            <p:cNvPr id="90" name="Oval 89"/>
            <p:cNvSpPr/>
            <p:nvPr/>
          </p:nvSpPr>
          <p:spPr>
            <a:xfrm>
              <a:off x="9098280" y="1783080"/>
              <a:ext cx="1920240" cy="192024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1" name="Picture 90" descr="FaDumbbell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9137" y="2243937"/>
              <a:ext cx="998524" cy="998524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8065008" y="4297680"/>
            <a:ext cx="502920" cy="502920"/>
            <a:chOff x="8065008" y="4297680"/>
            <a:chExt cx="502920" cy="502920"/>
          </a:xfrm>
        </p:grpSpPr>
        <p:sp>
          <p:nvSpPr>
            <p:cNvPr id="92" name="Oval 91"/>
            <p:cNvSpPr/>
            <p:nvPr/>
          </p:nvSpPr>
          <p:spPr>
            <a:xfrm>
              <a:off x="8065008" y="4297680"/>
              <a:ext cx="502920" cy="50292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3" name="Picture 92" descr="FaHear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570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94" name="TextBox 93"/>
          <p:cNvSpPr txBox="1"/>
          <p:nvPr/>
        </p:nvSpPr>
        <p:spPr>
          <a:xfrm>
            <a:off x="788212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Plus Jakarta Sans"/>
              </a:rPr>
              <a:t>AVG BPM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842248" y="4297680"/>
            <a:ext cx="502920" cy="502920"/>
            <a:chOff x="8842248" y="4297680"/>
            <a:chExt cx="502920" cy="502920"/>
          </a:xfrm>
        </p:grpSpPr>
        <p:sp>
          <p:nvSpPr>
            <p:cNvPr id="95" name="Oval 94"/>
            <p:cNvSpPr/>
            <p:nvPr/>
          </p:nvSpPr>
          <p:spPr>
            <a:xfrm>
              <a:off x="8842248" y="4297680"/>
              <a:ext cx="502920" cy="50292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6" name="Picture 95" descr="FaFir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6294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97" name="TextBox 96"/>
          <p:cNvSpPr txBox="1"/>
          <p:nvPr/>
        </p:nvSpPr>
        <p:spPr>
          <a:xfrm>
            <a:off x="865936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Plus Jakarta Sans"/>
              </a:rPr>
              <a:t>CALORIES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619488" y="4297680"/>
            <a:ext cx="502920" cy="502920"/>
            <a:chOff x="9619488" y="4297680"/>
            <a:chExt cx="502920" cy="502920"/>
          </a:xfrm>
        </p:grpSpPr>
        <p:sp>
          <p:nvSpPr>
            <p:cNvPr id="98" name="Oval 97"/>
            <p:cNvSpPr/>
            <p:nvPr/>
          </p:nvSpPr>
          <p:spPr>
            <a:xfrm>
              <a:off x="9619488" y="4297680"/>
              <a:ext cx="502920" cy="50292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9" name="Picture 98" descr="FaStopwatch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4018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100" name="TextBox 99"/>
          <p:cNvSpPr txBox="1"/>
          <p:nvPr/>
        </p:nvSpPr>
        <p:spPr>
          <a:xfrm>
            <a:off x="943660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Plus Jakarta Sans"/>
              </a:rPr>
              <a:t>DURATION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396728" y="4297680"/>
            <a:ext cx="502920" cy="502920"/>
            <a:chOff x="10396728" y="4297680"/>
            <a:chExt cx="502920" cy="502920"/>
          </a:xfrm>
        </p:grpSpPr>
        <p:sp>
          <p:nvSpPr>
            <p:cNvPr id="101" name="Oval 100"/>
            <p:cNvSpPr/>
            <p:nvPr/>
          </p:nvSpPr>
          <p:spPr>
            <a:xfrm>
              <a:off x="10396728" y="4297680"/>
              <a:ext cx="502920" cy="50292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2" name="Picture 101" descr="FaTint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1742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103" name="TextBox 102"/>
          <p:cNvSpPr txBox="1"/>
          <p:nvPr/>
        </p:nvSpPr>
        <p:spPr>
          <a:xfrm>
            <a:off x="1021384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Plus Jakarta Sans"/>
              </a:rPr>
              <a:t>WATER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173968" y="4297680"/>
            <a:ext cx="502920" cy="502920"/>
            <a:chOff x="11173968" y="4297680"/>
            <a:chExt cx="502920" cy="502920"/>
          </a:xfrm>
        </p:grpSpPr>
        <p:sp>
          <p:nvSpPr>
            <p:cNvPr id="104" name="Oval 103"/>
            <p:cNvSpPr/>
            <p:nvPr/>
          </p:nvSpPr>
          <p:spPr>
            <a:xfrm>
              <a:off x="11173968" y="4297680"/>
              <a:ext cx="502920" cy="50292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5" name="Picture 104" descr="FaCalendarCheck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294668" y="4418380"/>
              <a:ext cx="261518" cy="261518"/>
            </a:xfrm>
            <a:prstGeom prst="rect">
              <a:avLst/>
            </a:prstGeom>
          </p:spPr>
        </p:pic>
      </p:grpSp>
      <p:sp>
        <p:nvSpPr>
          <p:cNvPr id="106" name="TextBox 105"/>
          <p:cNvSpPr txBox="1"/>
          <p:nvPr/>
        </p:nvSpPr>
        <p:spPr>
          <a:xfrm>
            <a:off x="10991088" y="484632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BD5E1"/>
                </a:solidFill>
                <a:latin typeface="Plus Jakarta Sans"/>
              </a:rPr>
              <a:t>FREQUENCY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mph" presetSubtype="0" repeatCount="6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34" dur="18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mph" presetSubtype="0" repeatCount="6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41" dur="26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0" presetClass="path" presetSubtype="0" repeatCount="4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 -0.03 E" pathEditMode="relative" ptsTypes="AA">
                                      <p:cBhvr>
                                        <p:cTn id="55" dur="45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123025"/>
            <a:ext cx="6277500" cy="103830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09600" y="3313650"/>
            <a:ext cx="6277500" cy="104760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9600" y="4513800"/>
            <a:ext cx="6277500" cy="104760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Provenance &amp; Scope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2323058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SOURCE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532608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Kaggle / GitHub Repository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789783"/>
            <a:ext cx="6119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https://www.kaggle.com/datasets/valakhorasani/gym-members-exercise-dataset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51368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COLLECTION CONTEXT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72323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Fitness Center Member Tracking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980408"/>
            <a:ext cx="61194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Aggregated biometric and physiological workout metrics.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4713833"/>
            <a:ext cx="61194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OBJECTIVE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923383"/>
            <a:ext cx="61194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Energy Expenditure Prediction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5180558"/>
            <a:ext cx="611944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Exploratory baselining for caloric burn modeling and training patterns.</a:t>
            </a:r>
            <a:endParaRPr/>
          </a:p>
        </p:txBody>
      </p:sp>
      <p:pic>
        <p:nvPicPr>
          <p:cNvPr id="105" name="Google Shape;105;p1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2775" y="1755875"/>
            <a:ext cx="4958124" cy="4153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06" name="Oval 105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7" name="Picture 106" descr="FaDatabas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mph" presetSubtype="0" repeatCount="2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609544" y="1740775"/>
            <a:ext cx="3505200" cy="1384500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343344" y="1740775"/>
            <a:ext cx="3505200" cy="1384500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077144" y="1740775"/>
            <a:ext cx="3505200" cy="1384500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09600" y="3429000"/>
            <a:ext cx="5372100" cy="139710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9525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210300" y="3429000"/>
            <a:ext cx="5372100" cy="13971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Structural Profile &amp; Target Variable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90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90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Member Records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2028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2028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Observed Features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936650" y="2017678"/>
            <a:ext cx="378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/ 2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936650" y="2637941"/>
            <a:ext cx="3786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 vs. Categorical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85825" y="3679087"/>
            <a:ext cx="6024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CLASS IDENTIFICATION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85825" y="3886056"/>
            <a:ext cx="6024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9A34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Calories_Burned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858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numerical regression target indicating total energy output per exercise session.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86525" y="3679087"/>
            <a:ext cx="5705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CATEGORICAL </a:t>
            </a:r>
            <a:r>
              <a:rPr lang="en-US" sz="1050" b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486525" y="3886056"/>
            <a:ext cx="57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&amp; Workout_Type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86525" y="4213756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(Male / Female) and Workout Type (Cardio, HIIT, Strength, Yoga) serve as key groupings.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6210300" y="5075100"/>
            <a:ext cx="5524500" cy="13845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415725" y="5298975"/>
            <a:ext cx="5928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NUMERICAL </a:t>
            </a: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415700" y="5528025"/>
            <a:ext cx="5372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Age, Weight, Height, Max_BPM, Avg_BPM,Resting_BPM, Session_Duration, Fat_Percentage, Water_Intake, Workout_Frequency, Experience_Level, BMI</a:t>
            </a:r>
            <a:endParaRPr sz="1500" b="1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31" name="Oval 130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32" name="Picture 131" descr="FaClipboardLis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mph" presetSubtype="0" repeatCount="2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60960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0995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21030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9010650" y="2568803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Detected Anomalies &amp; Cleansing Steps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8582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Missing Values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85825" y="361655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null entries across all 15 columns.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368617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Duplicates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3686175" y="361655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973 unique tracking records confirmed.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8652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Transformation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486525" y="3616553"/>
            <a:ext cx="211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Converted 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pounds and inches for modeling.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286875" y="3302228"/>
            <a:ext cx="265033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Z-Score Outliers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286875" y="3616553"/>
            <a:ext cx="2114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Identified extreme points exceeding |Z| &gt; 3.</a:t>
            </a:r>
            <a:endParaRPr/>
          </a:p>
        </p:txBody>
      </p:sp>
      <p:grpSp>
        <p:nvGrpSpPr>
          <p:cNvPr id="6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52" name="Oval 151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53" name="Picture 152" descr="FaBroo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867537" y="2734056"/>
            <a:ext cx="502920" cy="502920"/>
            <a:chOff x="867537" y="3145536"/>
            <a:chExt cx="502920" cy="502920"/>
          </a:xfrm>
        </p:grpSpPr>
        <p:sp>
          <p:nvSpPr>
            <p:cNvPr id="154" name="Oval 153"/>
            <p:cNvSpPr/>
            <p:nvPr/>
          </p:nvSpPr>
          <p:spPr>
            <a:xfrm>
              <a:off x="867537" y="3145536"/>
              <a:ext cx="502920" cy="50292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55" name="Picture 154" descr="FaCheckCircl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237" y="3266236"/>
              <a:ext cx="261518" cy="261518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3667887" y="2734056"/>
            <a:ext cx="502920" cy="502920"/>
            <a:chOff x="3667887" y="3145536"/>
            <a:chExt cx="502920" cy="502920"/>
          </a:xfrm>
        </p:grpSpPr>
        <p:sp>
          <p:nvSpPr>
            <p:cNvPr id="156" name="Oval 155"/>
            <p:cNvSpPr/>
            <p:nvPr/>
          </p:nvSpPr>
          <p:spPr>
            <a:xfrm>
              <a:off x="3667887" y="3145536"/>
              <a:ext cx="502920" cy="50292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57" name="Picture 156" descr="FaClon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88587" y="3266236"/>
              <a:ext cx="261518" cy="261518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6468237" y="2734056"/>
            <a:ext cx="502920" cy="502920"/>
            <a:chOff x="6468237" y="3145536"/>
            <a:chExt cx="502920" cy="502920"/>
          </a:xfrm>
        </p:grpSpPr>
        <p:sp>
          <p:nvSpPr>
            <p:cNvPr id="158" name="Oval 157"/>
            <p:cNvSpPr/>
            <p:nvPr/>
          </p:nvSpPr>
          <p:spPr>
            <a:xfrm>
              <a:off x="6468237" y="3145536"/>
              <a:ext cx="502920" cy="50292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59" name="Picture 158" descr="FaExchangeAl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88937" y="3266236"/>
              <a:ext cx="261518" cy="261518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9268587" y="2734056"/>
            <a:ext cx="502920" cy="502920"/>
            <a:chOff x="9268587" y="3145536"/>
            <a:chExt cx="502920" cy="502920"/>
          </a:xfrm>
        </p:grpSpPr>
        <p:sp>
          <p:nvSpPr>
            <p:cNvPr id="160" name="Oval 159"/>
            <p:cNvSpPr/>
            <p:nvPr/>
          </p:nvSpPr>
          <p:spPr>
            <a:xfrm>
              <a:off x="9268587" y="3145536"/>
              <a:ext cx="502920" cy="50292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1" name="Picture 160" descr="FaExclamationTriangl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89287" y="3266236"/>
              <a:ext cx="261518" cy="261518"/>
            </a:xfrm>
            <a:prstGeom prst="rect">
              <a:avLst/>
            </a:prstGeom>
          </p:spPr>
        </p:pic>
      </p:grpSp>
      <p:sp>
        <p:nvSpPr>
          <p:cNvPr id="162" name="Rounded Rectangle 161"/>
          <p:cNvSpPr/>
          <p:nvPr/>
        </p:nvSpPr>
        <p:spPr>
          <a:xfrm>
            <a:off x="612648" y="4800600"/>
            <a:ext cx="10963656" cy="685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68680" y="48006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Plus Jakarta Sans"/>
              </a:rPr>
              <a:t>Result:  </a:t>
            </a:r>
            <a:r>
              <a:rPr sz="1500" b="0">
                <a:solidFill>
                  <a:srgbClr val="FFFFFF"/>
                </a:solidFill>
                <a:latin typeface="Plus Jakarta Sans"/>
              </a:rPr>
              <a:t>a clean, duplicate-free dataset of 973 records × 15 features — ready to train 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8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8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mph" presetSubtype="0" repeatCount="2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533400" y="2024501"/>
            <a:ext cx="6675000" cy="2881800"/>
          </a:xfrm>
          <a:prstGeom prst="roundRect">
            <a:avLst>
              <a:gd name="adj" fmla="val 43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475198" y="1828150"/>
            <a:ext cx="4183500" cy="1536900"/>
          </a:xfrm>
          <a:prstGeom prst="roundRect">
            <a:avLst>
              <a:gd name="adj" fmla="val 815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475198" y="3565926"/>
            <a:ext cx="4183500" cy="1536900"/>
          </a:xfrm>
          <a:prstGeom prst="roundRect">
            <a:avLst>
              <a:gd name="adj" fmla="val 815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33425" y="2726824"/>
            <a:ext cx="2028000" cy="7023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856758" y="2726824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980240" y="2726824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33425" y="3554560"/>
            <a:ext cx="2028000" cy="702300"/>
          </a:xfrm>
          <a:prstGeom prst="roundRect">
            <a:avLst>
              <a:gd name="adj" fmla="val 10714"/>
            </a:avLst>
          </a:prstGeom>
          <a:solidFill>
            <a:srgbClr val="FFF7ED"/>
          </a:solidFill>
          <a:ln w="9525" cap="flat" cmpd="sng">
            <a:solidFill>
              <a:srgbClr val="FED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856758" y="3554560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980240" y="3554560"/>
            <a:ext cx="2028300" cy="702300"/>
          </a:xfrm>
          <a:prstGeom prst="roundRect">
            <a:avLst>
              <a:gd name="adj" fmla="val 10714"/>
            </a:avLst>
          </a:prstGeom>
          <a:solidFill>
            <a:srgbClr val="FEF2F2"/>
          </a:solidFill>
          <a:ln w="9525" cap="flat" cmpd="sng">
            <a:solidFill>
              <a:srgbClr val="FECA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Space Grotesk"/>
                <a:cs typeface="Space Grotesk"/>
                <a:sym typeface="Space Grotesk"/>
              </a:rPr>
              <a:t>Numerical Attribute Outlier Distribution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33425" y="2287872"/>
            <a:ext cx="823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IQR Dispersion across 13 Numerical Dimensions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75223" y="2091521"/>
            <a:ext cx="4516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Natural Physiological Spread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75223" y="2405058"/>
            <a:ext cx="38787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negative, corrupt, or truncated values exist. Features like Water_Intake and Workout_Frequency sit entirely within plausible real-world ranges.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75223" y="3829297"/>
            <a:ext cx="4516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Right-Tail Outlier Drivers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75223" y="4142834"/>
            <a:ext cx="38787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Upper fliers in Calories_Burned correspond strictly to maximum 2.0-hour workout sessions by high-mass individuals rather than random measurement noise.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38200" y="2864780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 (18–59)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38200" y="3090526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fliers • Symmetric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2961533" y="2864780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Heart Rates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2961533" y="3090526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fliers • Bounded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085015" y="2864780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Duration (0.5–2h)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085015" y="3090526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Zero fliers • Uniform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8200" y="3692517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Weight (kg)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38200" y="3918263"/>
            <a:ext cx="2273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1 flier at 130 kg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2961533" y="3692517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BMI (12.3–49.9)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2961533" y="3918263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Dense right fliers (&gt;41)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085015" y="3692517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Calories Burned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085015" y="3918263"/>
            <a:ext cx="2273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Upper fliers (&gt;1600)</a:t>
            </a:r>
            <a:endParaRPr/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83" name="Oval 182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84" name="Picture 183" descr="FaRulerVertica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mph" presetSubtype="0" repeatCount="2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8"/>
          <p:cNvGraphicFramePr/>
          <p:nvPr/>
        </p:nvGraphicFramePr>
        <p:xfrm>
          <a:off x="555225" y="1697733"/>
          <a:ext cx="10972775" cy="2676475"/>
        </p:xfrm>
        <a:graphic>
          <a:graphicData uri="http://schemas.openxmlformats.org/drawingml/2006/table">
            <a:tbl>
              <a:tblPr>
                <a:noFill/>
                <a:tableStyleId>{CEC00773-0F09-4C36-A88E-9A5F6A04E5A2}</a:tableStyleId>
              </a:tblPr>
              <a:tblGrid>
                <a:gridCol w="276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8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Feature Attribute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Mean ± Std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Observed Spread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Calories_Burned (Target)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303.00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1783.00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</a:t>
                      </a:r>
                      <a:r>
                        <a:rPr lang="en-US" sz="1200" b="1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</a:t>
                      </a:r>
                      <a:r>
                        <a:rPr lang="en-US" sz="1200" b="1" i="0" u="none" strike="noStrike" cap="none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.42 ± 2</a:t>
                      </a:r>
                      <a:r>
                        <a:rPr lang="en-US" sz="1200" b="1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Broad continuous 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Session_Duration (hours)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1.2</a:t>
                      </a: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</a:t>
                      </a: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0.3</a:t>
                      </a: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Uniform exercise window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Avg_BPM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120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lang="en-US" sz="120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43.77</a:t>
                      </a: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14.35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Cardiovascular exertion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Fat_Percentage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Float64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35.0%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24.98</a:t>
                      </a: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 ± 6.</a:t>
                      </a: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26</a:t>
                      </a: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Realistic body composition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Workout_Frequency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days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 days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</a:t>
                      </a: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32</a:t>
                      </a: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± </a:t>
                      </a:r>
                      <a:r>
                        <a:rPr lang="en-US" sz="1200" b="1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0.91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Days logged per week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8" name="Google Shape;188;p18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Parametric Summary of Key Attributes</a:t>
            </a:r>
            <a:endParaRPr/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89" name="Oval 188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90" name="Picture 189" descr="FaTab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2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Distribution: Calories Burned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09600" y="1170402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Binned histogram of Calories Burned across 10 intervals (2</a:t>
            </a:r>
            <a:r>
              <a:rPr lang="en-US" sz="12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kcal to 1,800 kcal).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47800" y="6006825"/>
            <a:ext cx="40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 distribution shape centered near 900 kcal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264250" y="6008075"/>
            <a:ext cx="3782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Slight positive right skew toward endurance workouts</a:t>
            </a:r>
            <a:endParaRPr/>
          </a:p>
        </p:txBody>
      </p:sp>
      <p:grpSp>
        <p:nvGrpSpPr>
          <p:cNvPr id="4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198" name="Oval 197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99" name="Picture 198" descr="FaFir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pic>
        <p:nvPicPr>
          <p:cNvPr id="200" name="Picture 199" descr="hist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100" y="1506977"/>
            <a:ext cx="5513800" cy="4348073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832104" y="5971032"/>
            <a:ext cx="292608" cy="292608"/>
            <a:chOff x="832104" y="5971032"/>
            <a:chExt cx="292608" cy="292608"/>
          </a:xfrm>
        </p:grpSpPr>
        <p:sp>
          <p:nvSpPr>
            <p:cNvPr id="201" name="Oval 200"/>
            <p:cNvSpPr/>
            <p:nvPr/>
          </p:nvSpPr>
          <p:spPr>
            <a:xfrm>
              <a:off x="832104" y="5971032"/>
              <a:ext cx="292608" cy="292608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02" name="Picture 201" descr="FaHeartbeat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329" y="6041257"/>
              <a:ext cx="152156" cy="152156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6848856" y="5971032"/>
            <a:ext cx="292608" cy="292608"/>
            <a:chOff x="6848856" y="5971032"/>
            <a:chExt cx="292608" cy="292608"/>
          </a:xfrm>
        </p:grpSpPr>
        <p:sp>
          <p:nvSpPr>
            <p:cNvPr id="203" name="Oval 202"/>
            <p:cNvSpPr/>
            <p:nvPr/>
          </p:nvSpPr>
          <p:spPr>
            <a:xfrm>
              <a:off x="6848856" y="5971032"/>
              <a:ext cx="292608" cy="292608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04" name="Picture 203" descr="FaFir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9081" y="6041257"/>
              <a:ext cx="152156" cy="152156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6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repeatCount="6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21" dur="26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6492240" y="4539823"/>
            <a:ext cx="5120640" cy="777240"/>
          </a:xfrm>
          <a:prstGeom prst="roundRect">
            <a:avLst>
              <a:gd name="adj" fmla="val 1860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092440" y="1847500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8092440" y="2346078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8092440" y="2844656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8092440" y="3343235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8092440" y="3841813"/>
            <a:ext cx="2788920" cy="2991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492240" y="4539823"/>
            <a:ext cx="38100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8092440" y="1847500"/>
            <a:ext cx="2452880" cy="2991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092440" y="2346068"/>
            <a:ext cx="1789608" cy="299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8092440" y="2844646"/>
            <a:ext cx="1526442" cy="299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8092440" y="3343235"/>
            <a:ext cx="863994" cy="299100"/>
          </a:xfrm>
          <a:prstGeom prst="roundRect">
            <a:avLst>
              <a:gd name="adj" fmla="val 50000"/>
            </a:avLst>
          </a:prstGeom>
          <a:solidFill>
            <a:srgbClr val="FDBA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8092440" y="3841813"/>
            <a:ext cx="668939" cy="2991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Pearson Correlation with Target (Calories Burned)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492240" y="1878660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Session_Duration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945368" y="1847500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91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492240" y="2377239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0945368" y="2376689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69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492240" y="2875817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Workout_frequency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0945368" y="2905877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58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492240" y="3374395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Average_BPM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945368" y="3435066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+0.</a:t>
            </a:r>
            <a:r>
              <a:rPr lang="en-US" sz="1200" b="1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492240" y="3872974"/>
            <a:ext cx="155448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Fat_Percentage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945368" y="3964255"/>
            <a:ext cx="66751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-0.</a:t>
            </a:r>
            <a:r>
              <a:rPr lang="en-US" sz="1200" b="1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675120" y="4645152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Takeaway: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Workout duration is the primary linear predictor (r = 0.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), followed by 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 experience level 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112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Experience_level = 0.69</a:t>
            </a:r>
            <a:r>
              <a:rPr lang="en-US" sz="1125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32" name="Oval 231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33" name="Picture 232" descr="FaChartLin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pic>
        <p:nvPicPr>
          <p:cNvPr id="234" name="Picture 2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25880"/>
            <a:ext cx="5511901" cy="5120640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6492240" y="1417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Plus Jakarta Sans"/>
              </a:rPr>
              <a:t>STRONGEST LINKS TO CALORIES BURNED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8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8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8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mph" presetSubtype="0" repeatCount="200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/>
          <p:nvPr/>
        </p:nvSpPr>
        <p:spPr>
          <a:xfrm>
            <a:off x="251800" y="1683075"/>
            <a:ext cx="4320300" cy="3124200"/>
          </a:xfrm>
          <a:prstGeom prst="roundRect">
            <a:avLst>
              <a:gd name="adj" fmla="val 547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&amp; Gender Interactions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39" name="Google Shape;239;p22" title="Unknow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049" y="1229651"/>
            <a:ext cx="7402801" cy="408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483650" y="1839209"/>
            <a:ext cx="4043100" cy="27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KEY TAKEAWAYS:</a:t>
            </a:r>
            <a:r>
              <a:rPr lang="en-US" b="1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Category Ranking: HIIT (~980 kcal) and Strength (~970 kcal) yield the highest average caloric expenditure, followed by Cardio (~960 kcal) and Yoga (~900 kcal)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US">
                <a:solidFill>
                  <a:schemeClr val="dk1"/>
                </a:solidFill>
              </a:rPr>
              <a:t>Gender Expenditure Differential: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>
                <a:solidFill>
                  <a:schemeClr val="dk1"/>
                </a:solidFill>
              </a:rPr>
              <a:t>Male records average higher caloric output across all categories (~100–120 kcal delta)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41" name="Oval 240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42" name="Picture 241" descr="FaRunning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3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repeatCount="8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 -0.012 E" pathEditMode="relative" ptsTypes="AA">
                                      <p:cBhvr>
                                        <p:cTn id="17" dur="22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7127325" y="1942375"/>
            <a:ext cx="4882800" cy="4567500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Workout Type </a:t>
            </a:r>
            <a:r>
              <a:rPr lang="en-US" sz="20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Vs (Session_Duration, Calories_Burned, Avg_BPM, Fat_Percentage)</a:t>
            </a:r>
            <a:endParaRPr sz="1000"/>
          </a:p>
        </p:txBody>
      </p:sp>
      <p:sp>
        <p:nvSpPr>
          <p:cNvPr id="247" name="Google Shape;247;p23"/>
          <p:cNvSpPr txBox="1"/>
          <p:nvPr/>
        </p:nvSpPr>
        <p:spPr>
          <a:xfrm>
            <a:off x="7362700" y="2195725"/>
            <a:ext cx="4534800" cy="3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Scatter Matrix: Duration, Calories, Heart Rate &amp; Fat Percentage </a:t>
            </a:r>
            <a:endParaRPr sz="1500" b="1"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 sz="1200">
                <a:solidFill>
                  <a:schemeClr val="dk1"/>
                </a:solidFill>
              </a:rPr>
              <a:t>PRIMARY PREDICTOR ALIGNMENT: Session duration and calories burned form a direct, deterministic linear path across all four workout types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 sz="1200">
                <a:solidFill>
                  <a:schemeClr val="dk1"/>
                </a:solidFill>
              </a:rPr>
              <a:t>TWO DISTINCT TRAINING SUBGROUPS: Data separates cleanly into two discrete rectangular clusters when pairing session length against body fat percentage (sessions &gt; 1.5 hrs strictly map to body fat &lt; 20%)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US" sz="1200">
                <a:solidFill>
                  <a:schemeClr val="dk1"/>
                </a:solidFill>
              </a:rPr>
              <a:t>EQUAL INTENSITY SPREAD: Average heart rate shows uniform distribution (120–170 BPM) without distinct separation between yoga, cardio, HIIT, or strength training</a:t>
            </a:r>
            <a:endParaRPr/>
          </a:p>
        </p:txBody>
      </p:sp>
      <p:pic>
        <p:nvPicPr>
          <p:cNvPr id="248" name="Google Shape;248;p23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00" y="1160100"/>
            <a:ext cx="6547950" cy="5758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49" name="Oval 248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50" name="Picture 249" descr="FaStopwatch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2" presetClass="emph" presetSubtype="0" repeatCount="8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900000">
                                      <p:cBhvr>
                                        <p:cTn id="17" dur="15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/>
          <p:nvPr/>
        </p:nvSpPr>
        <p:spPr>
          <a:xfrm>
            <a:off x="6185300" y="1412225"/>
            <a:ext cx="5079300" cy="404700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51350" y="1412225"/>
            <a:ext cx="5114700" cy="4047000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6448345" y="1820388"/>
            <a:ext cx="128400" cy="1377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448337" y="2619489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448337" y="3274861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448337" y="3930233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6448337" y="4585604"/>
            <a:ext cx="45540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825396" y="1820396"/>
            <a:ext cx="113400" cy="1377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825396" y="2619489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825396" y="3274861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825396" y="3930233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825396" y="4585604"/>
            <a:ext cx="4744500" cy="54030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</a:t>
            </a: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Width and Frequency</a:t>
            </a: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Binning for Calories Burned 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448337" y="2217068"/>
            <a:ext cx="5691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into 4 quartiles with equal record counts.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25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825396" y="2217068"/>
            <a:ext cx="56229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Divides in equal width.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666023" y="1745666"/>
            <a:ext cx="418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Equal-Frequency (pd.qcut) Calories Burned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1052201" y="1762605"/>
            <a:ext cx="4703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Equal-</a:t>
            </a:r>
            <a:r>
              <a:rPr lang="en-US" sz="15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Width</a:t>
            </a: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(pd.cut) </a:t>
            </a:r>
            <a:r>
              <a:rPr lang="en-US" sz="15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Calories</a:t>
            </a: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5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Burned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566250" y="2768960"/>
            <a:ext cx="139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Q1: 302 - 720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9069981" y="2768948"/>
            <a:ext cx="136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245 </a:t>
            </a:r>
            <a:r>
              <a:rPr lang="en-US" sz="120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566250" y="3424332"/>
            <a:ext cx="1614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Q2: 720 - 893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111350" y="3438316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242</a:t>
            </a:r>
            <a:r>
              <a:rPr lang="en-US" sz="120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566250" y="4079703"/>
            <a:ext cx="168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Q3: 893 - 1076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9111350" y="4093679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n-US" sz="1200" b="1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43 </a:t>
            </a:r>
            <a:r>
              <a:rPr lang="en-US" sz="120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566250" y="4735075"/>
            <a:ext cx="168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Q4: 1076 - 1783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33415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9111054" y="4735085"/>
            <a:ext cx="132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243</a:t>
            </a:r>
            <a:r>
              <a:rPr lang="en-US" sz="1200" b="1" i="0" u="none" strike="noStrike" cap="non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948244" y="2768960"/>
            <a:ext cx="1152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301 - 673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9111050" y="2736274"/>
            <a:ext cx="215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948244" y="3424332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673 - 1043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948244" y="4079703"/>
            <a:ext cx="1304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1043 - 1413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9035638" y="4079707"/>
            <a:ext cx="22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948244" y="4735081"/>
            <a:ext cx="1518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1050" b="0" i="0" u="none" strike="noStrike" cap="none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4: </a:t>
            </a:r>
            <a:r>
              <a:rPr lang="en-US"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1413 - 1783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9035638" y="4735086"/>
            <a:ext cx="222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3359380" y="2781201"/>
            <a:ext cx="177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188 </a:t>
            </a: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3353652" y="3472247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506</a:t>
            </a: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3353652" y="4175546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n-US" sz="1200" b="1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 </a:t>
            </a: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3353004" y="4759590"/>
            <a:ext cx="130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</a:t>
            </a:r>
            <a:r>
              <a:rPr lang="en-US" sz="12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members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601900" y="5584735"/>
            <a:ext cx="507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Right-skewed (positively skewed) Severe class size imbalance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6296975" y="5583275"/>
            <a:ext cx="587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Equal class size (Low, Moderate, High, Very High)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2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91" name="Oval 290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92" name="Picture 291" descr="FaLayerGroup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" presetClass="emph" presetSubtype="0" repeatCount="2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Supervised Learning Roadmap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612648" y="1508950"/>
            <a:ext cx="8001000" cy="45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>
                <a:solidFill>
                  <a:schemeClr val="dk1"/>
                </a:solidFill>
              </a:rPr>
              <a:t>REGRESSION MODELING (Predicting Exact Calories)</a:t>
            </a:r>
            <a:endParaRPr sz="1300" b="1">
              <a:solidFill>
                <a:schemeClr val="dk1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Goal: Predict the exact number of calories a member burns during their workout session.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Simple Baseline: Linear Regression (tests how much calorie burn increases simply as workout duration gets longer).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Advanced Models: Decision Trees, k-NN, and Neural Networks (capture complex patterns when duration, heart rate, and body fat work together).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How We Measure Success: Look at the average prediction error (how many calories off our model is on average).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0000"/>
              </a:lnSpc>
              <a:spcBef>
                <a:spcPts val="1000"/>
              </a:spcBef>
              <a:spcAft>
                <a:spcPts val="500"/>
              </a:spcAft>
              <a:buClr>
                <a:schemeClr val="dk1"/>
              </a:buClr>
              <a:buSzPts val="1300"/>
              <a:buAutoNum type="arabicPeriod"/>
            </a:pPr>
            <a:r>
              <a:rPr lang="en-US" sz="1300" b="1">
                <a:solidFill>
                  <a:schemeClr val="dk1"/>
                </a:solidFill>
              </a:rPr>
              <a:t>CLASSIFICATION MODELING (Predicting Workout Intensity Tier)</a:t>
            </a:r>
            <a:endParaRPr sz="1300" b="1">
              <a:solidFill>
                <a:schemeClr val="dk1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Goal: Sort each workout into 4 clear levels: Low, Moderate, High, or Very High calorie burn.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Models to Test: Decision Trees (if/then rules), Naïve Bayes (probability), and k-Nearest Neighbors (grouping similar workouts).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300"/>
              <a:buChar char="❏"/>
            </a:pPr>
            <a:r>
              <a:rPr lang="en-US" sz="1300">
                <a:solidFill>
                  <a:schemeClr val="dk1"/>
                </a:solidFill>
              </a:rPr>
              <a:t>How We Measure Success: Accuracy score and a confusion matrix (checking how often the model confuses adjacent tiers, like "Moderate" vs. "High").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3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297" name="Oval 296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98" name="Picture 297" descr="FaDumbbel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sp>
        <p:nvSpPr>
          <p:cNvPr id="299" name="Rounded Rectangle 298"/>
          <p:cNvSpPr/>
          <p:nvPr/>
        </p:nvSpPr>
        <p:spPr>
          <a:xfrm>
            <a:off x="8915400" y="1508760"/>
            <a:ext cx="2697480" cy="4526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9189720" y="1783080"/>
            <a:ext cx="685800" cy="685800"/>
            <a:chOff x="9189720" y="1783080"/>
            <a:chExt cx="685800" cy="685800"/>
          </a:xfrm>
        </p:grpSpPr>
        <p:sp>
          <p:nvSpPr>
            <p:cNvPr id="300" name="Oval 299"/>
            <p:cNvSpPr/>
            <p:nvPr/>
          </p:nvSpPr>
          <p:spPr>
            <a:xfrm>
              <a:off x="9189720" y="1783080"/>
              <a:ext cx="685800" cy="6858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1" name="Picture 300" descr="FaDumbbel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54312" y="1947672"/>
              <a:ext cx="356616" cy="356616"/>
            </a:xfrm>
            <a:prstGeom prst="rect">
              <a:avLst/>
            </a:prstGeom>
          </p:spPr>
        </p:pic>
      </p:grpSp>
      <p:sp>
        <p:nvSpPr>
          <p:cNvPr id="302" name="TextBox 301"/>
          <p:cNvSpPr txBox="1"/>
          <p:nvPr/>
        </p:nvSpPr>
        <p:spPr>
          <a:xfrm>
            <a:off x="9189720" y="26517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Plus Jakarta Sans"/>
              </a:rPr>
              <a:t>TWO TRAINING TRACKS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9189720" y="306324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lus Jakarta Sans"/>
              </a:rPr>
              <a:t>Regression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Plus Jakarta Sans"/>
              </a:rPr>
              <a:t>→ exact kcal per session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9189720" y="402336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lus Jakarta Sans"/>
              </a:rPr>
              <a:t>Classification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Plus Jakarta Sans"/>
              </a:rPr>
              <a:t>→ Low · Moderate · High · Very High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9189720" y="49834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lus Jakarta Sans"/>
              </a:rPr>
              <a:t>Key signal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Plus Jakarta Sans"/>
              </a:rPr>
              <a:t>Session_Duration (r = 0.91)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repeatCount="4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 -0.03 E" pathEditMode="relative" ptsTypes="AA">
                                      <p:cBhvr>
                                        <p:cTn id="33" dur="450" autoRev="1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/>
          <p:nvPr/>
        </p:nvSpPr>
        <p:spPr>
          <a:xfrm>
            <a:off x="1234440" y="7040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Unsupervised Learning Roadmap</a:t>
            </a:r>
            <a:endParaRPr/>
          </a:p>
        </p:txBody>
      </p:sp>
      <p:grpSp>
        <p:nvGrpSpPr>
          <p:cNvPr id="6" name="Group 0"/>
          <p:cNvGrpSpPr/>
          <p:nvPr/>
        </p:nvGrpSpPr>
        <p:grpSpPr>
          <a:xfrm>
            <a:off x="612648" y="644652"/>
            <a:ext cx="512064" cy="512064"/>
            <a:chOff x="612648" y="644652"/>
            <a:chExt cx="512064" cy="512064"/>
          </a:xfrm>
        </p:grpSpPr>
        <p:sp>
          <p:nvSpPr>
            <p:cNvPr id="303" name="Oval 302"/>
            <p:cNvSpPr/>
            <p:nvPr/>
          </p:nvSpPr>
          <p:spPr>
            <a:xfrm>
              <a:off x="612648" y="644652"/>
              <a:ext cx="512064" cy="51206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4" name="Picture 303" descr="FaProjectDiagr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543" y="767547"/>
              <a:ext cx="266273" cy="266273"/>
            </a:xfrm>
            <a:prstGeom prst="rect">
              <a:avLst/>
            </a:prstGeom>
          </p:spPr>
        </p:pic>
      </p:grpSp>
      <p:sp>
        <p:nvSpPr>
          <p:cNvPr id="305" name="Rounded Rectangle 304"/>
          <p:cNvSpPr/>
          <p:nvPr/>
        </p:nvSpPr>
        <p:spPr>
          <a:xfrm>
            <a:off x="612648" y="1371600"/>
            <a:ext cx="626364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868680" y="1572768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417320" y="15361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lus Jakarta Sans"/>
              </a:rPr>
              <a:t>ASSOCIATION ANALYSIS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417320" y="1810512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lus Jakarta Sans"/>
              </a:rPr>
              <a:t>Finding hidden workout habits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68680" y="2194560"/>
            <a:ext cx="5806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A580C"/>
                </a:solidFill>
                <a:latin typeface="Plus Jakarta Sans"/>
              </a:rPr>
              <a:t>Goal: </a:t>
            </a:r>
            <a:r>
              <a:rPr sz="1150" b="0">
                <a:solidFill>
                  <a:srgbClr val="334155"/>
                </a:solidFill>
                <a:latin typeface="Plus Jakarta Sans"/>
              </a:rPr>
              <a:t>Discover co-occurring training habits across workout modalities, member experience levels, and physiological demands.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68680" y="2724912"/>
            <a:ext cx="5806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EA580C"/>
                </a:solidFill>
                <a:latin typeface="Plus Jakarta Sans"/>
              </a:rPr>
              <a:t>Algorithm: </a:t>
            </a:r>
            <a:r>
              <a:rPr sz="1150" b="0">
                <a:solidFill>
                  <a:srgbClr val="334155"/>
                </a:solidFill>
                <a:latin typeface="Plus Jakarta Sans"/>
              </a:rPr>
              <a:t>Apriori — finds frequent itemsets meeting minimum support, then extracts directional IF → THEN rules.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868680" y="3246120"/>
            <a:ext cx="5806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Plus Jakarta Sans"/>
              </a:rPr>
              <a:t>CANDIDATE ASSOCIATION RULES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868680" y="352044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1024128" y="35661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Plus Jakarta Sans"/>
              </a:rPr>
              <a:t>Energy Expenditure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Plus Jakarta Sans"/>
              </a:rPr>
              <a:t>{Workout_Type = HIIT, Duration = High} → {Calories_Burned = Very_High}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868680" y="406908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1024128" y="41148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Plus Jakarta Sans"/>
              </a:rPr>
              <a:t>Cardiovascular Strain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Plus Jakarta Sans"/>
              </a:rPr>
              <a:t>{Workout_Type = HIIT, Experience_Level = Advanced} → {Avg_BPM = High}</a:t>
            </a:r>
          </a:p>
        </p:txBody>
      </p:sp>
      <p:sp>
        <p:nvSpPr>
          <p:cNvPr id="316" name="Rounded Rectangle 315"/>
          <p:cNvSpPr/>
          <p:nvPr/>
        </p:nvSpPr>
        <p:spPr>
          <a:xfrm>
            <a:off x="868680" y="461772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1024128" y="46634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Plus Jakarta Sans"/>
              </a:rPr>
              <a:t>Member Progression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Plus Jakarta Sans"/>
              </a:rPr>
              <a:t>{Fat_Percentage = Low, Workout_Frequency = High} → {Experience_Level = Advanced}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868680" y="516636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1024128" y="52120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Plus Jakarta Sans"/>
              </a:rPr>
              <a:t>Hydration Demands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Plus Jakarta Sans"/>
              </a:rPr>
              <a:t>{Duration = High, Avg_BPM = High} → {Water_Intake = High}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868680" y="5779008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68680" y="57790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Plus Jakarta Sans"/>
              </a:rPr>
              <a:t>Support  </a:t>
            </a:r>
            <a:r>
              <a:rPr sz="1200" b="1">
                <a:solidFill>
                  <a:srgbClr val="F97316"/>
                </a:solidFill>
                <a:latin typeface="Plus Jakarta Sans"/>
              </a:rPr>
              <a:t>≥ 0.10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2816352" y="5779008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2816352" y="57790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Plus Jakarta Sans"/>
              </a:rPr>
              <a:t>Confidence  </a:t>
            </a:r>
            <a:r>
              <a:rPr sz="1200" b="1">
                <a:solidFill>
                  <a:srgbClr val="F97316"/>
                </a:solidFill>
                <a:latin typeface="Plus Jakarta Sans"/>
              </a:rPr>
              <a:t>≥ 0.70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4764024" y="5779008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4764024" y="577900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Plus Jakarta Sans"/>
              </a:rPr>
              <a:t>Lift  </a:t>
            </a:r>
            <a:r>
              <a:rPr sz="1200" b="1">
                <a:solidFill>
                  <a:srgbClr val="F97316"/>
                </a:solidFill>
                <a:latin typeface="Plus Jakarta Sans"/>
              </a:rPr>
              <a:t>&gt; 1.0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7086600" y="1371600"/>
            <a:ext cx="452628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7342631" y="1572768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891272" y="153619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lus Jakarta Sans"/>
              </a:rPr>
              <a:t>CLUSTERING &amp; ANOMALIES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891272" y="1810512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lus Jakarta Sans"/>
              </a:rPr>
              <a:t>Grouping similar members &amp; spotting outliers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342631" y="2240280"/>
            <a:ext cx="411480" cy="411480"/>
            <a:chOff x="7342631" y="2240280"/>
            <a:chExt cx="411480" cy="411480"/>
          </a:xfrm>
        </p:grpSpPr>
        <p:sp>
          <p:nvSpPr>
            <p:cNvPr id="330" name="Oval 329"/>
            <p:cNvSpPr/>
            <p:nvPr/>
          </p:nvSpPr>
          <p:spPr>
            <a:xfrm>
              <a:off x="7342631" y="2240280"/>
              <a:ext cx="411480" cy="41148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31" name="Picture 330" descr="FaBullsey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1387" y="2339035"/>
              <a:ext cx="213969" cy="213969"/>
            </a:xfrm>
            <a:prstGeom prst="rect">
              <a:avLst/>
            </a:prstGeom>
          </p:spPr>
        </p:pic>
      </p:grpSp>
      <p:sp>
        <p:nvSpPr>
          <p:cNvPr id="332" name="TextBox 331"/>
          <p:cNvSpPr txBox="1"/>
          <p:nvPr/>
        </p:nvSpPr>
        <p:spPr>
          <a:xfrm>
            <a:off x="7891272" y="222199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Goal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Plus Jakarta Sans"/>
              </a:rPr>
              <a:t>Group members into natural "fitness profiles" (e.g., endurance athletes vs. casual beginners) without pre-set labels.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42631" y="3246120"/>
            <a:ext cx="411480" cy="411480"/>
            <a:chOff x="7342631" y="3246120"/>
            <a:chExt cx="411480" cy="411480"/>
          </a:xfrm>
        </p:grpSpPr>
        <p:sp>
          <p:nvSpPr>
            <p:cNvPr id="333" name="Oval 332"/>
            <p:cNvSpPr/>
            <p:nvPr/>
          </p:nvSpPr>
          <p:spPr>
            <a:xfrm>
              <a:off x="7342631" y="3246120"/>
              <a:ext cx="411480" cy="41148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34" name="Picture 333" descr="FaProjectDiagr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1387" y="3344875"/>
              <a:ext cx="213969" cy="213969"/>
            </a:xfrm>
            <a:prstGeom prst="rect">
              <a:avLst/>
            </a:prstGeom>
          </p:spPr>
        </p:pic>
      </p:grpSp>
      <p:sp>
        <p:nvSpPr>
          <p:cNvPr id="335" name="TextBox 334"/>
          <p:cNvSpPr txBox="1"/>
          <p:nvPr/>
        </p:nvSpPr>
        <p:spPr>
          <a:xfrm>
            <a:off x="7891272" y="322783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Models to Test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Plus Jakarta Sans"/>
              </a:rPr>
              <a:t>k-Means and Hierarchical Clustering, grouping members by body stats and heart rates.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342631" y="4251960"/>
            <a:ext cx="411480" cy="411480"/>
            <a:chOff x="7342631" y="4251960"/>
            <a:chExt cx="411480" cy="411480"/>
          </a:xfrm>
        </p:grpSpPr>
        <p:sp>
          <p:nvSpPr>
            <p:cNvPr id="336" name="Oval 335"/>
            <p:cNvSpPr/>
            <p:nvPr/>
          </p:nvSpPr>
          <p:spPr>
            <a:xfrm>
              <a:off x="7342631" y="4251960"/>
              <a:ext cx="411480" cy="41148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37" name="Picture 336" descr="FaSearch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41387" y="4350715"/>
              <a:ext cx="213969" cy="213969"/>
            </a:xfrm>
            <a:prstGeom prst="rect">
              <a:avLst/>
            </a:prstGeom>
          </p:spPr>
        </p:pic>
      </p:grpSp>
      <p:sp>
        <p:nvSpPr>
          <p:cNvPr id="338" name="TextBox 337"/>
          <p:cNvSpPr txBox="1"/>
          <p:nvPr/>
        </p:nvSpPr>
        <p:spPr>
          <a:xfrm>
            <a:off x="7891272" y="423367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Anomaly Check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Plus Jakarta Sans"/>
              </a:rPr>
              <a:t>Pinpoint extreme sessions (like workouts burning over 1,600 kcal) so they don't distort findings.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42631" y="5257800"/>
            <a:ext cx="411480" cy="411480"/>
            <a:chOff x="7342631" y="5257800"/>
            <a:chExt cx="411480" cy="411480"/>
          </a:xfrm>
        </p:grpSpPr>
        <p:sp>
          <p:nvSpPr>
            <p:cNvPr id="339" name="Oval 338"/>
            <p:cNvSpPr/>
            <p:nvPr/>
          </p:nvSpPr>
          <p:spPr>
            <a:xfrm>
              <a:off x="7342631" y="5257800"/>
              <a:ext cx="411480" cy="411480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40" name="Picture 339" descr="FaCheckCircl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41387" y="5356555"/>
              <a:ext cx="213969" cy="213969"/>
            </a:xfrm>
            <a:prstGeom prst="rect">
              <a:avLst/>
            </a:prstGeom>
          </p:spPr>
        </p:pic>
      </p:grpSp>
      <p:sp>
        <p:nvSpPr>
          <p:cNvPr id="341" name="TextBox 340"/>
          <p:cNvSpPr txBox="1"/>
          <p:nvPr/>
        </p:nvSpPr>
        <p:spPr>
          <a:xfrm>
            <a:off x="7891272" y="5239512"/>
            <a:ext cx="3520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lus Jakarta Sans"/>
              </a:rPr>
              <a:t>How We Measure Success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Plus Jakarta Sans"/>
              </a:rPr>
              <a:t>Cluster quality scores: members inside the same group are genuinely similar.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4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4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6" presetClass="emph" presetSubtype="0" repeatCount="300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319" descr="e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1920"/>
            <a:ext cx="12191695" cy="1627632"/>
          </a:xfrm>
          <a:prstGeom prst="rect">
            <a:avLst/>
          </a:prstGeom>
        </p:spPr>
      </p:pic>
      <p:sp>
        <p:nvSpPr>
          <p:cNvPr id="319" name="Google Shape;319;p29"/>
          <p:cNvSpPr txBox="1"/>
          <p:nvPr/>
        </p:nvSpPr>
        <p:spPr>
          <a:xfrm>
            <a:off x="612648" y="23317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FFFFF"/>
                </a:solidFill>
                <a:latin typeface="Plus Jakarta Sans"/>
                <a:ea typeface="Calibri"/>
                <a:cs typeface="Calibri"/>
                <a:sym typeface="Calibri"/>
              </a:rPr>
              <a:t>Questions?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0"/>
          <p:cNvGrpSpPr/>
          <p:nvPr/>
        </p:nvGrpSpPr>
        <p:grpSpPr>
          <a:xfrm>
            <a:off x="5638647" y="1143000"/>
            <a:ext cx="914400" cy="914400"/>
            <a:chOff x="5638647" y="1143000"/>
            <a:chExt cx="914400" cy="914400"/>
          </a:xfrm>
        </p:grpSpPr>
        <p:sp>
          <p:nvSpPr>
            <p:cNvPr id="321" name="Oval 320"/>
            <p:cNvSpPr/>
            <p:nvPr/>
          </p:nvSpPr>
          <p:spPr>
            <a:xfrm>
              <a:off x="5638647" y="1143000"/>
              <a:ext cx="914400" cy="9144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22" name="Picture 321" descr="FaQuestio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8103" y="1362456"/>
              <a:ext cx="475488" cy="475488"/>
            </a:xfrm>
            <a:prstGeom prst="rect">
              <a:avLst/>
            </a:prstGeom>
          </p:spPr>
        </p:pic>
      </p:grpSp>
      <p:sp>
        <p:nvSpPr>
          <p:cNvPr id="323" name="TextBox 322"/>
          <p:cNvSpPr txBox="1"/>
          <p:nvPr/>
        </p:nvSpPr>
        <p:spPr>
          <a:xfrm>
            <a:off x="612648" y="3337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  <a:latin typeface="Plus Jakarta Sans"/>
              </a:rPr>
              <a:t>Phase 2  ·  Data Understanding &amp; Exploratory Analysis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788920" y="6035040"/>
            <a:ext cx="329184" cy="329184"/>
            <a:chOff x="2788920" y="6035040"/>
            <a:chExt cx="329184" cy="329184"/>
          </a:xfrm>
        </p:grpSpPr>
        <p:sp>
          <p:nvSpPr>
            <p:cNvPr id="324" name="Oval 323"/>
            <p:cNvSpPr/>
            <p:nvPr/>
          </p:nvSpPr>
          <p:spPr>
            <a:xfrm>
              <a:off x="2788920" y="6035040"/>
              <a:ext cx="329184" cy="329184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25" name="Picture 324" descr="FaL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67924" y="6114044"/>
              <a:ext cx="171175" cy="171175"/>
            </a:xfrm>
            <a:prstGeom prst="rect">
              <a:avLst/>
            </a:prstGeom>
          </p:spPr>
        </p:pic>
      </p:grpSp>
      <p:sp>
        <p:nvSpPr>
          <p:cNvPr id="326" name="TextBox 325"/>
          <p:cNvSpPr txBox="1"/>
          <p:nvPr/>
        </p:nvSpPr>
        <p:spPr>
          <a:xfrm>
            <a:off x="3246120" y="60533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Plus Jakarta Sans"/>
              </a:rPr>
              <a:t>Reference:  </a:t>
            </a:r>
            <a:r>
              <a:rPr sz="1000" b="0">
                <a:solidFill>
                  <a:srgbClr val="CBD5E1"/>
                </a:solidFill>
                <a:latin typeface="Plus Jakarta Sans"/>
              </a:rPr>
              <a:t>https://healthyhabitsexplorer.com/my-one-year-journey-with-the-werise-app-by-senada-greca/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mph" presetSubtype="0" repeatCount="8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20" dur="180" autoRev="1" fill="hold"/>
                                        <p:tgtEl>
                                          <p:spTgt spid="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2504</Words>
  <Application>Microsoft Macintosh PowerPoint</Application>
  <PresentationFormat>Widescreen</PresentationFormat>
  <Paragraphs>252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Inter</vt:lpstr>
      <vt:lpstr>Plus Jakarta Sans</vt:lpstr>
      <vt:lpstr>JetBrains Mono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Solomon.Gbadebo</cp:lastModifiedBy>
  <cp:revision>1</cp:revision>
  <cp:lastPrinted>2026-10-21T02:00:14Z</cp:lastPrinted>
  <dcterms:modified xsi:type="dcterms:W3CDTF">2026-10-21T02:20:12Z</dcterms:modified>
</cp:coreProperties>
</file>