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embeddedFontLst>
    <p:embeddedFont>
      <p:font typeface="Plus Jakarta Sans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Roboto Mono"/>
      <p:regular r:id="rId32"/>
      <p:bold r:id="rId33"/>
      <p:italic r:id="rId34"/>
      <p:boldItalic r:id="rId35"/>
    </p:embeddedFont>
    <p:embeddedFont>
      <p:font typeface="JetBrains Mono"/>
      <p:regular r:id="rId36"/>
      <p:bold r:id="rId37"/>
      <p:italic r:id="rId38"/>
      <p:boldItalic r:id="rId39"/>
    </p:embeddedFont>
    <p:embeddedFont>
      <p:font typeface="Space Grotesk"/>
      <p:regular r:id="rId40"/>
      <p:bold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C00773-0F09-4C36-A88E-9A5F6A04E5A2}">
  <a:tblStyle styleId="{CEC00773-0F09-4C36-A88E-9A5F6A04E5A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paceGrotesk-regular.fntdata"/><Relationship Id="rId20" Type="http://schemas.openxmlformats.org/officeDocument/2006/relationships/slide" Target="slides/slide14.xml"/><Relationship Id="rId41" Type="http://schemas.openxmlformats.org/officeDocument/2006/relationships/font" Target="fonts/SpaceGrotesk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lusJakartaSans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-italic.fntdata"/><Relationship Id="rId25" Type="http://schemas.openxmlformats.org/officeDocument/2006/relationships/font" Target="fonts/PlusJakartaSans-bold.fntdata"/><Relationship Id="rId28" Type="http://schemas.openxmlformats.org/officeDocument/2006/relationships/font" Target="fonts/Inter-regular.fntdata"/><Relationship Id="rId27" Type="http://schemas.openxmlformats.org/officeDocument/2006/relationships/font" Target="fonts/PlusJakarta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5.xml"/><Relationship Id="rId33" Type="http://schemas.openxmlformats.org/officeDocument/2006/relationships/font" Target="fonts/RobotoMono-bold.fntdata"/><Relationship Id="rId10" Type="http://schemas.openxmlformats.org/officeDocument/2006/relationships/slide" Target="slides/slide4.xml"/><Relationship Id="rId32" Type="http://schemas.openxmlformats.org/officeDocument/2006/relationships/font" Target="fonts/RobotoMono-regular.fntdata"/><Relationship Id="rId13" Type="http://schemas.openxmlformats.org/officeDocument/2006/relationships/slide" Target="slides/slide7.xml"/><Relationship Id="rId35" Type="http://schemas.openxmlformats.org/officeDocument/2006/relationships/font" Target="fonts/RobotoMono-boldItalic.fntdata"/><Relationship Id="rId12" Type="http://schemas.openxmlformats.org/officeDocument/2006/relationships/slide" Target="slides/slide6.xml"/><Relationship Id="rId34" Type="http://schemas.openxmlformats.org/officeDocument/2006/relationships/font" Target="fonts/RobotoMono-italic.fntdata"/><Relationship Id="rId15" Type="http://schemas.openxmlformats.org/officeDocument/2006/relationships/slide" Target="slides/slide9.xml"/><Relationship Id="rId37" Type="http://schemas.openxmlformats.org/officeDocument/2006/relationships/font" Target="fonts/JetBrainsMono-bold.fntdata"/><Relationship Id="rId14" Type="http://schemas.openxmlformats.org/officeDocument/2006/relationships/slide" Target="slides/slide8.xml"/><Relationship Id="rId36" Type="http://schemas.openxmlformats.org/officeDocument/2006/relationships/font" Target="fonts/JetBrainsMono-regular.fntdata"/><Relationship Id="rId17" Type="http://schemas.openxmlformats.org/officeDocument/2006/relationships/slide" Target="slides/slide11.xml"/><Relationship Id="rId39" Type="http://schemas.openxmlformats.org/officeDocument/2006/relationships/font" Target="fonts/JetBrainsMono-boldItalic.fntdata"/><Relationship Id="rId16" Type="http://schemas.openxmlformats.org/officeDocument/2006/relationships/slide" Target="slides/slide10.xml"/><Relationship Id="rId38" Type="http://schemas.openxmlformats.org/officeDocument/2006/relationships/font" Target="fonts/JetBrainsMon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20fcd7b782225f8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h20fcd7b782225f84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121df8db74e1250f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h121df8db74e1250f_1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h121df8db74e1250f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h121df8db74e1250f_1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h20fcd7b782225f8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h20fcd7b782225f84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h20fcd7b782225f84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h20fcd7b782225f84_0_1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h20fcd7b782225f84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h20fcd7b782225f84_0_2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h20fcd7b782225f8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h20fcd7b782225f84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healthyhabitsexplorer.com/my-one-year-journey-with-the-werise-app-by-senada-greca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217325"/>
            <a:ext cx="457200" cy="483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762000" y="1787797"/>
            <a:ext cx="86010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2: Data Understanding &amp; Exploratory Analysis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3379499"/>
            <a:ext cx="65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Empirical inspection, statistical distributions, correlation modeling, and preprocessing of gym workout records.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524000" y="4142300"/>
            <a:ext cx="2833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Gym Exercise Tracking Dataset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609600" y="2123025"/>
            <a:ext cx="6277500" cy="1038300"/>
          </a:xfrm>
          <a:prstGeom prst="roundRect">
            <a:avLst>
              <a:gd fmla="val 1100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09600" y="3313650"/>
            <a:ext cx="6277500" cy="1047600"/>
          </a:xfrm>
          <a:prstGeom prst="roundRect">
            <a:avLst>
              <a:gd fmla="val 1090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609600" y="4513800"/>
            <a:ext cx="6277500" cy="1047600"/>
          </a:xfrm>
          <a:prstGeom prst="roundRect">
            <a:avLst>
              <a:gd fmla="val 1090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609600" y="704850"/>
            <a:ext cx="11582400" cy="350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Dataset Provenance &amp; Scope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09625" y="2323058"/>
            <a:ext cx="61194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SOURCE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09625" y="2532608"/>
            <a:ext cx="611944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Kaggle / GitHub Repository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09625" y="2789783"/>
            <a:ext cx="6119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https://www.kaggle.com/datasets/valakhorasani/gym-members-exercise-dataset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09625" y="3513683"/>
            <a:ext cx="61194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COLLECTION CONTEXT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09625" y="3723233"/>
            <a:ext cx="611944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Fitness Center Member Tracking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09625" y="3980408"/>
            <a:ext cx="6119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Aggregated biometric and physiological workout metrics.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09625" y="4713833"/>
            <a:ext cx="61194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OBJECTIVE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09625" y="4923383"/>
            <a:ext cx="611944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Energy Expenditure Prediction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09625" y="5180558"/>
            <a:ext cx="611944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Exploratory baselining for caloric burn modeling and training patterns.</a:t>
            </a:r>
            <a:endParaRPr/>
          </a:p>
        </p:txBody>
      </p:sp>
      <p:pic>
        <p:nvPicPr>
          <p:cNvPr id="105" name="Google Shape;105;p14" title="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2775" y="1755875"/>
            <a:ext cx="4958124" cy="4153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609544" y="1740775"/>
            <a:ext cx="3505200" cy="1384500"/>
          </a:xfrm>
          <a:prstGeom prst="roundRect">
            <a:avLst>
              <a:gd fmla="val 96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4343344" y="1740775"/>
            <a:ext cx="3505200" cy="1384500"/>
          </a:xfrm>
          <a:prstGeom prst="roundRect">
            <a:avLst>
              <a:gd fmla="val 96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8077144" y="1740775"/>
            <a:ext cx="3505200" cy="1384500"/>
          </a:xfrm>
          <a:prstGeom prst="roundRect">
            <a:avLst>
              <a:gd fmla="val 96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609600" y="3429000"/>
            <a:ext cx="5372100" cy="1397100"/>
          </a:xfrm>
          <a:prstGeom prst="roundRect">
            <a:avLst>
              <a:gd fmla="val 7407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6210300" y="3429000"/>
            <a:ext cx="5372100" cy="1397100"/>
          </a:xfrm>
          <a:prstGeom prst="roundRect">
            <a:avLst>
              <a:gd fmla="val 740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609600" y="704850"/>
            <a:ext cx="11582400" cy="350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Structural Profile &amp; Target Variable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9050" y="2017678"/>
            <a:ext cx="378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973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9050" y="2637941"/>
            <a:ext cx="3786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 Member Records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202850" y="2017678"/>
            <a:ext cx="378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15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202850" y="2637941"/>
            <a:ext cx="3786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Observed Features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936650" y="2017678"/>
            <a:ext cx="378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13 / 2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7936650" y="2637941"/>
            <a:ext cx="3786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Numeric vs. Categorical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85825" y="3679087"/>
            <a:ext cx="6024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 CLASS IDENTIFICATION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85825" y="3886056"/>
            <a:ext cx="602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Calories_Burned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85825" y="4213756"/>
            <a:ext cx="491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Continuous numerical regression target indicating total energy output per exercise session.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486525" y="3679087"/>
            <a:ext cx="5705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CATEGORICAL </a:t>
            </a:r>
            <a:r>
              <a:rPr b="1" lang="en-US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486525" y="3886056"/>
            <a:ext cx="570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Gender &amp; Workout_Type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486525" y="4213756"/>
            <a:ext cx="491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Gender (Male / Female) and Workout Type (Cardio, HIIT, Strength, Yoga) serve as key groupings.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6210300" y="5075100"/>
            <a:ext cx="5524500" cy="1384500"/>
          </a:xfrm>
          <a:prstGeom prst="roundRect">
            <a:avLst>
              <a:gd fmla="val 740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6415725" y="5298975"/>
            <a:ext cx="5928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NUMERICAL </a:t>
            </a: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lang="en-US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415700" y="5528025"/>
            <a:ext cx="5372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Age, Weight, Height, Max_BPM, Avg_BPM,Resting_BPM, Session_Duration, Fat_Percentage, Water_Intake, Workout_Frequency, Experience_Level, BMI</a:t>
            </a:r>
            <a:endParaRPr b="1" sz="15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/>
          <p:nvPr/>
        </p:nvSpPr>
        <p:spPr>
          <a:xfrm>
            <a:off x="609600" y="2980283"/>
            <a:ext cx="2571750" cy="1724025"/>
          </a:xfrm>
          <a:prstGeom prst="roundRect">
            <a:avLst>
              <a:gd fmla="val 662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3409950" y="2980283"/>
            <a:ext cx="2571750" cy="1724025"/>
          </a:xfrm>
          <a:prstGeom prst="roundRect">
            <a:avLst>
              <a:gd fmla="val 662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6210300" y="2980283"/>
            <a:ext cx="2571750" cy="1724025"/>
          </a:xfrm>
          <a:prstGeom prst="roundRect">
            <a:avLst>
              <a:gd fmla="val 662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9010650" y="2980283"/>
            <a:ext cx="2571750" cy="1724025"/>
          </a:xfrm>
          <a:prstGeom prst="roundRect">
            <a:avLst>
              <a:gd fmla="val 662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3256508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6175" y="3256508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6525" y="3256508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86875" y="3256508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609600" y="704850"/>
            <a:ext cx="11582400" cy="350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Detected Anomalies &amp; Cleansing Steps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85825" y="3713708"/>
            <a:ext cx="265033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Missing Values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85825" y="4028033"/>
            <a:ext cx="2114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null entries across all 15 columns.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3686175" y="3713708"/>
            <a:ext cx="265033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Duplicates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3686175" y="4028033"/>
            <a:ext cx="2114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973 unique tracking records confirmed.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486525" y="3713708"/>
            <a:ext cx="265033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Unit Transformation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486525" y="4028033"/>
            <a:ext cx="211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Converted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pounds and inches for modeling.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9286875" y="3713708"/>
            <a:ext cx="265033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Z-Score Outliers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9286875" y="4028033"/>
            <a:ext cx="2114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Identified extreme points exceeding |Z| &gt; 3.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/>
          <p:nvPr/>
        </p:nvSpPr>
        <p:spPr>
          <a:xfrm>
            <a:off x="533400" y="2024501"/>
            <a:ext cx="6675000" cy="2881800"/>
          </a:xfrm>
          <a:prstGeom prst="roundRect">
            <a:avLst>
              <a:gd fmla="val 435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7475198" y="1828150"/>
            <a:ext cx="4183500" cy="1536900"/>
          </a:xfrm>
          <a:prstGeom prst="roundRect">
            <a:avLst>
              <a:gd fmla="val 815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7475198" y="3565926"/>
            <a:ext cx="4183500" cy="1536900"/>
          </a:xfrm>
          <a:prstGeom prst="roundRect">
            <a:avLst>
              <a:gd fmla="val 815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733425" y="2726824"/>
            <a:ext cx="2028000" cy="702300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2856758" y="2726824"/>
            <a:ext cx="2028300" cy="702300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4980240" y="2726824"/>
            <a:ext cx="2028300" cy="702300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733425" y="3554560"/>
            <a:ext cx="2028000" cy="702300"/>
          </a:xfrm>
          <a:prstGeom prst="roundRect">
            <a:avLst>
              <a:gd fmla="val 10714" name="adj"/>
            </a:avLst>
          </a:prstGeom>
          <a:solidFill>
            <a:srgbClr val="FFF7ED"/>
          </a:solidFill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2856758" y="3554560"/>
            <a:ext cx="2028300" cy="702300"/>
          </a:xfrm>
          <a:prstGeom prst="roundRect">
            <a:avLst>
              <a:gd fmla="val 10714" name="adj"/>
            </a:avLst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4980240" y="3554560"/>
            <a:ext cx="2028300" cy="702300"/>
          </a:xfrm>
          <a:prstGeom prst="roundRect">
            <a:avLst>
              <a:gd fmla="val 10714" name="adj"/>
            </a:avLst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533400" y="947925"/>
            <a:ext cx="1165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Numerical Attribute Outlier Distribution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733425" y="2287872"/>
            <a:ext cx="8235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IQR Dispersion across 13 Numerical Dimensions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7675223" y="2091521"/>
            <a:ext cx="4516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Natural Physiological Spread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7675223" y="2405058"/>
            <a:ext cx="38787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 negative, corrupt, or truncated values exist. Features like Water_Intake and Workout_Frequency sit entirely within plausible real-world ranges.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7675223" y="3829297"/>
            <a:ext cx="4516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Right-Tail Outlier Drivers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7675223" y="4142834"/>
            <a:ext cx="38787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Upper fliers in Calories_Burned correspond strictly to maximum 2.0-hour workout sessions by high-mass individuals rather than random measurement noise.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838200" y="2864780"/>
            <a:ext cx="2273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Age (18–59)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838200" y="3090526"/>
            <a:ext cx="2273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Zero fliers • Symmetric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2961533" y="2864780"/>
            <a:ext cx="2273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Heart Rates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2961533" y="3090526"/>
            <a:ext cx="2273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Zero fliers • Bounded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5085015" y="2864780"/>
            <a:ext cx="2273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Duration (0.5–2h)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5085015" y="3090526"/>
            <a:ext cx="2273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Zero fliers • Uniform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838200" y="3692517"/>
            <a:ext cx="2273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A3412"/>
                </a:solidFill>
                <a:latin typeface="Inter"/>
                <a:ea typeface="Inter"/>
                <a:cs typeface="Inter"/>
                <a:sym typeface="Inter"/>
              </a:rPr>
              <a:t>Weight (kg)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838200" y="3918263"/>
            <a:ext cx="2273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1 flier at 130 kg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2961533" y="3692517"/>
            <a:ext cx="2273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BMI (12.3–49.9)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2961533" y="3918263"/>
            <a:ext cx="2273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Dense right fliers (&gt;41)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5085015" y="3692517"/>
            <a:ext cx="2273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Calories Burned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5085015" y="3918263"/>
            <a:ext cx="2273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Upper fliers (&gt;1600)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" name="Google Shape;187;p18"/>
          <p:cNvGraphicFramePr/>
          <p:nvPr/>
        </p:nvGraphicFramePr>
        <p:xfrm>
          <a:off x="555225" y="16977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{CEC00773-0F09-4C36-A88E-9A5F6A04E5A2}</a:tableStyleId>
              </a:tblPr>
              <a:tblGrid>
                <a:gridCol w="2761500"/>
                <a:gridCol w="1350025"/>
                <a:gridCol w="1018575"/>
                <a:gridCol w="1141350"/>
                <a:gridCol w="1742775"/>
                <a:gridCol w="2958550"/>
              </a:tblGrid>
              <a:tr h="44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Feature Attribute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Data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Mean ± Std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Observed Spread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4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Calories_Burned (Target)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Float64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303.00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1783.00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90</a:t>
                      </a:r>
                      <a:r>
                        <a:rPr b="1" lang="en-US" sz="1200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</a:t>
                      </a:r>
                      <a:r>
                        <a:rPr b="1" i="0" lang="en-US" sz="1200" u="none" cap="none" strike="noStrike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.42 ± 2</a:t>
                      </a:r>
                      <a:r>
                        <a:rPr b="1" lang="en-US" sz="1200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72.64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Broad continuous range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Session_Duration (hours)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Float64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1.2</a:t>
                      </a:r>
                      <a:r>
                        <a:rPr b="1" lang="en-US" sz="120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</a:t>
                      </a: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± 0.3</a:t>
                      </a:r>
                      <a:r>
                        <a:rPr b="1" lang="en-US" sz="120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Uniform exercise window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Avg_BPM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Int64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</a:t>
                      </a:r>
                      <a:r>
                        <a:rPr lang="en-US" sz="120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</a:t>
                      </a:r>
                      <a:r>
                        <a:rPr b="1" lang="en-US" sz="120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43.77</a:t>
                      </a: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± </a:t>
                      </a:r>
                      <a:r>
                        <a:rPr b="1" lang="en-US" sz="120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14.35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Cardiovascular exertion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Fat_Percentage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Float64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35.0%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24.98</a:t>
                      </a: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 ± 6.</a:t>
                      </a:r>
                      <a:r>
                        <a:rPr b="1" lang="en-US" sz="120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26</a:t>
                      </a: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Realistic body composition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6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Workout_Frequency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Int64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3.</a:t>
                      </a:r>
                      <a:r>
                        <a:rPr b="1" lang="en-US" sz="120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32</a:t>
                      </a: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± </a:t>
                      </a:r>
                      <a:r>
                        <a:rPr b="1" lang="en-US" sz="120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0.91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Days logged per week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8" name="Google Shape;188;p18"/>
          <p:cNvSpPr txBox="1"/>
          <p:nvPr/>
        </p:nvSpPr>
        <p:spPr>
          <a:xfrm>
            <a:off x="609600" y="704850"/>
            <a:ext cx="11582400" cy="350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Parametric Summary of Key Attributes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/>
        </p:nvSpPr>
        <p:spPr>
          <a:xfrm>
            <a:off x="609600" y="704850"/>
            <a:ext cx="11582400" cy="350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 Distribution: Calories Burned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09600" y="1170402"/>
            <a:ext cx="1158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Binned histogram of Calories Burned across 10 equal frequency intervals (2</a:t>
            </a:r>
            <a:r>
              <a:rPr lang="en-US" sz="12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 kcal to 1,800 kcal).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1247800" y="6006825"/>
            <a:ext cx="4033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Normal distribution shape centered near 900 kcal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7264250" y="6008075"/>
            <a:ext cx="3782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Slight positive right skew toward endurance workouts</a:t>
            </a:r>
            <a:endParaRPr/>
          </a:p>
        </p:txBody>
      </p:sp>
      <p:pic>
        <p:nvPicPr>
          <p:cNvPr id="197" name="Google Shape;197;p19" title="Screenshot 2026-10-19 at 12.10.4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9100" y="1506977"/>
            <a:ext cx="5513800" cy="4348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"/>
          <p:cNvSpPr txBox="1"/>
          <p:nvPr/>
        </p:nvSpPr>
        <p:spPr>
          <a:xfrm>
            <a:off x="609600" y="704850"/>
            <a:ext cx="11582400" cy="350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Pearson Correlation with Target (Calories Burned)</a:t>
            </a:r>
            <a:endParaRPr/>
          </a:p>
        </p:txBody>
      </p:sp>
      <p:pic>
        <p:nvPicPr>
          <p:cNvPr id="203" name="Google Shape;203;p20" title="Unknow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425" y="1207750"/>
            <a:ext cx="8506824" cy="5650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/>
          <p:nvPr/>
        </p:nvSpPr>
        <p:spPr>
          <a:xfrm>
            <a:off x="609600" y="4539823"/>
            <a:ext cx="10972800" cy="535800"/>
          </a:xfrm>
          <a:prstGeom prst="roundRect">
            <a:avLst>
              <a:gd fmla="val 1860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2705100" y="1847500"/>
            <a:ext cx="8115300" cy="299100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2705100" y="2346078"/>
            <a:ext cx="8115300" cy="299100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2705100" y="2844656"/>
            <a:ext cx="8115300" cy="299100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2705100" y="3343235"/>
            <a:ext cx="8115300" cy="299100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2705100" y="3841813"/>
            <a:ext cx="8115300" cy="299100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609600" y="4539823"/>
            <a:ext cx="38100" cy="53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2705100" y="1847500"/>
            <a:ext cx="7141500" cy="2991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2705100" y="2346068"/>
            <a:ext cx="5210400" cy="2991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2705100" y="2844646"/>
            <a:ext cx="4444200" cy="299100"/>
          </a:xfrm>
          <a:prstGeom prst="roundRect">
            <a:avLst>
              <a:gd fmla="val 50000" name="adj"/>
            </a:avLst>
          </a:prstGeom>
          <a:solidFill>
            <a:srgbClr val="60A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2705100" y="3343235"/>
            <a:ext cx="2515500" cy="299100"/>
          </a:xfrm>
          <a:prstGeom prst="roundRect">
            <a:avLst>
              <a:gd fmla="val 50000" name="adj"/>
            </a:avLst>
          </a:prstGeom>
          <a:solidFill>
            <a:srgbClr val="93C5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2705100" y="3841813"/>
            <a:ext cx="1947600" cy="299100"/>
          </a:xfrm>
          <a:prstGeom prst="roundRect">
            <a:avLst>
              <a:gd fmla="val 50000" name="adj"/>
            </a:avLst>
          </a:prstGeom>
          <a:solidFill>
            <a:srgbClr val="F871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609600" y="8455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Pearson Correlation with Target (Calories Burned)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09600" y="1878660"/>
            <a:ext cx="2381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Session_Duration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10725150" y="1847500"/>
            <a:ext cx="85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+0.</a:t>
            </a:r>
            <a:r>
              <a:rPr b="1" lang="en-US" sz="1200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91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09600" y="2377239"/>
            <a:ext cx="2381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Experience_level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10725150" y="2376689"/>
            <a:ext cx="85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+0.</a:t>
            </a:r>
            <a:r>
              <a:rPr b="1" lang="en-US" sz="120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69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09600" y="2875817"/>
            <a:ext cx="2381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Workout_frequency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0725150" y="2905877"/>
            <a:ext cx="85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+0.</a:t>
            </a:r>
            <a:r>
              <a:rPr b="1" lang="en-US" sz="120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58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609600" y="3374395"/>
            <a:ext cx="2381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Average_BPM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10725150" y="3435066"/>
            <a:ext cx="85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+0.</a:t>
            </a:r>
            <a:r>
              <a:rPr b="1" lang="en-US" sz="12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34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609600" y="3872974"/>
            <a:ext cx="2381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Fat_Percentage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10725150" y="3964255"/>
            <a:ext cx="85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-0.</a:t>
            </a:r>
            <a:r>
              <a:rPr b="1" lang="en-US" sz="1200">
                <a:solidFill>
                  <a:srgbClr val="EF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60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800100" y="4689397"/>
            <a:ext cx="11391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Takeaway: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Workout duration is the primary linear predictor (r = 0.</a:t>
            </a:r>
            <a:r>
              <a:rPr lang="en-US" sz="112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91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), followed by </a:t>
            </a:r>
            <a:r>
              <a:rPr lang="en-US" sz="112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member experience level 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</a:t>
            </a:r>
            <a:r>
              <a:rPr lang="en-US" sz="112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Experience_level = 0.69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/>
          <p:nvPr/>
        </p:nvSpPr>
        <p:spPr>
          <a:xfrm>
            <a:off x="251800" y="1683075"/>
            <a:ext cx="4320300" cy="3124200"/>
          </a:xfrm>
          <a:prstGeom prst="roundRect">
            <a:avLst>
              <a:gd fmla="val 547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609600" y="704850"/>
            <a:ext cx="11582400" cy="350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Workout Type &amp; Gender Interactions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39" name="Google Shape;239;p22" title="Unknown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6049" y="1229651"/>
            <a:ext cx="7402801" cy="408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483650" y="1839209"/>
            <a:ext cx="4043100" cy="27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KEY TAKEAWAYS:</a:t>
            </a:r>
            <a:r>
              <a:rPr b="1" lang="en-US">
                <a:solidFill>
                  <a:schemeClr val="dk1"/>
                </a:solidFill>
              </a:rPr>
              <a:t> 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</a:pPr>
            <a:r>
              <a:rPr lang="en-US">
                <a:solidFill>
                  <a:schemeClr val="dk1"/>
                </a:solidFill>
              </a:rPr>
              <a:t>Category Ranking: HIIT (~980 kcal) and Strength (~970 kcal) yield the highest average caloric expenditure, followed by Cardio (~960 kcal) and Yoga (~900 kcal)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</a:pPr>
            <a:r>
              <a:rPr lang="en-US">
                <a:solidFill>
                  <a:schemeClr val="dk1"/>
                </a:solidFill>
              </a:rPr>
              <a:t>Gender Expenditure Differential: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-US">
                <a:solidFill>
                  <a:schemeClr val="dk1"/>
                </a:solidFill>
              </a:rPr>
              <a:t>Male records average higher caloric output across all categories (~100–120 kcal delta)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/>
          <p:cNvSpPr/>
          <p:nvPr/>
        </p:nvSpPr>
        <p:spPr>
          <a:xfrm>
            <a:off x="7127325" y="1942375"/>
            <a:ext cx="4882800" cy="4567500"/>
          </a:xfrm>
          <a:prstGeom prst="roundRect">
            <a:avLst>
              <a:gd fmla="val 459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 txBox="1"/>
          <p:nvPr/>
        </p:nvSpPr>
        <p:spPr>
          <a:xfrm>
            <a:off x="609600" y="704850"/>
            <a:ext cx="1158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Workout Type </a:t>
            </a:r>
            <a:r>
              <a:rPr b="1" lang="en-US" sz="20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Vs (Session_Duration, Calories_Burned, Avg_BPM, Fat_Percentage)</a:t>
            </a:r>
            <a:endParaRPr sz="1000"/>
          </a:p>
        </p:txBody>
      </p:sp>
      <p:sp>
        <p:nvSpPr>
          <p:cNvPr id="247" name="Google Shape;247;p23"/>
          <p:cNvSpPr txBox="1"/>
          <p:nvPr/>
        </p:nvSpPr>
        <p:spPr>
          <a:xfrm>
            <a:off x="7362700" y="2195725"/>
            <a:ext cx="4534800" cy="3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Scatter Matrix: Duration, Calories, Heart Rate &amp; Fat Percentage </a:t>
            </a:r>
            <a:endParaRPr b="1" sz="1500"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-US" sz="1200">
                <a:solidFill>
                  <a:schemeClr val="dk1"/>
                </a:solidFill>
              </a:rPr>
              <a:t>PRIMARY PREDICTOR ALIGNMENT: Session duration and calories burned form a direct, deterministic linear path across all four workout types</a:t>
            </a:r>
            <a:endParaRPr sz="1200"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-US" sz="1200">
                <a:solidFill>
                  <a:schemeClr val="dk1"/>
                </a:solidFill>
              </a:rPr>
              <a:t>TWO DISTINCT TRAINING SUBGROUPS: Data separates cleanly into two discrete rectangular clusters when pairing session length against body fat percentage (sessions &gt; 1.5 hrs strictly map to body fat &lt; 20%)</a:t>
            </a:r>
            <a:endParaRPr sz="1200"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-US" sz="1200">
                <a:solidFill>
                  <a:schemeClr val="dk1"/>
                </a:solidFill>
              </a:rPr>
              <a:t>EQUAL INTENSITY SPREAD: Average heart rate shows uniform distribution (120–170 BPM) without distinct separation between yoga, cardio, HIIT, or strength training</a:t>
            </a:r>
            <a:endParaRPr/>
          </a:p>
        </p:txBody>
      </p:sp>
      <p:pic>
        <p:nvPicPr>
          <p:cNvPr id="248" name="Google Shape;248;p23" title="new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800" y="1160100"/>
            <a:ext cx="6547950" cy="5758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"/>
          <p:cNvSpPr/>
          <p:nvPr/>
        </p:nvSpPr>
        <p:spPr>
          <a:xfrm>
            <a:off x="6185300" y="1412225"/>
            <a:ext cx="5079300" cy="4047000"/>
          </a:xfrm>
          <a:prstGeom prst="roundRect">
            <a:avLst>
              <a:gd fmla="val 340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551350" y="1412225"/>
            <a:ext cx="5114700" cy="4047000"/>
          </a:xfrm>
          <a:prstGeom prst="roundRect">
            <a:avLst>
              <a:gd fmla="val 340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6448345" y="1820388"/>
            <a:ext cx="128400" cy="1377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6448337" y="2619489"/>
            <a:ext cx="4554000" cy="540300"/>
          </a:xfrm>
          <a:prstGeom prst="roundRect">
            <a:avLst>
              <a:gd fmla="val 170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6448337" y="3274861"/>
            <a:ext cx="4554000" cy="540300"/>
          </a:xfrm>
          <a:prstGeom prst="roundRect">
            <a:avLst>
              <a:gd fmla="val 170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6448337" y="3930233"/>
            <a:ext cx="4554000" cy="540300"/>
          </a:xfrm>
          <a:prstGeom prst="roundRect">
            <a:avLst>
              <a:gd fmla="val 170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6448337" y="4585604"/>
            <a:ext cx="4554000" cy="540300"/>
          </a:xfrm>
          <a:prstGeom prst="roundRect">
            <a:avLst>
              <a:gd fmla="val 170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825396" y="1820396"/>
            <a:ext cx="113400" cy="1377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825396" y="2619489"/>
            <a:ext cx="4744500" cy="540300"/>
          </a:xfrm>
          <a:prstGeom prst="roundRect">
            <a:avLst>
              <a:gd fmla="val 170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825396" y="3274861"/>
            <a:ext cx="4744500" cy="540300"/>
          </a:xfrm>
          <a:prstGeom prst="roundRect">
            <a:avLst>
              <a:gd fmla="val 170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825396" y="3930233"/>
            <a:ext cx="4744500" cy="540300"/>
          </a:xfrm>
          <a:prstGeom prst="roundRect">
            <a:avLst>
              <a:gd fmla="val 170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825396" y="4585604"/>
            <a:ext cx="4744500" cy="540300"/>
          </a:xfrm>
          <a:prstGeom prst="roundRect">
            <a:avLst>
              <a:gd fmla="val 170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"/>
          <p:cNvSpPr txBox="1"/>
          <p:nvPr/>
        </p:nvSpPr>
        <p:spPr>
          <a:xfrm>
            <a:off x="609600" y="596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Equal-</a:t>
            </a: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Width and Frequency</a:t>
            </a: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Binning for Calories Burned 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6448337" y="2217068"/>
            <a:ext cx="5691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25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Divides into 4 quartiles with equal record counts.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5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825396" y="2217068"/>
            <a:ext cx="5622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Divides in equal width.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6666023" y="1745666"/>
            <a:ext cx="418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Equal-Frequency (pd.qcut) Calories Burned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9" name="Google Shape;269;p24"/>
          <p:cNvSpPr txBox="1"/>
          <p:nvPr/>
        </p:nvSpPr>
        <p:spPr>
          <a:xfrm>
            <a:off x="1052201" y="1762605"/>
            <a:ext cx="470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Equal-</a:t>
            </a: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Width</a:t>
            </a: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(pd.qcut) </a:t>
            </a: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Calories</a:t>
            </a: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Burned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6566250" y="2768960"/>
            <a:ext cx="139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Q1: 302 - 720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341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71" name="Google Shape;271;p24"/>
          <p:cNvSpPr txBox="1"/>
          <p:nvPr/>
        </p:nvSpPr>
        <p:spPr>
          <a:xfrm>
            <a:off x="9069981" y="2768948"/>
            <a:ext cx="1365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245 </a:t>
            </a:r>
            <a:r>
              <a:rPr b="1" i="0" lang="en-US" sz="12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members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6566250" y="3424332"/>
            <a:ext cx="1614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Q2: 720 - 893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341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73" name="Google Shape;273;p24"/>
          <p:cNvSpPr txBox="1"/>
          <p:nvPr/>
        </p:nvSpPr>
        <p:spPr>
          <a:xfrm>
            <a:off x="9111350" y="3438316"/>
            <a:ext cx="132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242</a:t>
            </a:r>
            <a:r>
              <a:rPr b="1" i="0" lang="en-US" sz="12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members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6566250" y="4079703"/>
            <a:ext cx="1687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Q3: 893 - 1076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341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75" name="Google Shape;275;p24"/>
          <p:cNvSpPr txBox="1"/>
          <p:nvPr/>
        </p:nvSpPr>
        <p:spPr>
          <a:xfrm>
            <a:off x="9111350" y="4093679"/>
            <a:ext cx="132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r>
              <a:rPr b="1" lang="en-US" sz="120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43 </a:t>
            </a:r>
            <a:r>
              <a:rPr b="1" i="0" lang="en-US" sz="12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members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6566250" y="4735075"/>
            <a:ext cx="1687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Q4: 1076 - 1783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341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77" name="Google Shape;277;p24"/>
          <p:cNvSpPr txBox="1"/>
          <p:nvPr/>
        </p:nvSpPr>
        <p:spPr>
          <a:xfrm>
            <a:off x="9111054" y="4735085"/>
            <a:ext cx="132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243</a:t>
            </a:r>
            <a:r>
              <a:rPr b="1" i="0" lang="en-US" sz="12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members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948244" y="2768960"/>
            <a:ext cx="1152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</a:t>
            </a:r>
            <a:r>
              <a:rPr b="0" i="0" lang="en-US" sz="1050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1: </a:t>
            </a: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301 - 673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9111050" y="2736274"/>
            <a:ext cx="2153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948244" y="3424332"/>
            <a:ext cx="1228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</a:t>
            </a:r>
            <a:r>
              <a:rPr b="0" i="0" lang="en-US" sz="1050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2: </a:t>
            </a: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673 - 1043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948244" y="4079703"/>
            <a:ext cx="1304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</a:t>
            </a:r>
            <a:r>
              <a:rPr b="0" i="0" lang="en-US" sz="1050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3: </a:t>
            </a: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1043 - 1413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9035638" y="4079707"/>
            <a:ext cx="222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948244" y="4735081"/>
            <a:ext cx="1518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</a:t>
            </a:r>
            <a:r>
              <a:rPr b="0" i="0" lang="en-US" sz="1050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4: </a:t>
            </a: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1413 - 1783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9035638" y="4735086"/>
            <a:ext cx="222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3359380" y="2781201"/>
            <a:ext cx="177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188 </a:t>
            </a:r>
            <a:r>
              <a:rPr b="1" i="0" lang="en-US" sz="12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members</a:t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286" name="Google Shape;286;p24"/>
          <p:cNvSpPr txBox="1"/>
          <p:nvPr/>
        </p:nvSpPr>
        <p:spPr>
          <a:xfrm>
            <a:off x="3353652" y="3472247"/>
            <a:ext cx="1304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506</a:t>
            </a:r>
            <a:r>
              <a:rPr b="1" i="0" lang="en-US" sz="12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members</a:t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287" name="Google Shape;287;p24"/>
          <p:cNvSpPr txBox="1"/>
          <p:nvPr/>
        </p:nvSpPr>
        <p:spPr>
          <a:xfrm>
            <a:off x="3353652" y="4175546"/>
            <a:ext cx="1304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r>
              <a:rPr b="1" lang="en-US" sz="1200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40 </a:t>
            </a:r>
            <a:r>
              <a:rPr b="1" i="0" lang="en-US" sz="12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members</a:t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288" name="Google Shape;288;p24"/>
          <p:cNvSpPr txBox="1"/>
          <p:nvPr/>
        </p:nvSpPr>
        <p:spPr>
          <a:xfrm>
            <a:off x="3353004" y="4759590"/>
            <a:ext cx="1304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39</a:t>
            </a:r>
            <a:r>
              <a:rPr b="1" i="0" lang="en-US" sz="12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members</a:t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289" name="Google Shape;289;p24"/>
          <p:cNvSpPr txBox="1"/>
          <p:nvPr/>
        </p:nvSpPr>
        <p:spPr>
          <a:xfrm>
            <a:off x="601900" y="5584735"/>
            <a:ext cx="5079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Right-skewed (positively skewed) Severe class size imbalance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6296975" y="5583275"/>
            <a:ext cx="58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Equal class size (Low, Moderate, High, Very High)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 txBox="1"/>
          <p:nvPr/>
        </p:nvSpPr>
        <p:spPr>
          <a:xfrm>
            <a:off x="1190775" y="744800"/>
            <a:ext cx="731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Supervised Learning</a:t>
            </a: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Roadmap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976950" y="1508950"/>
            <a:ext cx="10814400" cy="45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-US" sz="1300">
                <a:solidFill>
                  <a:schemeClr val="dk1"/>
                </a:solidFill>
              </a:rPr>
              <a:t>REGRESSION MODELING (Predicting Exact Calories)</a:t>
            </a:r>
            <a:endParaRPr b="1" sz="1300">
              <a:solidFill>
                <a:schemeClr val="dk1"/>
              </a:solidFill>
            </a:endParaRPr>
          </a:p>
          <a:p>
            <a:pPr indent="-3111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❏"/>
            </a:pPr>
            <a:r>
              <a:rPr lang="en-US" sz="1300">
                <a:solidFill>
                  <a:schemeClr val="dk1"/>
                </a:solidFill>
              </a:rPr>
              <a:t>Goal: Predict the exact number of calories a member burns during their workout session.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❏"/>
            </a:pPr>
            <a:r>
              <a:rPr lang="en-US" sz="1300">
                <a:solidFill>
                  <a:schemeClr val="dk1"/>
                </a:solidFill>
              </a:rPr>
              <a:t>Simple Baseline: Linear Regression (tests how much calorie burn increases simply as workout duration gets longer).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❏"/>
            </a:pPr>
            <a:r>
              <a:rPr lang="en-US" sz="1300">
                <a:solidFill>
                  <a:schemeClr val="dk1"/>
                </a:solidFill>
              </a:rPr>
              <a:t>Advanced Models: Decision Trees, k-NN, and Neural Networks (capture complex patterns when duration, heart rate, and body fat work together).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❏"/>
            </a:pPr>
            <a:r>
              <a:rPr lang="en-US" sz="1300">
                <a:solidFill>
                  <a:schemeClr val="dk1"/>
                </a:solidFill>
              </a:rPr>
              <a:t>How We Measure Success: Look at the average prediction error (how many calories off our model is on average).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-US" sz="1300">
                <a:solidFill>
                  <a:schemeClr val="dk1"/>
                </a:solidFill>
              </a:rPr>
              <a:t>CLASSIFICATION MODELING (Predicting Workout Intensity Tier)</a:t>
            </a:r>
            <a:endParaRPr b="1" sz="1300">
              <a:solidFill>
                <a:schemeClr val="dk1"/>
              </a:solidFill>
            </a:endParaRPr>
          </a:p>
          <a:p>
            <a:pPr indent="-3111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❏"/>
            </a:pPr>
            <a:r>
              <a:rPr lang="en-US" sz="1300">
                <a:solidFill>
                  <a:schemeClr val="dk1"/>
                </a:solidFill>
              </a:rPr>
              <a:t>Goal: Sort each workout into 4 clear levels: Low, Moderate, High, or Very High calorie burn.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❏"/>
            </a:pPr>
            <a:r>
              <a:rPr lang="en-US" sz="1300">
                <a:solidFill>
                  <a:schemeClr val="dk1"/>
                </a:solidFill>
              </a:rPr>
              <a:t>Models to Test: Decision Trees</a:t>
            </a:r>
            <a:r>
              <a:rPr lang="en-US" sz="1300">
                <a:solidFill>
                  <a:schemeClr val="dk1"/>
                </a:solidFill>
              </a:rPr>
              <a:t> (if/then rules)</a:t>
            </a:r>
            <a:r>
              <a:rPr lang="en-US" sz="1300">
                <a:solidFill>
                  <a:schemeClr val="dk1"/>
                </a:solidFill>
              </a:rPr>
              <a:t>, Naïve Bayes</a:t>
            </a:r>
            <a:r>
              <a:rPr lang="en-US" sz="1300">
                <a:solidFill>
                  <a:schemeClr val="dk1"/>
                </a:solidFill>
              </a:rPr>
              <a:t> (probability)</a:t>
            </a:r>
            <a:r>
              <a:rPr lang="en-US" sz="1300">
                <a:solidFill>
                  <a:schemeClr val="dk1"/>
                </a:solidFill>
              </a:rPr>
              <a:t>, and k-Nearest Neighbors (grouping similar workouts).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❏"/>
            </a:pPr>
            <a:r>
              <a:rPr lang="en-US" sz="1300">
                <a:solidFill>
                  <a:schemeClr val="dk1"/>
                </a:solidFill>
              </a:rPr>
              <a:t>How We Measure Success: Accuracy score and a confusion matrix (checking how often the model confuses adjacent tiers, like "Moderate" vs. "High").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 txBox="1"/>
          <p:nvPr/>
        </p:nvSpPr>
        <p:spPr>
          <a:xfrm>
            <a:off x="976950" y="1460600"/>
            <a:ext cx="108144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 </a:t>
            </a:r>
            <a:r>
              <a:rPr b="1" lang="en-US" sz="1300">
                <a:solidFill>
                  <a:schemeClr val="dk1"/>
                </a:solidFill>
              </a:rPr>
              <a:t>1</a:t>
            </a:r>
            <a:r>
              <a:rPr b="1" lang="en-US" sz="1300">
                <a:solidFill>
                  <a:schemeClr val="dk1"/>
                </a:solidFill>
              </a:rPr>
              <a:t>.</a:t>
            </a:r>
            <a:r>
              <a:rPr lang="en-US" sz="1300">
                <a:solidFill>
                  <a:schemeClr val="dk1"/>
                </a:solidFill>
              </a:rPr>
              <a:t> 	 </a:t>
            </a:r>
            <a:r>
              <a:rPr b="1" lang="en-US" sz="1300">
                <a:solidFill>
                  <a:schemeClr val="dk1"/>
                </a:solidFill>
              </a:rPr>
              <a:t>ASSOCIATION ANALYSIS (Finding Hidden Workout Habits)</a:t>
            </a:r>
            <a:endParaRPr b="1" sz="1300">
              <a:solidFill>
                <a:schemeClr val="dk1"/>
              </a:solidFill>
            </a:endParaRPr>
          </a:p>
          <a:p>
            <a:pPr indent="-31115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❏"/>
            </a:pPr>
            <a:r>
              <a:rPr lang="en-US" sz="1300">
                <a:solidFill>
                  <a:schemeClr val="dk1"/>
                </a:solidFill>
              </a:rPr>
              <a:t>Goal: </a:t>
            </a:r>
            <a:r>
              <a:rPr lang="en-US" sz="1300">
                <a:solidFill>
                  <a:schemeClr val="dk1"/>
                </a:solidFill>
              </a:rPr>
              <a:t>Discover natural connections and co-occurring training habits across workout modalities, member experience levels, and physiological demands.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❏"/>
            </a:pPr>
            <a:r>
              <a:rPr lang="en-US" sz="1300">
                <a:solidFill>
                  <a:schemeClr val="dk1"/>
                </a:solidFill>
              </a:rPr>
              <a:t>Algorithm: </a:t>
            </a:r>
            <a:r>
              <a:rPr b="1" lang="en-US" sz="1300">
                <a:solidFill>
                  <a:schemeClr val="dk1"/>
                </a:solidFill>
              </a:rPr>
              <a:t>Apriori Algorithm</a:t>
            </a:r>
            <a:r>
              <a:rPr lang="en-US" sz="1300">
                <a:solidFill>
                  <a:schemeClr val="dk1"/>
                </a:solidFill>
              </a:rPr>
              <a:t> (identifies frequent itemsets meeting minimum support, then extracts directional </a:t>
            </a:r>
            <a:r>
              <a:rPr lang="en-US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IF-THEN</a:t>
            </a:r>
            <a:r>
              <a:rPr lang="en-US" sz="1300">
                <a:solidFill>
                  <a:schemeClr val="dk1"/>
                </a:solidFill>
              </a:rPr>
              <a:t> rules).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❏"/>
            </a:pPr>
            <a:r>
              <a:rPr lang="en-US" sz="1300">
                <a:solidFill>
                  <a:schemeClr val="dk1"/>
                </a:solidFill>
              </a:rPr>
              <a:t>Candidate Association Rules Generated from Itemsets:</a:t>
            </a:r>
            <a:endParaRPr sz="1300">
              <a:solidFill>
                <a:schemeClr val="dk1"/>
              </a:solidFill>
            </a:endParaRPr>
          </a:p>
          <a:p>
            <a:pPr indent="-3111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❏"/>
            </a:pPr>
            <a:r>
              <a:rPr b="1" lang="en-US" sz="1300">
                <a:solidFill>
                  <a:schemeClr val="dk1"/>
                </a:solidFill>
              </a:rPr>
              <a:t>Energy Expenditure:</a:t>
            </a:r>
            <a:r>
              <a:rPr lang="en-US" sz="1300">
                <a:solidFill>
                  <a:schemeClr val="dk1"/>
                </a:solidFill>
              </a:rPr>
              <a:t> </a:t>
            </a:r>
            <a:r>
              <a:rPr lang="en-US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{Workout_Type = HIIT, Duration = High} -&gt; {Calories_Burned = Very_High}</a:t>
            </a:r>
            <a:endParaRPr sz="1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Mono"/>
              <a:buChar char="❏"/>
            </a:pPr>
            <a:r>
              <a:rPr b="1" lang="en-US" sz="1300">
                <a:solidFill>
                  <a:schemeClr val="dk1"/>
                </a:solidFill>
              </a:rPr>
              <a:t>Cardiovascular Strain:</a:t>
            </a:r>
            <a:r>
              <a:rPr lang="en-US" sz="1300">
                <a:solidFill>
                  <a:schemeClr val="dk1"/>
                </a:solidFill>
              </a:rPr>
              <a:t> </a:t>
            </a:r>
            <a:r>
              <a:rPr lang="en-US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{Workout_Type = HIIT, Experience_Level = Advanced} -&gt; {Avg_BPM = High}</a:t>
            </a:r>
            <a:endParaRPr sz="1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Mono"/>
              <a:buChar char="❏"/>
            </a:pPr>
            <a:r>
              <a:rPr b="1" lang="en-US" sz="1300">
                <a:solidFill>
                  <a:schemeClr val="dk1"/>
                </a:solidFill>
              </a:rPr>
              <a:t>Member Progression:</a:t>
            </a:r>
            <a:r>
              <a:rPr lang="en-US" sz="1300">
                <a:solidFill>
                  <a:schemeClr val="dk1"/>
                </a:solidFill>
              </a:rPr>
              <a:t> </a:t>
            </a:r>
            <a:r>
              <a:rPr lang="en-US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{Fat_Percentage = Low, Workout_Frequency = High} -&gt; {Experience_Level = Advanced}</a:t>
            </a:r>
            <a:endParaRPr sz="1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Mono"/>
              <a:buChar char="❏"/>
            </a:pPr>
            <a:r>
              <a:rPr b="1" lang="en-US" sz="1300">
                <a:solidFill>
                  <a:schemeClr val="dk1"/>
                </a:solidFill>
              </a:rPr>
              <a:t>Hydration Demands:</a:t>
            </a:r>
            <a:r>
              <a:rPr lang="en-US" sz="1300">
                <a:solidFill>
                  <a:schemeClr val="dk1"/>
                </a:solidFill>
              </a:rPr>
              <a:t> </a:t>
            </a:r>
            <a:r>
              <a:rPr lang="en-US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{Duration = High, Avg_BPM = High} -&gt; {Water_Intake = High}</a:t>
            </a:r>
            <a:endParaRPr sz="1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❏"/>
            </a:pPr>
            <a:r>
              <a:rPr lang="en-US" sz="1300">
                <a:solidFill>
                  <a:schemeClr val="dk1"/>
                </a:solidFill>
              </a:rPr>
              <a:t>How We Measure Success: </a:t>
            </a:r>
            <a:r>
              <a:rPr lang="en-US" sz="1300">
                <a:solidFill>
                  <a:schemeClr val="dk1"/>
                </a:solidFill>
              </a:rPr>
              <a:t>Evaluated using </a:t>
            </a:r>
            <a:r>
              <a:rPr b="1" lang="en-US" sz="1300">
                <a:solidFill>
                  <a:schemeClr val="dk1"/>
                </a:solidFill>
              </a:rPr>
              <a:t>Support</a:t>
            </a:r>
            <a:r>
              <a:rPr lang="en-US" sz="1300">
                <a:solidFill>
                  <a:schemeClr val="dk1"/>
                </a:solidFill>
              </a:rPr>
              <a:t> (rule frequency ≥0.10≥0.10), </a:t>
            </a:r>
            <a:r>
              <a:rPr b="1" lang="en-US" sz="1300">
                <a:solidFill>
                  <a:schemeClr val="dk1"/>
                </a:solidFill>
              </a:rPr>
              <a:t>Confidence</a:t>
            </a:r>
            <a:r>
              <a:rPr lang="en-US" sz="1300">
                <a:solidFill>
                  <a:schemeClr val="dk1"/>
                </a:solidFill>
              </a:rPr>
              <a:t> (rule reliability ≥0.70≥0.70), and </a:t>
            </a:r>
            <a:r>
              <a:rPr b="1" lang="en-US" sz="1300">
                <a:solidFill>
                  <a:schemeClr val="dk1"/>
                </a:solidFill>
              </a:rPr>
              <a:t>Lift</a:t>
            </a:r>
            <a:r>
              <a:rPr lang="en-US" sz="1300">
                <a:solidFill>
                  <a:schemeClr val="dk1"/>
                </a:solidFill>
              </a:rPr>
              <a:t> (&gt;1.0&gt;1.0, proving a genuine link over random chance).</a:t>
            </a:r>
            <a:endParaRPr sz="13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02" name="Google Shape;302;p26"/>
          <p:cNvSpPr txBox="1"/>
          <p:nvPr/>
        </p:nvSpPr>
        <p:spPr>
          <a:xfrm>
            <a:off x="1190775" y="744800"/>
            <a:ext cx="731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Uns</a:t>
            </a: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upervised Learning Roadmap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7"/>
          <p:cNvSpPr txBox="1"/>
          <p:nvPr/>
        </p:nvSpPr>
        <p:spPr>
          <a:xfrm>
            <a:off x="947950" y="1499275"/>
            <a:ext cx="108144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 </a:t>
            </a:r>
            <a:r>
              <a:rPr b="1" lang="en-US" sz="1300">
                <a:solidFill>
                  <a:schemeClr val="dk1"/>
                </a:solidFill>
              </a:rPr>
              <a:t>2. 	CLUSTERING &amp; ANOMALIES (Grouping Similar Members &amp; Spotting Outliers)</a:t>
            </a:r>
            <a:endParaRPr b="1" sz="1300">
              <a:solidFill>
                <a:schemeClr val="dk1"/>
              </a:solidFill>
            </a:endParaRPr>
          </a:p>
          <a:p>
            <a:pPr indent="-31115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❏"/>
            </a:pPr>
            <a:r>
              <a:rPr lang="en-US" sz="1300">
                <a:solidFill>
                  <a:schemeClr val="dk1"/>
                </a:solidFill>
              </a:rPr>
              <a:t>Goal: Group members into natural "fitness profiles" (e.g., endurance athletes vs. casual beginners) without using pre-set labels.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❏"/>
            </a:pPr>
            <a:r>
              <a:rPr lang="en-US" sz="1300">
                <a:solidFill>
                  <a:schemeClr val="dk1"/>
                </a:solidFill>
              </a:rPr>
              <a:t>Models to Test: k-Means and Hierarchical Clustering (automatically grouping members by their body stats and heart rates).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❏"/>
            </a:pPr>
            <a:r>
              <a:rPr lang="en-US" sz="1300">
                <a:solidFill>
                  <a:schemeClr val="dk1"/>
                </a:solidFill>
              </a:rPr>
              <a:t>Anomaly Check: Pinpoint extreme outlier sessions (like workouts burning over 1,600 kcal) so they don't distort our findings.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❏"/>
            </a:pPr>
            <a:r>
              <a:rPr lang="en-US" sz="1300">
                <a:solidFill>
                  <a:schemeClr val="dk1"/>
                </a:solidFill>
              </a:rPr>
              <a:t>How We Measure Success: Cluster quality scores (checking that members inside the same group are genuinely similar to one another).</a:t>
            </a:r>
            <a:endParaRPr sz="13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08" name="Google Shape;308;p27"/>
          <p:cNvSpPr txBox="1"/>
          <p:nvPr/>
        </p:nvSpPr>
        <p:spPr>
          <a:xfrm>
            <a:off x="1190775" y="744800"/>
            <a:ext cx="731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Unsupervised Learning Roadmap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8"/>
          <p:cNvSpPr txBox="1"/>
          <p:nvPr/>
        </p:nvSpPr>
        <p:spPr>
          <a:xfrm>
            <a:off x="1181100" y="1028700"/>
            <a:ext cx="292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Reference</a:t>
            </a:r>
            <a:endParaRPr/>
          </a:p>
        </p:txBody>
      </p:sp>
      <p:sp>
        <p:nvSpPr>
          <p:cNvPr id="314" name="Google Shape;314;p28"/>
          <p:cNvSpPr txBox="1"/>
          <p:nvPr/>
        </p:nvSpPr>
        <p:spPr>
          <a:xfrm>
            <a:off x="1379475" y="1642250"/>
            <a:ext cx="6875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chemeClr val="hlink"/>
                </a:solidFill>
                <a:hlinkClick r:id="rId3"/>
              </a:rPr>
              <a:t>https://healthyhabitsexplorer.com/my-one-year-journey-with-the-werise-app-by-senada-greca/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9"/>
          <p:cNvSpPr txBox="1"/>
          <p:nvPr/>
        </p:nvSpPr>
        <p:spPr>
          <a:xfrm>
            <a:off x="3175000" y="1948800"/>
            <a:ext cx="5571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